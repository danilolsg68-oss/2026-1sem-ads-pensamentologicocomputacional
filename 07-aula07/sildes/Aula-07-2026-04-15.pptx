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E583505-839D-4FDB-96AB-B06BDB678086}" type="slidenum">
              <a: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açã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6640" cy="82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6640" cy="368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200" cy="82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200" cy="368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10" name="PlaceHolder 6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11" name="PlaceHolder 7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12" name="PlaceHolder 8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EECAC5C-A03B-4568-91FF-2330E0B80C8C}" type="slidenum">
              <a: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16" name="PlaceHolder 4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259937F-34BB-4099-A854-D3236A5F0E75}" type="slidenum">
              <a: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D922E01-3F43-4E28-83AB-8511CD831C2B}" type="slidenum">
              <a: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údo com Le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120" cy="487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23" name="PlaceHolder 4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24" name="PlaceHolder 5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25" name="PlaceHolder 6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ECEC26C-64C9-4B43-92FE-9CF328C9B21A}" type="slidenum">
              <a: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agem com Le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120" cy="4872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8AF7B84-7DE8-45B0-A744-83F78B46E1E4}" type="slidenum">
              <a: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VERTICAL_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 rot="5400000">
            <a:off x="3920400" y="-1256400"/>
            <a:ext cx="4350240" cy="10514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34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36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DE2C479-BE3F-4D29-A584-C2894B63116F}" type="slidenum">
              <a: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_TITLE_AND_VERTICAL_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 rot="5400000">
            <a:off x="7133760" y="1956240"/>
            <a:ext cx="5810760" cy="262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 rot="5400000">
            <a:off x="1799640" y="-596160"/>
            <a:ext cx="5810760" cy="77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39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41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A03A5BB-6E31-41DB-9263-C33362025D0F}" type="slidenum">
              <a: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BJEC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45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0C63356-BAAE-4A7A-8B4A-C49614AB1A29}" type="slidenum">
              <a: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beçalho da Seçã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520" cy="285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520" cy="1499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49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1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02DE266-76CD-4D2D-AFD9-02B031F50A89}" type="slidenum">
              <a: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_OBJEC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5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5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1837EEA-ECA1-4A39-9797-D1A6B876B661}" type="slidenum">
              <a: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Aula 7 - 2026-04-15</a:t>
            </a:r>
            <a:br>
              <a:rPr sz="6000" dirty="0"/>
            </a:br>
            <a:endParaRPr lang="pt-BR" sz="6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2920" cy="165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Entrada e Saída – Manipulação de Arquivos</a:t>
            </a:r>
            <a:endParaRPr lang="pt-BR" sz="6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452960" y="406440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0000"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Entrada e Saída em Python</a:t>
            </a:r>
            <a:endParaRPr lang="pt-BR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523880" y="1420560"/>
            <a:ext cx="9142920" cy="3836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Introdução a Entrada e saída – “Conhecimentos Básicos”</a:t>
            </a:r>
            <a:endParaRPr lang="pt-B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Print() - Imprimir na Tela</a:t>
            </a:r>
            <a:endParaRPr lang="pt-B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Input() - Ler do Teclado</a:t>
            </a:r>
            <a:endParaRPr lang="pt-B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pos="0" algn="l"/>
              </a:tabLst>
            </a:pPr>
            <a:r>
              <a:rPr lang="pt-BR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Entrada e saída – Manipulação de Arquivos– “Segundo degrau...”</a:t>
            </a:r>
            <a:endParaRPr lang="pt-BR" sz="2400" dirty="0">
              <a:solidFill>
                <a:srgbClr val="000000"/>
              </a:solidFill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OPEN() - Abre arquivos (função nativa do </a:t>
            </a:r>
            <a:r>
              <a:rPr lang="pt-BR" sz="2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python</a:t>
            </a:r>
            <a:r>
              <a:rPr lang="pt-BR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)</a:t>
            </a:r>
            <a:endParaRPr lang="pt-B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Write() - Escreve em arquivos (função nativa </a:t>
            </a:r>
            <a:r>
              <a:rPr lang="pt-BR" sz="2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python</a:t>
            </a:r>
            <a:r>
              <a:rPr lang="pt-BR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)</a:t>
            </a:r>
            <a:endParaRPr lang="pt-B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Close() - Fecha um arquivo (Função nativa do </a:t>
            </a:r>
            <a:r>
              <a:rPr lang="pt-BR" sz="2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python</a:t>
            </a:r>
            <a:r>
              <a:rPr lang="pt-BR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)</a:t>
            </a:r>
            <a:endParaRPr lang="pt-B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Palavra reservada WITH – fecha automaticamente arquivos após uso</a:t>
            </a:r>
            <a:endParaRPr lang="pt-B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440000" y="360000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ARQUIVOS:</a:t>
            </a:r>
            <a:endParaRPr lang="pt-B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92;p15"/>
          <p:cNvSpPr/>
          <p:nvPr/>
        </p:nvSpPr>
        <p:spPr>
          <a:xfrm>
            <a:off x="1523880" y="1508760"/>
            <a:ext cx="9142920" cy="383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marL="216000" indent="-216000">
              <a:lnSpc>
                <a:spcPct val="90000"/>
              </a:lnSpc>
              <a:buClr>
                <a:srgbClr val="000000"/>
              </a:buClr>
              <a:buFont typeface="Noto Sans Symbols"/>
              <a:buChar char="●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Meio inicial de armazenar conteúdo e estado de variáveis;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Noto Sans Symbols"/>
              <a:buChar char="●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Forma mais simples de intercâmbio de dados com outros programas;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Noto Sans Symbols"/>
              <a:buChar char="●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Porta de entrada para Sistemas de Gerenciamento de Banco de Dados;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Noto Sans Symbols"/>
              <a:buChar char="●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Formato de Arquivos TEXTO;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Noto Sans Symbols"/>
              <a:buChar char="●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Formato de Arquivos Binários;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440000" y="180000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Tipos de Variáveis para Armazenar:</a:t>
            </a:r>
            <a:endParaRPr lang="pt-B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5" name="Google Shape;98;p16"/>
          <p:cNvGraphicFramePr/>
          <p:nvPr/>
        </p:nvGraphicFramePr>
        <p:xfrm>
          <a:off x="720000" y="1294200"/>
          <a:ext cx="10184040" cy="5401780"/>
        </p:xfrm>
        <a:graphic>
          <a:graphicData uri="http://schemas.openxmlformats.org/drawingml/2006/table">
            <a:tbl>
              <a:tblPr/>
              <a:tblGrid>
                <a:gridCol w="2094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9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Tipos de Variáveis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Exemplo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800"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Noto Sans Symbols"/>
                        <a:buChar char="●"/>
                      </a:pPr>
                      <a:r>
                        <a:rPr lang="pt-BR" sz="2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Simples</a:t>
                      </a:r>
                      <a:endParaRPr lang="pt-BR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6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aluno0 </a:t>
                      </a:r>
                      <a:r>
                        <a:rPr lang="pt-BR" sz="1800" b="0" u="none" strike="noStrike">
                          <a:solidFill>
                            <a:srgbClr val="3F51B5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=</a:t>
                      </a:r>
                      <a:r>
                        <a:rPr lang="pt-BR" sz="1800" b="0" u="none" strike="noStrike">
                          <a:solidFill>
                            <a:srgbClr val="388E3C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 "Ana"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56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aluno1 </a:t>
                      </a:r>
                      <a:r>
                        <a:rPr lang="pt-BR" sz="1800" b="0" u="none" strike="noStrike">
                          <a:solidFill>
                            <a:srgbClr val="3F51B5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=</a:t>
                      </a:r>
                      <a:r>
                        <a:rPr lang="pt-BR" sz="1800" b="0" u="none" strike="noStrike">
                          <a:solidFill>
                            <a:srgbClr val="388E3C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 "Bruno"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56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aluno2 </a:t>
                      </a:r>
                      <a:r>
                        <a:rPr lang="pt-BR" sz="1800" b="0" u="none" strike="noStrike">
                          <a:solidFill>
                            <a:srgbClr val="3F51B5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=</a:t>
                      </a:r>
                      <a:r>
                        <a:rPr lang="pt-BR" sz="1800" b="0" u="none" strike="noStrike">
                          <a:solidFill>
                            <a:srgbClr val="388E3C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 "Carlos"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800"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Noto Sans Symbols"/>
                        <a:buChar char="●"/>
                      </a:pPr>
                      <a:r>
                        <a:rPr lang="pt-BR" sz="2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Listas</a:t>
                      </a:r>
                      <a:endParaRPr lang="pt-BR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600" b="0" u="none" strike="noStrik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alunos </a:t>
                      </a:r>
                      <a:r>
                        <a:rPr lang="pt-BR" sz="1600" b="0" u="none" strike="noStrike">
                          <a:solidFill>
                            <a:srgbClr val="3F51B5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=</a:t>
                      </a:r>
                      <a:r>
                        <a:rPr lang="pt-BR" sz="1600" b="0" u="none" strike="noStrik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 [</a:t>
                      </a:r>
                      <a:r>
                        <a:rPr lang="pt-BR" sz="1600" b="0" u="none" strike="noStrike">
                          <a:solidFill>
                            <a:srgbClr val="388E3C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"Ana"</a:t>
                      </a:r>
                      <a:r>
                        <a:rPr lang="pt-BR" sz="1600" b="0" u="none" strike="noStrik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, </a:t>
                      </a:r>
                      <a:r>
                        <a:rPr lang="pt-BR" sz="1600" b="0" u="none" strike="noStrike">
                          <a:solidFill>
                            <a:srgbClr val="388E3C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"Bruno"</a:t>
                      </a:r>
                      <a:r>
                        <a:rPr lang="pt-BR" sz="1600" b="0" u="none" strike="noStrik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, </a:t>
                      </a:r>
                      <a:r>
                        <a:rPr lang="pt-BR" sz="1600" b="0" u="none" strike="noStrike">
                          <a:solidFill>
                            <a:srgbClr val="388E3C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"Carlos"</a:t>
                      </a:r>
                      <a:r>
                        <a:rPr lang="pt-BR" sz="1600" b="0" u="none" strike="noStrik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]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800"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Noto Sans Symbols"/>
                        <a:buChar char="●"/>
                      </a:pPr>
                      <a:r>
                        <a:rPr lang="pt-BR" sz="2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Dicionários</a:t>
                      </a:r>
                      <a:endParaRPr lang="pt-BR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produto </a:t>
                      </a:r>
                      <a:r>
                        <a:rPr lang="pt-BR" sz="1800" b="0" u="none" strike="noStrike">
                          <a:solidFill>
                            <a:srgbClr val="3F51B5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=</a:t>
                      </a:r>
                      <a:r>
                        <a:rPr lang="pt-BR" sz="1800" b="0" u="none" strike="noStrik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 {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388E3C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    "id“   </a:t>
                      </a:r>
                      <a:r>
                        <a:rPr lang="pt-BR" sz="1800" b="0" u="none" strike="noStrik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: </a:t>
                      </a:r>
                      <a:r>
                        <a:rPr lang="pt-BR" sz="1800" b="0" u="none" strike="noStrike">
                          <a:solidFill>
                            <a:srgbClr val="C53929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101</a:t>
                      </a:r>
                      <a:r>
                        <a:rPr lang="pt-BR" sz="1800" b="0" u="none" strike="noStrik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,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388E3C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    "nome“ </a:t>
                      </a:r>
                      <a:r>
                        <a:rPr lang="pt-BR" sz="1800" b="0" u="none" strike="noStrik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: </a:t>
                      </a:r>
                      <a:r>
                        <a:rPr lang="pt-BR" sz="1800" b="0" u="none" strike="noStrike">
                          <a:solidFill>
                            <a:srgbClr val="388E3C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"Teclado Mecânico"</a:t>
                      </a:r>
                      <a:r>
                        <a:rPr lang="pt-BR" sz="1800" b="0" u="none" strike="noStrik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,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388E3C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    "preco"</a:t>
                      </a:r>
                      <a:r>
                        <a:rPr lang="pt-BR" sz="1800" b="0" u="none" strike="noStrik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: </a:t>
                      </a:r>
                      <a:r>
                        <a:rPr lang="pt-BR" sz="1800" b="0" u="none" strike="noStrike">
                          <a:solidFill>
                            <a:srgbClr val="C53929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150.00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}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800"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Noto Sans Symbols"/>
                        <a:buChar char="●"/>
                      </a:pPr>
                      <a:r>
                        <a:rPr lang="pt-BR" sz="2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Tuplas</a:t>
                      </a:r>
                      <a:endParaRPr lang="pt-BR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600" b="0" u="none" strike="noStrik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coordenadas </a:t>
                      </a:r>
                      <a:r>
                        <a:rPr lang="pt-BR" sz="1600" b="0" u="none" strike="noStrike">
                          <a:solidFill>
                            <a:srgbClr val="3F51B5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=</a:t>
                      </a:r>
                      <a:r>
                        <a:rPr lang="pt-BR" sz="1600" b="0" u="none" strike="noStrik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 (</a:t>
                      </a:r>
                      <a:r>
                        <a:rPr lang="pt-BR" sz="1600" b="0" u="none" strike="noStrike">
                          <a:solidFill>
                            <a:srgbClr val="3F51B5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-</a:t>
                      </a:r>
                      <a:r>
                        <a:rPr lang="pt-BR" sz="1600" b="0" u="none" strike="noStrike">
                          <a:solidFill>
                            <a:srgbClr val="C53929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23.5505</a:t>
                      </a:r>
                      <a:r>
                        <a:rPr lang="pt-BR" sz="1600" b="0" u="none" strike="noStrik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, </a:t>
                      </a:r>
                      <a:r>
                        <a:rPr lang="pt-BR" sz="1600" b="0" u="none" strike="noStrike">
                          <a:solidFill>
                            <a:srgbClr val="3F51B5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-</a:t>
                      </a:r>
                      <a:r>
                        <a:rPr lang="pt-BR" sz="1600" b="0" u="none" strike="noStrike">
                          <a:solidFill>
                            <a:srgbClr val="C53929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46.6333</a:t>
                      </a:r>
                      <a:r>
                        <a:rPr lang="pt-BR" sz="1600" b="0" u="none" strike="noStrik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)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7920"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Noto Sans Symbols"/>
                        <a:buChar char="●"/>
                      </a:pPr>
                      <a:r>
                        <a:rPr lang="pt-BR" sz="2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Conjuntos</a:t>
                      </a:r>
                      <a:endParaRPr lang="pt-BR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600" b="0" u="none" strike="noStrik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presenca_set </a:t>
                      </a:r>
                      <a:r>
                        <a:rPr lang="pt-BR" sz="1600" b="0" u="none" strike="noStrike">
                          <a:solidFill>
                            <a:srgbClr val="3F51B5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=</a:t>
                      </a:r>
                      <a:r>
                        <a:rPr lang="pt-BR" sz="1600" b="0" u="none" strike="noStrik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 {</a:t>
                      </a:r>
                      <a:r>
                        <a:rPr lang="pt-BR" sz="1600" b="0" u="none" strike="noStrike">
                          <a:solidFill>
                            <a:srgbClr val="388E3C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"Ana"</a:t>
                      </a:r>
                      <a:r>
                        <a:rPr lang="pt-BR" sz="1600" b="0" u="none" strike="noStrik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, </a:t>
                      </a:r>
                      <a:r>
                        <a:rPr lang="pt-BR" sz="1600" b="0" u="none" strike="noStrike">
                          <a:solidFill>
                            <a:srgbClr val="388E3C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"Bruno"</a:t>
                      </a:r>
                      <a:r>
                        <a:rPr lang="pt-BR" sz="1600" b="0" u="none" strike="noStrik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, </a:t>
                      </a:r>
                      <a:r>
                        <a:rPr lang="pt-BR" sz="1600" b="0" u="none" strike="noStrike">
                          <a:solidFill>
                            <a:srgbClr val="388E3C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"Ana"</a:t>
                      </a:r>
                      <a:r>
                        <a:rPr lang="pt-BR" sz="1600" b="0" u="none" strike="noStrik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, </a:t>
                      </a:r>
                      <a:r>
                        <a:rPr lang="pt-BR" sz="1600" b="0" u="none" strike="noStrike">
                          <a:solidFill>
                            <a:srgbClr val="388E3C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"Carlos"</a:t>
                      </a:r>
                      <a:r>
                        <a:rPr lang="pt-BR" sz="1600" b="0" u="none" strike="noStrik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, </a:t>
                      </a:r>
                      <a:r>
                        <a:rPr lang="pt-BR" sz="1600" b="0" u="none" strike="noStrike">
                          <a:solidFill>
                            <a:srgbClr val="388E3C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"Bruno"</a:t>
                      </a:r>
                      <a:r>
                        <a:rPr lang="pt-BR" sz="1600" b="0" u="none" strike="noStrik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}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352880" y="754200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Criação de arquivos método CLÁSSICO</a:t>
            </a:r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Google Shape;104;p17"/>
          <p:cNvSpPr/>
          <p:nvPr/>
        </p:nvSpPr>
        <p:spPr>
          <a:xfrm>
            <a:off x="1524240" y="2144520"/>
            <a:ext cx="9142920" cy="177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marL="457200" indent="-38088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Calibri"/>
              <a:buAutoNum type="arabicPeriod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Cria um arquivo e associa o mesmo a uma variável;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50000"/>
              </a:lnSpc>
              <a:buClr>
                <a:srgbClr val="000000"/>
              </a:buClr>
              <a:buFont typeface="Calibri"/>
              <a:buAutoNum type="arabicPeriod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Escreve no conteúdo do arquivo;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50000"/>
              </a:lnSpc>
              <a:buClr>
                <a:srgbClr val="000000"/>
              </a:buClr>
              <a:buFont typeface="Calibri"/>
              <a:buAutoNum type="arabicPeriod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Fecha o arquivo;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109;p18"/>
          <p:cNvSpPr/>
          <p:nvPr/>
        </p:nvSpPr>
        <p:spPr>
          <a:xfrm>
            <a:off x="279476" y="1906308"/>
            <a:ext cx="7967520" cy="3973745"/>
          </a:xfrm>
          <a:prstGeom prst="rect">
            <a:avLst/>
          </a:prstGeom>
          <a:solidFill>
            <a:srgbClr val="FFFFD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700" b="0" u="none" strike="noStrike">
                <a:solidFill>
                  <a:srgbClr val="D81B60"/>
                </a:solidFill>
                <a:effectLst/>
                <a:uFillTx/>
                <a:latin typeface="Roboto Mono"/>
                <a:ea typeface="Roboto Mono"/>
              </a:rPr>
              <a:t># 1. Abre o arquivo (se não existe, cria)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variavel_arquivo</a:t>
            </a:r>
            <a:r>
              <a:rPr lang="pt-BR" sz="1700" b="0" u="none" strike="noStrik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700" b="0" u="none" strike="noStrik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lang="pt-BR" sz="1700" b="0" u="none" strike="noStrik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open(</a:t>
            </a:r>
            <a:r>
              <a:rPr lang="pt-BR" sz="1700" b="0" u="none" strike="noStrik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"exemplo_classico.txt"</a:t>
            </a:r>
            <a:r>
              <a:rPr lang="pt-BR" sz="1700" b="0" u="none" strike="noStrik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pt-BR" sz="1700" b="0" u="none" strike="noStrik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"w"</a:t>
            </a:r>
            <a:r>
              <a:rPr lang="pt-BR" sz="1700" b="0" u="none" strike="noStrik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pt-BR" sz="1700" b="0" u="none" strike="noStrike">
                <a:solidFill>
                  <a:srgbClr val="0097A7"/>
                </a:solidFill>
                <a:effectLst/>
                <a:uFillTx/>
                <a:latin typeface="Roboto Mono"/>
                <a:ea typeface="Roboto Mono"/>
              </a:rPr>
              <a:t>encoding</a:t>
            </a:r>
            <a:r>
              <a:rPr lang="pt-BR" sz="1700" b="0" u="none" strike="noStrik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lang="pt-BR" sz="1700" b="0" u="none" strike="noStrik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"utf-8"</a:t>
            </a:r>
            <a:r>
              <a:rPr lang="pt-BR" sz="1700" b="0" u="none" strike="noStrik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700" b="0" u="none" strike="noStrike">
                <a:solidFill>
                  <a:srgbClr val="D81B60"/>
                </a:solidFill>
                <a:effectLst/>
                <a:uFillTx/>
                <a:latin typeface="Roboto Mono"/>
                <a:ea typeface="Roboto Mono"/>
              </a:rPr>
              <a:t># 2. Realiza as operações de escrita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variavel_arquivo</a:t>
            </a:r>
            <a:r>
              <a:rPr lang="pt-BR" sz="1700" b="0" u="none" strike="noStrik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.write(</a:t>
            </a:r>
            <a:r>
              <a:rPr lang="pt-BR" sz="1700" b="0" u="none" strike="noStrik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"Escrita no modo clássico.</a:t>
            </a:r>
            <a:r>
              <a:rPr lang="pt-BR" sz="1700" b="0" u="none" strike="noStrike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\n</a:t>
            </a:r>
            <a:r>
              <a:rPr lang="pt-BR" sz="1700" b="0" u="none" strike="noStrik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lang="pt-BR" sz="1700" b="0" u="none" strike="noStrik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700" b="0" u="none" strike="noStrik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print(</a:t>
            </a:r>
            <a:r>
              <a:rPr lang="pt-BR" sz="1700" b="0" u="none" strike="noStrik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"Dados enviados para a variável do arquivo."</a:t>
            </a:r>
            <a:r>
              <a:rPr lang="pt-BR" sz="1700" b="0" u="none" strike="noStrik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700" b="0" u="none" strike="noStrike">
                <a:solidFill>
                  <a:srgbClr val="D81B60"/>
                </a:solidFill>
                <a:effectLst/>
                <a:uFillTx/>
                <a:latin typeface="Roboto Mono"/>
                <a:ea typeface="Roboto Mono"/>
              </a:rPr>
              <a:t># 3. Fecha o arquivo obrigatoriamente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700" b="1" u="none" strike="noStrik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variavel_arquivo</a:t>
            </a:r>
            <a:r>
              <a:rPr lang="pt-BR" sz="1700" b="0" u="none" strike="noStrik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.close()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700" b="0" u="none" strike="noStrik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print(</a:t>
            </a:r>
            <a:r>
              <a:rPr lang="pt-BR" sz="1700" b="0" u="none" strike="noStrik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"Arquivo criado e dados salvos com sucesso!"</a:t>
            </a:r>
            <a:r>
              <a:rPr lang="pt-BR" sz="1700" b="0" u="none" strike="noStrik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Google Shape;110;p18"/>
          <p:cNvPicPr/>
          <p:nvPr/>
        </p:nvPicPr>
        <p:blipFill>
          <a:blip r:embed="rId2"/>
          <a:stretch/>
        </p:blipFill>
        <p:spPr>
          <a:xfrm>
            <a:off x="8287676" y="1497249"/>
            <a:ext cx="3762360" cy="1221382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Google Shape;111;p18"/>
          <p:cNvPicPr/>
          <p:nvPr/>
        </p:nvPicPr>
        <p:blipFill>
          <a:blip r:embed="rId3"/>
          <a:stretch/>
        </p:blipFill>
        <p:spPr>
          <a:xfrm>
            <a:off x="8459396" y="2974395"/>
            <a:ext cx="3590640" cy="1575491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Google Shape;112;p18"/>
          <p:cNvPicPr/>
          <p:nvPr/>
        </p:nvPicPr>
        <p:blipFill>
          <a:blip r:embed="rId4"/>
          <a:stretch/>
        </p:blipFill>
        <p:spPr>
          <a:xfrm>
            <a:off x="8247356" y="5058009"/>
            <a:ext cx="3762360" cy="1221382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>
            <a:extLst>
              <a:ext uri="{FF2B5EF4-FFF2-40B4-BE49-F238E27FC236}">
                <a16:creationId xmlns:a16="http://schemas.microsoft.com/office/drawing/2014/main" id="{DEB243CF-9293-ABAE-0EA2-92ECD7C4F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960" y="418706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Criação de arquivos método CLÁSSICO</a:t>
            </a:r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352880" y="754200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Criação de arquivos método PYTHON</a:t>
            </a:r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Google Shape;118;p19"/>
          <p:cNvSpPr/>
          <p:nvPr/>
        </p:nvSpPr>
        <p:spPr>
          <a:xfrm>
            <a:off x="1524240" y="2144520"/>
            <a:ext cx="9142920" cy="177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marL="457200" indent="-38088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Calibri"/>
              <a:buAutoNum type="arabicPeriod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Cria um arquivo e associa o mesmo a uma variável;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50000"/>
              </a:lnSpc>
              <a:buClr>
                <a:srgbClr val="000000"/>
              </a:buClr>
              <a:buFont typeface="Calibri"/>
              <a:buAutoNum type="arabicPeriod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Escreve no conteúdo do arquivo;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50000"/>
              </a:lnSpc>
              <a:buClr>
                <a:srgbClr val="000000"/>
              </a:buClr>
              <a:buFont typeface="Calibri"/>
              <a:buAutoNum type="arabicPeriod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NÃO PRECISA SE PREOCUPAR EM FECHA-LO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123;p20"/>
          <p:cNvSpPr/>
          <p:nvPr/>
        </p:nvSpPr>
        <p:spPr>
          <a:xfrm>
            <a:off x="99960" y="1910013"/>
            <a:ext cx="7967520" cy="2323800"/>
          </a:xfrm>
          <a:prstGeom prst="rect">
            <a:avLst/>
          </a:prstGeom>
          <a:solidFill>
            <a:srgbClr val="FFFFD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600" b="0" u="none" strike="noStrik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with</a:t>
            </a:r>
            <a:r>
              <a:rPr lang="pt-BR" sz="1600" b="0" u="none" strike="noStrik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open(</a:t>
            </a:r>
            <a:r>
              <a:rPr lang="pt-BR" sz="1600" b="0" u="none" strike="noStrik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"exemplo.txt"</a:t>
            </a:r>
            <a:r>
              <a:rPr lang="pt-BR" sz="1600" b="0" u="none" strike="noStrik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pt-BR" sz="1600" b="0" u="none" strike="noStrik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"w"</a:t>
            </a:r>
            <a:r>
              <a:rPr lang="pt-BR" sz="1600" b="0" u="none" strike="noStrik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pt-BR" sz="1600" b="0" u="none" strike="noStrike">
                <a:solidFill>
                  <a:srgbClr val="0097A7"/>
                </a:solidFill>
                <a:effectLst/>
                <a:uFillTx/>
                <a:latin typeface="Roboto Mono"/>
                <a:ea typeface="Roboto Mono"/>
              </a:rPr>
              <a:t>encoding</a:t>
            </a:r>
            <a:r>
              <a:rPr lang="pt-BR" sz="1600" b="0" u="none" strike="noStrik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lang="pt-BR" sz="1600" b="0" u="none" strike="noStrik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"utf-8"</a:t>
            </a:r>
            <a:r>
              <a:rPr lang="pt-BR" sz="1600" b="0" u="none" strike="noStrik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 </a:t>
            </a:r>
            <a:r>
              <a:rPr lang="pt-BR" sz="1600" b="0" u="none" strike="noStrik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as</a:t>
            </a:r>
            <a:r>
              <a:rPr lang="pt-BR" sz="1600" b="0" u="none" strike="noStrik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arquivo: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600" b="0" u="none" strike="noStrik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arquivo.write(</a:t>
            </a:r>
            <a:r>
              <a:rPr lang="pt-BR" sz="1600" b="0" u="none" strike="noStrik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"Olá! Este é um exemplo de escrita.</a:t>
            </a:r>
            <a:r>
              <a:rPr lang="pt-BR" sz="1600" b="0" u="none" strike="noStrike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\n</a:t>
            </a:r>
            <a:r>
              <a:rPr lang="pt-BR" sz="1600" b="0" u="none" strike="noStrik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lang="pt-BR" sz="1600" b="0" u="none" strike="noStrik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600" b="0" u="none" strike="noStrik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arquivo.write(</a:t>
            </a:r>
            <a:r>
              <a:rPr lang="pt-BR" sz="1600" b="0" u="none" strike="noStrik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"Segunda linha do arquivo."</a:t>
            </a:r>
            <a:r>
              <a:rPr lang="pt-BR" sz="1600" b="0" u="none" strike="noStrik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600" b="0" u="none" strike="noStrik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print(</a:t>
            </a:r>
            <a:r>
              <a:rPr lang="pt-BR" sz="1600" b="0" u="none" strike="noStrik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"Arquivo gravado com sucesso!"</a:t>
            </a:r>
            <a:r>
              <a:rPr lang="pt-BR" sz="1600" b="0" u="none" strike="noStrik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Google Shape;124;p20"/>
          <p:cNvPicPr/>
          <p:nvPr/>
        </p:nvPicPr>
        <p:blipFill>
          <a:blip r:embed="rId2"/>
          <a:stretch/>
        </p:blipFill>
        <p:spPr>
          <a:xfrm>
            <a:off x="8486880" y="1268133"/>
            <a:ext cx="3248280" cy="118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25;p20"/>
          <p:cNvPicPr/>
          <p:nvPr/>
        </p:nvPicPr>
        <p:blipFill>
          <a:blip r:embed="rId3"/>
          <a:stretch/>
        </p:blipFill>
        <p:spPr>
          <a:xfrm>
            <a:off x="8229840" y="2456133"/>
            <a:ext cx="3962160" cy="215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Google Shape;126;p20"/>
          <p:cNvPicPr/>
          <p:nvPr/>
        </p:nvPicPr>
        <p:blipFill>
          <a:blip r:embed="rId4"/>
          <a:stretch/>
        </p:blipFill>
        <p:spPr>
          <a:xfrm>
            <a:off x="8394720" y="4968213"/>
            <a:ext cx="1580760" cy="704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Google Shape;127;p20"/>
          <p:cNvPicPr/>
          <p:nvPr/>
        </p:nvPicPr>
        <p:blipFill>
          <a:blip r:embed="rId5"/>
          <a:stretch/>
        </p:blipFill>
        <p:spPr>
          <a:xfrm>
            <a:off x="6835920" y="5882973"/>
            <a:ext cx="5217840" cy="81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>
            <a:extLst>
              <a:ext uri="{FF2B5EF4-FFF2-40B4-BE49-F238E27FC236}">
                <a16:creationId xmlns:a16="http://schemas.microsoft.com/office/drawing/2014/main" id="{9F199D36-B41D-EE08-FC8C-A4E0E2D06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880" y="260853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Criação de arquivos método PYTHON</a:t>
            </a:r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524240" y="107280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0000"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Exemplo 1</a:t>
            </a:r>
            <a:endParaRPr lang="pt-BR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33;p21"/>
          <p:cNvSpPr/>
          <p:nvPr/>
        </p:nvSpPr>
        <p:spPr>
          <a:xfrm>
            <a:off x="1209600" y="1014120"/>
            <a:ext cx="9987480" cy="164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Crie uma variável-lista com valores "fulano", "ciclano", e "beltrano" e salve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esses valores em arquivos.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Dica: use uma estrutura de repetição para percorrer a lista.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34;p21"/>
          <p:cNvSpPr/>
          <p:nvPr/>
        </p:nvSpPr>
        <p:spPr>
          <a:xfrm>
            <a:off x="398880" y="2805480"/>
            <a:ext cx="10798200" cy="2485440"/>
          </a:xfrm>
          <a:prstGeom prst="rect">
            <a:avLst/>
          </a:prstGeom>
          <a:solidFill>
            <a:srgbClr val="FFF2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3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variavel_lista_1 </a:t>
            </a:r>
            <a:r>
              <a:rPr lang="pt-BR" sz="23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lang="pt-BR" sz="23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[</a:t>
            </a:r>
            <a:r>
              <a:rPr lang="pt-BR" sz="23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'fulano'</a:t>
            </a:r>
            <a:r>
              <a:rPr lang="pt-BR" sz="23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pt-BR" sz="23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'ciclano'</a:t>
            </a:r>
            <a:r>
              <a:rPr lang="pt-BR" sz="23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pt-BR" sz="23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'beltrano'</a:t>
            </a:r>
            <a:r>
              <a:rPr lang="pt-BR" sz="23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]</a:t>
            </a:r>
            <a:endParaRPr lang="pt-BR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300" b="0" u="none" strike="noStrike" dirty="0" err="1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with</a:t>
            </a:r>
            <a:r>
              <a:rPr lang="pt-BR" sz="23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open(</a:t>
            </a:r>
            <a:r>
              <a:rPr lang="pt-BR" sz="23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"exemplo1-lista.txt"</a:t>
            </a:r>
            <a:r>
              <a:rPr lang="pt-BR" sz="23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pt-BR" sz="23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"w"</a:t>
            </a:r>
            <a:r>
              <a:rPr lang="pt-BR" sz="23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 </a:t>
            </a:r>
            <a:r>
              <a:rPr lang="pt-BR" sz="23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as</a:t>
            </a:r>
            <a:r>
              <a:rPr lang="pt-BR" sz="23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2300" b="0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variavel_arquivo</a:t>
            </a:r>
            <a:r>
              <a:rPr lang="pt-BR" sz="23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</a:t>
            </a:r>
            <a:endParaRPr lang="pt-BR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3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    for</a:t>
            </a:r>
            <a:r>
              <a:rPr lang="pt-BR" sz="23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2300" b="0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indice</a:t>
            </a:r>
            <a:r>
              <a:rPr lang="pt-BR" sz="23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23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in</a:t>
            </a:r>
            <a:r>
              <a:rPr lang="pt-BR" sz="23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variavel_lista_1:</a:t>
            </a:r>
            <a:endParaRPr lang="pt-BR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23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    </a:t>
            </a:r>
            <a:r>
              <a:rPr lang="pt-BR" sz="2300" b="0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variavel_arquivo.write</a:t>
            </a:r>
            <a:r>
              <a:rPr lang="pt-BR" sz="23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(</a:t>
            </a:r>
            <a:r>
              <a:rPr lang="pt-BR" sz="2300" b="0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str</a:t>
            </a:r>
            <a:r>
              <a:rPr lang="pt-BR" sz="23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(</a:t>
            </a:r>
            <a:r>
              <a:rPr lang="pt-BR" sz="2300" b="0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indice</a:t>
            </a:r>
            <a:r>
              <a:rPr lang="pt-BR" sz="23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 </a:t>
            </a:r>
            <a:r>
              <a:rPr lang="pt-BR" sz="23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+</a:t>
            </a:r>
            <a:r>
              <a:rPr lang="pt-BR" sz="23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 "</a:t>
            </a:r>
            <a:r>
              <a:rPr lang="pt-BR" sz="2300" b="0" u="none" strike="noStrike" dirty="0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\n</a:t>
            </a:r>
            <a:r>
              <a:rPr lang="pt-BR" sz="23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lang="pt-BR" sz="23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lang="pt-BR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pt-BR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524240" y="107280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0000"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Exemplo 2</a:t>
            </a:r>
            <a:endParaRPr lang="pt-BR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40;p22"/>
          <p:cNvSpPr/>
          <p:nvPr/>
        </p:nvSpPr>
        <p:spPr>
          <a:xfrm>
            <a:off x="1209600" y="1014120"/>
            <a:ext cx="9987480" cy="90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9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Faça um programa em </a:t>
            </a:r>
            <a:r>
              <a:rPr lang="pt-BR" sz="1900" b="0" u="none" strike="noStrike" dirty="0" err="1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python</a:t>
            </a:r>
            <a:r>
              <a:rPr lang="pt-BR" sz="19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 Crie uma variável-dicionário </a:t>
            </a:r>
            <a:endParaRPr lang="pt-BR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9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para cadastrar a Cliente "</a:t>
            </a:r>
            <a:r>
              <a:rPr lang="pt-BR" sz="1900" b="1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Ana</a:t>
            </a:r>
            <a:r>
              <a:rPr lang="pt-BR" sz="19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". Ana tem </a:t>
            </a:r>
            <a:r>
              <a:rPr lang="pt-BR" sz="1900" b="1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25 anos</a:t>
            </a:r>
            <a:r>
              <a:rPr lang="pt-BR" sz="19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e mora na </a:t>
            </a:r>
            <a:r>
              <a:rPr lang="pt-BR" sz="1900" b="1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cidade de São Paulo</a:t>
            </a:r>
            <a:r>
              <a:rPr lang="pt-BR" sz="19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pt-BR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41;p22"/>
          <p:cNvSpPr/>
          <p:nvPr/>
        </p:nvSpPr>
        <p:spPr>
          <a:xfrm>
            <a:off x="536040" y="2285280"/>
            <a:ext cx="10748160" cy="3740040"/>
          </a:xfrm>
          <a:prstGeom prst="rect">
            <a:avLst/>
          </a:prstGeom>
          <a:solidFill>
            <a:srgbClr val="FFFFD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variavel_dicionario</a:t>
            </a:r>
            <a:r>
              <a:rPr lang="pt-BR" sz="22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22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lang="pt-BR" sz="22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{</a:t>
            </a:r>
            <a:endParaRPr lang="pt-BR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2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    "nome"</a:t>
            </a:r>
            <a:r>
              <a:rPr lang="pt-BR" sz="22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 </a:t>
            </a:r>
            <a:r>
              <a:rPr lang="pt-BR" sz="22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"Ana"</a:t>
            </a:r>
            <a:r>
              <a:rPr lang="pt-BR" sz="22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</a:t>
            </a:r>
            <a:endParaRPr lang="pt-BR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2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    "idade"</a:t>
            </a:r>
            <a:r>
              <a:rPr lang="pt-BR" sz="22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 </a:t>
            </a:r>
            <a:r>
              <a:rPr lang="pt-BR" sz="2200" b="0" u="none" strike="noStrike" dirty="0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25</a:t>
            </a:r>
            <a:r>
              <a:rPr lang="pt-BR" sz="22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</a:t>
            </a:r>
            <a:endParaRPr lang="pt-BR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2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    "cidade"</a:t>
            </a:r>
            <a:r>
              <a:rPr lang="pt-BR" sz="22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 </a:t>
            </a:r>
            <a:r>
              <a:rPr lang="pt-BR" sz="22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"São Paulo"</a:t>
            </a:r>
            <a:endParaRPr lang="pt-BR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2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}</a:t>
            </a:r>
            <a:endParaRPr lang="pt-BR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200" b="0" u="none" strike="noStrike" dirty="0" err="1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with</a:t>
            </a:r>
            <a:r>
              <a:rPr lang="pt-BR" sz="22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open(</a:t>
            </a:r>
            <a:r>
              <a:rPr lang="pt-BR" sz="22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"exemplo2-dicionario.txt"</a:t>
            </a:r>
            <a:r>
              <a:rPr lang="pt-BR" sz="22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pt-BR" sz="22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"w"</a:t>
            </a:r>
            <a:r>
              <a:rPr lang="pt-BR" sz="22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 </a:t>
            </a:r>
            <a:r>
              <a:rPr lang="pt-BR" sz="22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as</a:t>
            </a:r>
            <a:r>
              <a:rPr lang="pt-BR" sz="22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22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variavel_arquivo</a:t>
            </a:r>
            <a:r>
              <a:rPr lang="pt-BR" sz="22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</a:t>
            </a:r>
            <a:endParaRPr lang="pt-BR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2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    for</a:t>
            </a:r>
            <a:r>
              <a:rPr lang="pt-BR" sz="22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2200" b="1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chave</a:t>
            </a:r>
            <a:r>
              <a:rPr lang="pt-BR" sz="22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pt-BR" sz="2200" b="1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valor</a:t>
            </a:r>
            <a:r>
              <a:rPr lang="pt-BR" sz="22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22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in</a:t>
            </a:r>
            <a:r>
              <a:rPr lang="pt-BR" sz="22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22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variavel_dicionario</a:t>
            </a:r>
            <a:r>
              <a:rPr lang="pt-BR" sz="2200" b="0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.items</a:t>
            </a:r>
            <a:r>
              <a:rPr lang="pt-BR" sz="22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():</a:t>
            </a:r>
            <a:endParaRPr lang="pt-BR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22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    </a:t>
            </a:r>
            <a:r>
              <a:rPr lang="pt-BR" sz="22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variavel_arquivo</a:t>
            </a:r>
            <a:r>
              <a:rPr lang="pt-BR" sz="2200" b="0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.write</a:t>
            </a:r>
            <a:r>
              <a:rPr lang="pt-BR" sz="22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(</a:t>
            </a:r>
            <a:r>
              <a:rPr lang="pt-BR" sz="22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f</a:t>
            </a:r>
            <a:r>
              <a:rPr lang="pt-BR" sz="22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lang="pt-BR" sz="2200" b="0" u="none" strike="noStrike" dirty="0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{</a:t>
            </a:r>
            <a:r>
              <a:rPr lang="pt-BR" sz="2200" b="1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chave</a:t>
            </a:r>
            <a:r>
              <a:rPr lang="pt-BR" sz="2200" b="0" u="none" strike="noStrike" dirty="0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}</a:t>
            </a:r>
            <a:r>
              <a:rPr lang="pt-BR" sz="22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:</a:t>
            </a:r>
            <a:r>
              <a:rPr lang="pt-BR" sz="2200" b="0" u="none" strike="noStrike" dirty="0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{</a:t>
            </a:r>
            <a:r>
              <a:rPr lang="pt-BR" sz="2200" b="1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valor</a:t>
            </a:r>
            <a:r>
              <a:rPr lang="pt-BR" sz="2200" b="0" u="none" strike="noStrike" dirty="0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}\n</a:t>
            </a:r>
            <a:r>
              <a:rPr lang="pt-BR" sz="22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lang="pt-BR" sz="22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lang="pt-BR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pt-BR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524240" y="107280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0000"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Exemplo 3</a:t>
            </a:r>
            <a:endParaRPr lang="pt-BR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47;p23"/>
          <p:cNvSpPr/>
          <p:nvPr/>
        </p:nvSpPr>
        <p:spPr>
          <a:xfrm>
            <a:off x="511200" y="1014120"/>
            <a:ext cx="10897920" cy="164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Crie uma </a:t>
            </a:r>
            <a:r>
              <a:rPr lang="pt-BR" sz="1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planilha de excel </a:t>
            </a:r>
            <a:r>
              <a:rPr lang="pt-BR" sz="1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usando criando um </a:t>
            </a:r>
            <a:r>
              <a:rPr lang="pt-BR" sz="1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arquivo texto</a:t>
            </a:r>
            <a:r>
              <a:rPr lang="pt-BR" sz="1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no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formato CSV</a:t>
            </a:r>
            <a:r>
              <a:rPr lang="pt-BR" sz="1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 A </a:t>
            </a:r>
            <a:r>
              <a:rPr lang="pt-BR" sz="1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primeira linha</a:t>
            </a:r>
            <a:r>
              <a:rPr lang="pt-BR" sz="1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deve ser o </a:t>
            </a:r>
            <a:r>
              <a:rPr lang="pt-BR" sz="1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nome das colunas</a:t>
            </a:r>
            <a:r>
              <a:rPr lang="pt-BR" sz="1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 </a:t>
            </a:r>
            <a:r>
              <a:rPr lang="pt-BR" sz="1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 segunda linha</a:t>
            </a:r>
            <a:r>
              <a:rPr lang="pt-BR" sz="1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deve ser o r</a:t>
            </a:r>
            <a:r>
              <a:rPr lang="pt-BR" sz="1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egistro do Cliente</a:t>
            </a:r>
            <a:r>
              <a:rPr lang="pt-BR" sz="1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 Use os dados da cliente "Ana", de 25 anos e que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mora em São Paulo.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48;p23"/>
          <p:cNvSpPr/>
          <p:nvPr/>
        </p:nvSpPr>
        <p:spPr>
          <a:xfrm>
            <a:off x="398880" y="2805480"/>
            <a:ext cx="10798200" cy="2150140"/>
          </a:xfrm>
          <a:prstGeom prst="rect">
            <a:avLst/>
          </a:prstGeom>
          <a:solidFill>
            <a:srgbClr val="FFF2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8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usuarios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8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[ [</a:t>
            </a:r>
            <a:r>
              <a:rPr lang="pt-BR" sz="18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"Nome", "Idade"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], [</a:t>
            </a:r>
            <a:r>
              <a:rPr lang="pt-BR" sz="18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"Ana"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pt-BR" sz="1800" b="0" u="none" strike="noStrike" dirty="0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25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], [</a:t>
            </a:r>
            <a:r>
              <a:rPr lang="pt-BR" sz="18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"Carlos"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pt-BR" sz="1800" b="0" u="none" strike="noStrike" dirty="0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30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] ]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800" b="0" u="none" strike="noStrike" dirty="0" err="1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with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open(</a:t>
            </a:r>
            <a:r>
              <a:rPr lang="pt-BR" sz="18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“exemplo3-usuarios.</a:t>
            </a:r>
            <a:r>
              <a:rPr lang="pt-BR" sz="1800" b="1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csv</a:t>
            </a:r>
            <a:r>
              <a:rPr lang="pt-BR" sz="18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pt-BR" sz="18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"w"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 </a:t>
            </a:r>
            <a:r>
              <a:rPr lang="pt-BR" sz="18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as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8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variavel_arquivo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8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    for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800" b="1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nome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pt-BR" sz="1800" b="1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idade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8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in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800" b="0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usuarios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    </a:t>
            </a:r>
            <a:r>
              <a:rPr lang="pt-BR" sz="18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variavel_arquivo</a:t>
            </a:r>
            <a:r>
              <a:rPr lang="pt-BR" sz="1800" b="0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.write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(</a:t>
            </a:r>
            <a:r>
              <a:rPr lang="pt-BR" sz="18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f</a:t>
            </a:r>
            <a:r>
              <a:rPr lang="pt-BR" sz="18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lang="pt-BR" sz="1800" b="0" u="none" strike="noStrike" dirty="0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{</a:t>
            </a:r>
            <a:r>
              <a:rPr lang="pt-BR" sz="1800" b="1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nome</a:t>
            </a:r>
            <a:r>
              <a:rPr lang="pt-BR" sz="1800" b="0" u="none" strike="noStrike" dirty="0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}</a:t>
            </a:r>
            <a:r>
              <a:rPr lang="pt-BR" sz="18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,</a:t>
            </a:r>
            <a:r>
              <a:rPr lang="pt-BR" sz="1800" b="0" u="none" strike="noStrike" dirty="0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{</a:t>
            </a:r>
            <a:r>
              <a:rPr lang="pt-BR" sz="1800" b="1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idade</a:t>
            </a:r>
            <a:r>
              <a:rPr lang="pt-BR" sz="1800" b="0" u="none" strike="noStrike" dirty="0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}\n</a:t>
            </a:r>
            <a:r>
              <a:rPr lang="pt-BR" sz="18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pt-BR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352880" y="754200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Facilidades PYTHON - Formatos de Arquivo </a:t>
            </a:r>
            <a:endParaRPr lang="pt-B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54;p24"/>
          <p:cNvSpPr/>
          <p:nvPr/>
        </p:nvSpPr>
        <p:spPr>
          <a:xfrm>
            <a:off x="1524240" y="2144520"/>
            <a:ext cx="9142920" cy="2705400"/>
          </a:xfrm>
          <a:prstGeom prst="rect">
            <a:avLst/>
          </a:prstGeom>
          <a:solidFill>
            <a:srgbClr val="FFFFD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15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BR" sz="27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Formatar em </a:t>
            </a:r>
            <a:r>
              <a:rPr lang="pt-BR" sz="2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CSV</a:t>
            </a:r>
            <a:r>
              <a:rPr lang="pt-BR" sz="27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ou </a:t>
            </a:r>
            <a:r>
              <a:rPr lang="pt-BR" sz="2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JSON</a:t>
            </a:r>
            <a:r>
              <a:rPr lang="pt-BR" sz="27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é importante porque 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072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●"/>
              <a:tabLst>
                <a:tab pos="0" algn="l"/>
              </a:tabLst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Transforma </a:t>
            </a:r>
            <a:r>
              <a:rPr lang="pt-BR" sz="22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dados brutos</a:t>
            </a: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em </a:t>
            </a:r>
            <a:r>
              <a:rPr lang="pt-BR" sz="22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dados estruturados</a:t>
            </a: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;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pt-BR" sz="22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CSV</a:t>
            </a: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e </a:t>
            </a:r>
            <a:r>
              <a:rPr lang="pt-BR" sz="22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JSON</a:t>
            </a: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são padrões universais;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PYTHON facilita armazenar dados em </a:t>
            </a:r>
            <a:r>
              <a:rPr lang="pt-BR" sz="22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formato estruturados</a:t>
            </a: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;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2085120" y="1109880"/>
            <a:ext cx="7179120" cy="1333440"/>
          </a:xfrm>
          <a:prstGeom prst="rect">
            <a:avLst/>
          </a:prstGeom>
          <a:solidFill>
            <a:srgbClr val="FFFFD7"/>
          </a:solidFill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FORMATO CSV</a:t>
            </a:r>
            <a:endParaRPr lang="pt-BR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60;p25"/>
          <p:cNvSpPr/>
          <p:nvPr/>
        </p:nvSpPr>
        <p:spPr>
          <a:xfrm>
            <a:off x="1524240" y="2693160"/>
            <a:ext cx="9142920" cy="2705400"/>
          </a:xfrm>
          <a:prstGeom prst="rect">
            <a:avLst/>
          </a:prstGeom>
          <a:solidFill>
            <a:srgbClr val="A4C2F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marL="457200" indent="-36828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●"/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Significa “Comma Separated Values” (Valores Separados por Vírgula);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usado para gerar </a:t>
            </a:r>
            <a:r>
              <a:rPr lang="pt-BR" sz="22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tabelas simples</a:t>
            </a: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;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arquivos csv abrem no ms </a:t>
            </a:r>
            <a:r>
              <a:rPr lang="pt-BR" sz="22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excel</a:t>
            </a: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;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50000"/>
              </a:lnSpc>
              <a:spcBef>
                <a:spcPts val="1001"/>
              </a:spcBef>
              <a:tabLst>
                <a:tab pos="0" algn="l"/>
              </a:tabLst>
            </a:pP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524240" y="0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0000"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Exemplo 4</a:t>
            </a:r>
            <a:endParaRPr lang="pt-BR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166;p26"/>
          <p:cNvSpPr/>
          <p:nvPr/>
        </p:nvSpPr>
        <p:spPr>
          <a:xfrm>
            <a:off x="511200" y="852120"/>
            <a:ext cx="10897920" cy="10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Crie uma planilha de excel usando criando um arquivo texto no formato CSV. Crie uma variável lista contendo 2 dicionários. Salve esse conetúdo das variáveis dentro de um arquivo. 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DICA: Use as </a:t>
            </a:r>
            <a:r>
              <a:rPr lang="pt-BR" sz="1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facilidades do Python</a:t>
            </a:r>
            <a:r>
              <a:rPr lang="pt-BR" sz="1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167;p26"/>
          <p:cNvSpPr/>
          <p:nvPr/>
        </p:nvSpPr>
        <p:spPr>
          <a:xfrm>
            <a:off x="249480" y="2119680"/>
            <a:ext cx="11483640" cy="3986280"/>
          </a:xfrm>
          <a:prstGeom prst="rect">
            <a:avLst/>
          </a:prstGeom>
          <a:solidFill>
            <a:srgbClr val="FFFFD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900" b="0" u="none" strike="noStrike" dirty="0" err="1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import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9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csv</a:t>
            </a:r>
            <a:endParaRPr lang="pt-BR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9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variavel_dicionario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9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900" b="1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[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endParaRPr lang="pt-BR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</a:t>
            </a:r>
            <a:r>
              <a:rPr lang="pt-BR" sz="1900" b="1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{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9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"nome"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 </a:t>
            </a:r>
            <a:r>
              <a:rPr lang="pt-BR" sz="19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"Ana"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  </a:t>
            </a:r>
            <a:r>
              <a:rPr lang="pt-BR" sz="19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"idade"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 </a:t>
            </a:r>
            <a:r>
              <a:rPr lang="pt-BR" sz="1900" b="0" u="none" strike="noStrike" dirty="0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25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pt-BR" sz="19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"cidade"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 </a:t>
            </a:r>
            <a:r>
              <a:rPr lang="pt-BR" sz="19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"São Paulo"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900" b="1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}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</a:t>
            </a:r>
            <a:endParaRPr lang="pt-BR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</a:t>
            </a:r>
            <a:r>
              <a:rPr lang="pt-BR" sz="1900" b="1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{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9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"nome"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 </a:t>
            </a:r>
            <a:r>
              <a:rPr lang="pt-BR" sz="19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"Pedro"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pt-BR" sz="19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"idade"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 </a:t>
            </a:r>
            <a:r>
              <a:rPr lang="pt-BR" sz="1900" b="0" u="none" strike="noStrike" dirty="0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11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pt-BR" sz="19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"cidade"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 </a:t>
            </a:r>
            <a:r>
              <a:rPr lang="pt-BR" sz="19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"São Paulo"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900" b="1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}</a:t>
            </a:r>
            <a:endParaRPr lang="pt-BR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900" b="1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]</a:t>
            </a:r>
            <a:endParaRPr lang="pt-BR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900" b="0" u="none" strike="noStrike" dirty="0" err="1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with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open(</a:t>
            </a:r>
            <a:r>
              <a:rPr lang="pt-BR" sz="19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lang="pt-BR" sz="1900" b="1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exemplo4.csv</a:t>
            </a:r>
            <a:r>
              <a:rPr lang="pt-BR" sz="19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pt-BR" sz="19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"w"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pt-BR" sz="1900" b="0" u="none" strike="noStrike" dirty="0" err="1">
                <a:solidFill>
                  <a:srgbClr val="0097A7"/>
                </a:solidFill>
                <a:effectLst/>
                <a:uFillTx/>
                <a:latin typeface="Roboto Mono"/>
                <a:ea typeface="Roboto Mono"/>
              </a:rPr>
              <a:t>newline</a:t>
            </a:r>
            <a:r>
              <a:rPr lang="pt-BR" sz="19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lang="pt-BR" sz="19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""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pt-BR" sz="1900" b="0" u="none" strike="noStrike" dirty="0" err="1">
                <a:solidFill>
                  <a:srgbClr val="0097A7"/>
                </a:solidFill>
                <a:effectLst/>
                <a:uFillTx/>
                <a:latin typeface="Roboto Mono"/>
                <a:ea typeface="Roboto Mono"/>
              </a:rPr>
              <a:t>encoding</a:t>
            </a:r>
            <a:r>
              <a:rPr lang="pt-BR" sz="19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lang="pt-BR" sz="19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"utf-8"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 </a:t>
            </a:r>
            <a:r>
              <a:rPr lang="pt-BR" sz="19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as </a:t>
            </a:r>
            <a:r>
              <a:rPr lang="pt-BR" sz="19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v_arquivo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</a:t>
            </a:r>
            <a:endParaRPr lang="pt-BR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</a:t>
            </a:r>
            <a:r>
              <a:rPr lang="pt-BR" sz="19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formatador_csv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9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9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csv</a:t>
            </a:r>
            <a:r>
              <a:rPr lang="pt-BR" sz="1900" b="0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.writer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(</a:t>
            </a:r>
            <a:r>
              <a:rPr lang="pt-BR" sz="19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v_arquivo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lang="pt-BR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    </a:t>
            </a:r>
            <a:endParaRPr lang="pt-BR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</a:t>
            </a:r>
            <a:r>
              <a:rPr lang="pt-BR" sz="19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formatador_csv</a:t>
            </a:r>
            <a:r>
              <a:rPr lang="pt-BR" sz="1900" b="0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.writerow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(</a:t>
            </a:r>
            <a:r>
              <a:rPr lang="pt-BR" sz="19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variavel_dicionario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[</a:t>
            </a:r>
            <a:r>
              <a:rPr lang="pt-BR" sz="1900" b="0" u="none" strike="noStrike" dirty="0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0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].</a:t>
            </a:r>
            <a:r>
              <a:rPr lang="pt-BR" sz="1900" b="0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keys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())</a:t>
            </a:r>
            <a:endParaRPr lang="pt-BR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    </a:t>
            </a:r>
            <a:endParaRPr lang="pt-BR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</a:t>
            </a:r>
            <a:r>
              <a:rPr lang="pt-BR" sz="19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formatador_csv</a:t>
            </a:r>
            <a:r>
              <a:rPr lang="pt-BR" sz="1900" b="0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.writerow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(</a:t>
            </a:r>
            <a:r>
              <a:rPr lang="pt-BR" sz="19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variavel_dicionario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[</a:t>
            </a:r>
            <a:r>
              <a:rPr lang="pt-BR" sz="1900" b="0" u="none" strike="noStrike" dirty="0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0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].</a:t>
            </a:r>
            <a:r>
              <a:rPr lang="pt-BR" sz="1900" b="0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values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())</a:t>
            </a:r>
            <a:endParaRPr lang="pt-BR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</a:t>
            </a:r>
            <a:endParaRPr lang="pt-BR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</a:t>
            </a:r>
            <a:r>
              <a:rPr lang="pt-BR" sz="19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formatador_csv</a:t>
            </a:r>
            <a:r>
              <a:rPr lang="pt-BR" sz="1900" b="0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.writerow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(</a:t>
            </a:r>
            <a:r>
              <a:rPr lang="pt-BR" sz="19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variavel_dicionario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[</a:t>
            </a:r>
            <a:r>
              <a:rPr lang="pt-BR" sz="1900" b="0" u="none" strike="noStrike" dirty="0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1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].</a:t>
            </a:r>
            <a:r>
              <a:rPr lang="pt-BR" sz="1900" b="0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values</a:t>
            </a:r>
            <a:r>
              <a:rPr lang="pt-BR" sz="19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())</a:t>
            </a:r>
            <a:endParaRPr lang="pt-BR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2085120" y="1109880"/>
            <a:ext cx="8201520" cy="1333440"/>
          </a:xfrm>
          <a:prstGeom prst="rect">
            <a:avLst/>
          </a:prstGeom>
          <a:solidFill>
            <a:srgbClr val="FFFFD7"/>
          </a:solidFill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FORMATO JSON</a:t>
            </a:r>
            <a:endParaRPr lang="pt-BR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173;p27"/>
          <p:cNvSpPr/>
          <p:nvPr/>
        </p:nvSpPr>
        <p:spPr>
          <a:xfrm>
            <a:off x="1524240" y="2693160"/>
            <a:ext cx="9142920" cy="2705400"/>
          </a:xfrm>
          <a:prstGeom prst="rect">
            <a:avLst/>
          </a:prstGeom>
          <a:solidFill>
            <a:srgbClr val="A4C2F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marL="457200" indent="-36828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●"/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Significa “JavaScript Object Notation” (Notação de Objetos JavaScript);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usado enviar valores de variáveis pela rede (A.P.I.);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usado em Banco de Dados NoSQL (orientados a documentos);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É um formato texto (legível a humanos);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50000"/>
              </a:lnSpc>
              <a:spcBef>
                <a:spcPts val="1001"/>
              </a:spcBef>
              <a:tabLst>
                <a:tab pos="0" algn="l"/>
              </a:tabLst>
            </a:pP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524240" y="-55080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0000"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Exemplo 5</a:t>
            </a:r>
            <a:endParaRPr lang="pt-BR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179;p28"/>
          <p:cNvSpPr/>
          <p:nvPr/>
        </p:nvSpPr>
        <p:spPr>
          <a:xfrm>
            <a:off x="536040" y="852120"/>
            <a:ext cx="11483640" cy="10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Crie uma planilha de excel usando criando um arquivo texto no formato JSON. Crie uma variável lista contendo 2 dicionários. Salve esse conetúdo das variáveis dentro de um arquivo.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DICA: Use as facilidades do Python.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DICA: Use as </a:t>
            </a:r>
            <a:r>
              <a:rPr lang="pt-BR" sz="1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facilidades do Python</a:t>
            </a:r>
            <a:r>
              <a:rPr lang="pt-BR" sz="1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180;p28"/>
          <p:cNvSpPr/>
          <p:nvPr/>
        </p:nvSpPr>
        <p:spPr>
          <a:xfrm>
            <a:off x="274320" y="1920240"/>
            <a:ext cx="11483640" cy="2970360"/>
          </a:xfrm>
          <a:prstGeom prst="rect">
            <a:avLst/>
          </a:prstGeom>
          <a:solidFill>
            <a:srgbClr val="FFFFD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 dirty="0" err="1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import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8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json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variavel_dicionario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8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[ 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{</a:t>
            </a:r>
            <a:r>
              <a:rPr lang="pt-BR" sz="18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 "nome"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 </a:t>
            </a:r>
            <a:r>
              <a:rPr lang="pt-BR" sz="18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"Ana"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</a:t>
            </a:r>
            <a:r>
              <a:rPr lang="pt-BR" sz="18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   "idade"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 </a:t>
            </a:r>
            <a:r>
              <a:rPr lang="pt-BR" sz="1800" b="0" u="none" strike="noStrike" dirty="0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25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</a:t>
            </a:r>
            <a:r>
              <a:rPr lang="pt-BR" sz="18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"cidade"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 </a:t>
            </a:r>
            <a:r>
              <a:rPr lang="pt-BR" sz="18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"São Paulo"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},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{</a:t>
            </a:r>
            <a:r>
              <a:rPr lang="pt-BR" sz="18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 "nome"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 </a:t>
            </a:r>
            <a:r>
              <a:rPr lang="pt-BR" sz="18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"Pedro"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</a:t>
            </a:r>
            <a:r>
              <a:rPr lang="pt-BR" sz="18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 "idade"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 </a:t>
            </a:r>
            <a:r>
              <a:rPr lang="pt-BR" sz="1800" b="0" u="none" strike="noStrike" dirty="0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11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</a:t>
            </a:r>
            <a:r>
              <a:rPr lang="pt-BR" sz="18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"cidade"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 </a:t>
            </a:r>
            <a:r>
              <a:rPr lang="pt-BR" sz="18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"São Paulo"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}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]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 dirty="0" err="1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with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open(</a:t>
            </a:r>
            <a:r>
              <a:rPr lang="pt-BR" sz="18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lang="pt-BR" sz="1800" b="1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exemplo5.json</a:t>
            </a:r>
            <a:r>
              <a:rPr lang="pt-BR" sz="18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pt-BR" sz="18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"w"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pt-BR" sz="1800" b="0" u="none" strike="noStrike" dirty="0" err="1">
                <a:solidFill>
                  <a:srgbClr val="0097A7"/>
                </a:solidFill>
                <a:effectLst/>
                <a:uFillTx/>
                <a:latin typeface="Roboto Mono"/>
                <a:ea typeface="Roboto Mono"/>
              </a:rPr>
              <a:t>encoding</a:t>
            </a:r>
            <a:r>
              <a:rPr lang="pt-BR" sz="18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lang="pt-BR" sz="18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"utf-8"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 </a:t>
            </a:r>
            <a:r>
              <a:rPr lang="pt-BR" sz="18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as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8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variavel_arquivo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</a:t>
            </a:r>
            <a:r>
              <a:rPr lang="pt-BR" sz="1800" b="0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json.dump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(</a:t>
            </a:r>
            <a:r>
              <a:rPr lang="pt-BR" sz="18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variavel_dicionario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pt-BR" sz="18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variavel_arquivo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pt-BR" sz="1800" b="0" u="none" strike="noStrike" dirty="0" err="1">
                <a:solidFill>
                  <a:srgbClr val="0097A7"/>
                </a:solidFill>
                <a:effectLst/>
                <a:uFillTx/>
                <a:latin typeface="Roboto Mono"/>
                <a:ea typeface="Roboto Mono"/>
              </a:rPr>
              <a:t>ensure_ascii</a:t>
            </a:r>
            <a:r>
              <a:rPr lang="pt-BR" sz="18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lang="pt-BR" sz="1800" b="0" u="none" strike="noStrike" dirty="0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False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pt-BR" sz="1800" b="0" u="none" strike="noStrike" dirty="0" err="1">
                <a:solidFill>
                  <a:srgbClr val="0097A7"/>
                </a:solidFill>
                <a:effectLst/>
                <a:uFillTx/>
                <a:latin typeface="Roboto Mono"/>
                <a:ea typeface="Roboto Mono"/>
              </a:rPr>
              <a:t>indent</a:t>
            </a:r>
            <a:r>
              <a:rPr lang="pt-BR" sz="18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lang="pt-BR" sz="1800" b="0" u="none" strike="noStrike" dirty="0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4</a:t>
            </a:r>
            <a:r>
              <a:rPr lang="pt-BR" sz="18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pt-BR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2085120" y="1109880"/>
            <a:ext cx="8201520" cy="1333440"/>
          </a:xfrm>
          <a:prstGeom prst="rect">
            <a:avLst/>
          </a:prstGeom>
          <a:solidFill>
            <a:srgbClr val="FFFFD7"/>
          </a:solidFill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LER ARQUIVOS</a:t>
            </a:r>
            <a:endParaRPr lang="pt-BR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186;p29"/>
          <p:cNvSpPr/>
          <p:nvPr/>
        </p:nvSpPr>
        <p:spPr>
          <a:xfrm>
            <a:off x="1524240" y="2693160"/>
            <a:ext cx="9142920" cy="2705400"/>
          </a:xfrm>
          <a:prstGeom prst="rect">
            <a:avLst/>
          </a:prstGeom>
          <a:solidFill>
            <a:srgbClr val="A4C2F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marL="457200" indent="-36828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●"/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Vamos basicamente fazer o processo reverso;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Criamos os arquivos. Agora vamos le-los;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50000"/>
              </a:lnSpc>
              <a:spcBef>
                <a:spcPts val="1001"/>
              </a:spcBef>
              <a:tabLst>
                <a:tab pos="0" algn="l"/>
              </a:tabLst>
            </a:pP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524240" y="107280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0000"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Exemplo 6</a:t>
            </a:r>
            <a:endParaRPr lang="pt-BR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192;p30"/>
          <p:cNvSpPr/>
          <p:nvPr/>
        </p:nvSpPr>
        <p:spPr>
          <a:xfrm>
            <a:off x="1209600" y="1014120"/>
            <a:ext cx="9987480" cy="90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Temos um arquivo com os valores "fulano", "ciclano", e "beltrano" .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Faça um programa python para ler estes arquivos.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193;p30"/>
          <p:cNvSpPr/>
          <p:nvPr/>
        </p:nvSpPr>
        <p:spPr>
          <a:xfrm>
            <a:off x="398880" y="1920960"/>
            <a:ext cx="11576880" cy="4481804"/>
          </a:xfrm>
          <a:prstGeom prst="rect">
            <a:avLst/>
          </a:prstGeom>
          <a:solidFill>
            <a:srgbClr val="FFF2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20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variavel_lista_lida</a:t>
            </a:r>
            <a:r>
              <a:rPr lang="pt-BR" sz="20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20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lang="pt-BR" sz="20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[]</a:t>
            </a:r>
            <a:endParaRPr lang="pt-B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pt-B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2000" b="0" u="none" strike="noStrike" dirty="0" err="1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with</a:t>
            </a:r>
            <a:r>
              <a:rPr lang="pt-BR" sz="20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open(</a:t>
            </a:r>
            <a:r>
              <a:rPr lang="pt-BR" sz="20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"exemplo1-lista.txt"</a:t>
            </a:r>
            <a:r>
              <a:rPr lang="pt-BR" sz="20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pt-BR" sz="20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"r"</a:t>
            </a:r>
            <a:r>
              <a:rPr lang="pt-BR" sz="20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pt-BR" sz="2000" b="0" u="none" strike="noStrike" dirty="0" err="1">
                <a:solidFill>
                  <a:srgbClr val="0097A7"/>
                </a:solidFill>
                <a:effectLst/>
                <a:uFillTx/>
                <a:latin typeface="Roboto Mono"/>
                <a:ea typeface="Roboto Mono"/>
              </a:rPr>
              <a:t>encoding</a:t>
            </a:r>
            <a:r>
              <a:rPr lang="pt-BR" sz="20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lang="pt-BR" sz="20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"utf-8"</a:t>
            </a:r>
            <a:r>
              <a:rPr lang="pt-BR" sz="20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 </a:t>
            </a:r>
            <a:r>
              <a:rPr lang="pt-BR" sz="20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as</a:t>
            </a:r>
            <a:r>
              <a:rPr lang="pt-BR" sz="20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20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v_arquivo</a:t>
            </a:r>
            <a:r>
              <a:rPr lang="pt-BR" sz="20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</a:t>
            </a:r>
            <a:endParaRPr lang="pt-B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20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    for</a:t>
            </a:r>
            <a:r>
              <a:rPr lang="pt-BR" sz="20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linha </a:t>
            </a:r>
            <a:r>
              <a:rPr lang="pt-BR" sz="20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in</a:t>
            </a:r>
            <a:r>
              <a:rPr lang="pt-BR" sz="20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20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v_arquivo</a:t>
            </a:r>
            <a:r>
              <a:rPr lang="pt-BR" sz="20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</a:t>
            </a:r>
            <a:endParaRPr lang="pt-B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20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    </a:t>
            </a:r>
            <a:r>
              <a:rPr lang="pt-BR" sz="20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variavel_lista_lida</a:t>
            </a:r>
            <a:r>
              <a:rPr lang="pt-BR" sz="2000" b="0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.append</a:t>
            </a:r>
            <a:r>
              <a:rPr lang="pt-BR" sz="20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(</a:t>
            </a:r>
            <a:r>
              <a:rPr lang="pt-BR" sz="20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linha</a:t>
            </a:r>
            <a:r>
              <a:rPr lang="pt-BR" sz="2000" b="0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.strip</a:t>
            </a:r>
            <a:r>
              <a:rPr lang="pt-BR" sz="20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())</a:t>
            </a:r>
            <a:endParaRPr lang="pt-B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pt-B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20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print(</a:t>
            </a:r>
            <a:r>
              <a:rPr lang="pt-BR" sz="20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variavel_lista_lida</a:t>
            </a:r>
            <a:r>
              <a:rPr lang="pt-BR" sz="20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lang="pt-B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pt-BR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pt-BR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524240" y="107280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0000"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Exemplo 7</a:t>
            </a:r>
            <a:endParaRPr lang="pt-BR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99;p31"/>
          <p:cNvSpPr/>
          <p:nvPr/>
        </p:nvSpPr>
        <p:spPr>
          <a:xfrm>
            <a:off x="1209600" y="1014120"/>
            <a:ext cx="9987480" cy="90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Faça um programa em python. Leia e imprima na tela o cadastro da  Cliente "</a:t>
            </a:r>
            <a:r>
              <a:rPr lang="pt-BR" sz="1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Ana</a:t>
            </a:r>
            <a:r>
              <a:rPr lang="pt-BR" sz="1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". 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200;p31"/>
          <p:cNvSpPr/>
          <p:nvPr/>
        </p:nvSpPr>
        <p:spPr>
          <a:xfrm>
            <a:off x="536040" y="1920960"/>
            <a:ext cx="10748160" cy="3928319"/>
          </a:xfrm>
          <a:prstGeom prst="rect">
            <a:avLst/>
          </a:prstGeom>
          <a:solidFill>
            <a:srgbClr val="FFFFD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6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variavel_dicionario_lido</a:t>
            </a:r>
            <a:r>
              <a:rPr lang="pt-BR" sz="16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6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lang="pt-BR" sz="16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{}</a:t>
            </a:r>
            <a:endParaRPr lang="pt-BR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pt-BR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600" b="0" u="none" strike="noStrike" dirty="0" err="1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with</a:t>
            </a:r>
            <a:r>
              <a:rPr lang="pt-BR" sz="16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open(</a:t>
            </a:r>
            <a:r>
              <a:rPr lang="pt-BR" sz="16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"exemplo2-dicionario.txt"</a:t>
            </a:r>
            <a:r>
              <a:rPr lang="pt-BR" sz="16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pt-BR" sz="16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"r"</a:t>
            </a:r>
            <a:r>
              <a:rPr lang="pt-BR" sz="16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pt-BR" sz="1600" b="0" u="none" strike="noStrike" dirty="0" err="1">
                <a:solidFill>
                  <a:srgbClr val="0097A7"/>
                </a:solidFill>
                <a:effectLst/>
                <a:uFillTx/>
                <a:latin typeface="Roboto Mono"/>
                <a:ea typeface="Roboto Mono"/>
              </a:rPr>
              <a:t>encoding</a:t>
            </a:r>
            <a:r>
              <a:rPr lang="pt-BR" sz="16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lang="pt-BR" sz="16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"utf-8"</a:t>
            </a:r>
            <a:r>
              <a:rPr lang="pt-BR" sz="16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 </a:t>
            </a:r>
            <a:r>
              <a:rPr lang="pt-BR" sz="16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as</a:t>
            </a:r>
            <a:r>
              <a:rPr lang="pt-BR" sz="16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7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variavel_arquivo</a:t>
            </a:r>
            <a:r>
              <a:rPr lang="pt-BR" sz="16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</a:t>
            </a:r>
            <a:endParaRPr lang="pt-BR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6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    for</a:t>
            </a:r>
            <a:r>
              <a:rPr lang="pt-BR" sz="16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800" b="1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linha</a:t>
            </a:r>
            <a:r>
              <a:rPr lang="pt-BR" sz="16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6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in</a:t>
            </a:r>
            <a:r>
              <a:rPr lang="pt-BR" sz="16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9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variavel_arquivo</a:t>
            </a:r>
            <a:r>
              <a:rPr lang="pt-BR" sz="16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</a:t>
            </a:r>
            <a:endParaRPr lang="pt-BR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6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    </a:t>
            </a:r>
            <a:r>
              <a:rPr lang="pt-BR" sz="1600" b="1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chave</a:t>
            </a:r>
            <a:r>
              <a:rPr lang="pt-BR" sz="16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pt-BR" sz="1600" b="1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valor</a:t>
            </a:r>
            <a:r>
              <a:rPr lang="pt-BR" sz="16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6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lang="pt-BR" sz="16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6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linha</a:t>
            </a:r>
            <a:r>
              <a:rPr lang="pt-BR" sz="1600" b="0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.strip</a:t>
            </a:r>
            <a:r>
              <a:rPr lang="pt-BR" sz="16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().split(</a:t>
            </a:r>
            <a:r>
              <a:rPr lang="pt-BR" sz="16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":"</a:t>
            </a:r>
            <a:r>
              <a:rPr lang="pt-BR" sz="16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lang="pt-BR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6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        </a:t>
            </a:r>
            <a:r>
              <a:rPr lang="pt-BR" sz="1600" b="0" u="none" strike="noStrike" dirty="0" err="1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if</a:t>
            </a:r>
            <a:r>
              <a:rPr lang="pt-BR" sz="16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6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valor</a:t>
            </a:r>
            <a:r>
              <a:rPr lang="pt-BR" sz="1600" b="0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.isdigit</a:t>
            </a:r>
            <a:r>
              <a:rPr lang="pt-BR" sz="16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():</a:t>
            </a:r>
            <a:endParaRPr lang="pt-BR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6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        </a:t>
            </a:r>
            <a:r>
              <a:rPr lang="pt-BR" sz="1600" b="1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valor</a:t>
            </a:r>
            <a:r>
              <a:rPr lang="pt-BR" sz="16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6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lang="pt-BR" sz="16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600" b="0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int</a:t>
            </a:r>
            <a:r>
              <a:rPr lang="pt-BR" sz="16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(</a:t>
            </a:r>
            <a:r>
              <a:rPr lang="pt-BR" sz="1600" b="1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valor</a:t>
            </a:r>
            <a:r>
              <a:rPr lang="pt-BR" sz="16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        </a:t>
            </a:r>
            <a:endParaRPr lang="pt-BR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6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    </a:t>
            </a:r>
            <a:r>
              <a:rPr lang="pt-BR" sz="16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variavel_dicionario_lido</a:t>
            </a:r>
            <a:r>
              <a:rPr lang="pt-BR" sz="16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[</a:t>
            </a:r>
            <a:r>
              <a:rPr lang="pt-BR" sz="1600" b="1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chave</a:t>
            </a:r>
            <a:r>
              <a:rPr lang="pt-BR" sz="16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] </a:t>
            </a:r>
            <a:r>
              <a:rPr lang="pt-BR" sz="16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lang="pt-BR" sz="16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600" b="1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valor</a:t>
            </a:r>
            <a:endParaRPr lang="pt-BR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pt-BR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6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print(</a:t>
            </a:r>
            <a:r>
              <a:rPr lang="pt-BR" sz="16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variavel_dicionario_lido</a:t>
            </a:r>
            <a:r>
              <a:rPr lang="pt-BR" sz="16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lang="pt-BR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524240" y="107280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0000"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Exemplo 8</a:t>
            </a:r>
            <a:endParaRPr lang="pt-BR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206;p32"/>
          <p:cNvSpPr/>
          <p:nvPr/>
        </p:nvSpPr>
        <p:spPr>
          <a:xfrm>
            <a:off x="511200" y="1014120"/>
            <a:ext cx="1089792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Leia a planilha excel CSV da cliente ANA e imprima os valores na tela;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207;p32"/>
          <p:cNvSpPr/>
          <p:nvPr/>
        </p:nvSpPr>
        <p:spPr>
          <a:xfrm>
            <a:off x="398880" y="1462320"/>
            <a:ext cx="10798200" cy="4070520"/>
          </a:xfrm>
          <a:prstGeom prst="rect">
            <a:avLst/>
          </a:prstGeom>
          <a:solidFill>
            <a:srgbClr val="FFF2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7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usuarios_lidos</a:t>
            </a:r>
            <a:r>
              <a:rPr lang="pt-BR" sz="17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7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lang="pt-BR" sz="17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[]</a:t>
            </a:r>
            <a:endParaRPr lang="pt-BR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pt-BR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700" b="0" u="none" strike="noStrike" dirty="0" err="1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with</a:t>
            </a:r>
            <a:r>
              <a:rPr lang="pt-BR" sz="17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open(</a:t>
            </a:r>
            <a:r>
              <a:rPr lang="pt-BR" sz="17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lang="pt-BR" sz="16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exemplo3-usuarios.</a:t>
            </a:r>
            <a:r>
              <a:rPr lang="pt-BR" sz="1600" b="1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csv</a:t>
            </a:r>
            <a:r>
              <a:rPr lang="pt-BR" sz="17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lang="pt-BR" sz="17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pt-BR" sz="17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"r"</a:t>
            </a:r>
            <a:r>
              <a:rPr lang="pt-BR" sz="17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pt-BR" sz="1700" b="0" u="none" strike="noStrike" dirty="0" err="1">
                <a:solidFill>
                  <a:srgbClr val="0097A7"/>
                </a:solidFill>
                <a:effectLst/>
                <a:uFillTx/>
                <a:latin typeface="Roboto Mono"/>
                <a:ea typeface="Roboto Mono"/>
              </a:rPr>
              <a:t>encoding</a:t>
            </a:r>
            <a:r>
              <a:rPr lang="pt-BR" sz="17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lang="pt-BR" sz="17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"utf-8"</a:t>
            </a:r>
            <a:r>
              <a:rPr lang="pt-BR" sz="17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 </a:t>
            </a:r>
            <a:r>
              <a:rPr lang="pt-BR" sz="17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as</a:t>
            </a:r>
            <a:r>
              <a:rPr lang="pt-BR" sz="17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7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variavel_arquivo</a:t>
            </a:r>
            <a:r>
              <a:rPr lang="pt-BR" sz="17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</a:t>
            </a:r>
            <a:endParaRPr lang="pt-BR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7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    for</a:t>
            </a:r>
            <a:r>
              <a:rPr lang="pt-BR" sz="17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700" b="1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linha</a:t>
            </a:r>
            <a:r>
              <a:rPr lang="pt-BR" sz="17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7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in</a:t>
            </a:r>
            <a:r>
              <a:rPr lang="pt-BR" sz="17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7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variavel_arquivo</a:t>
            </a:r>
            <a:r>
              <a:rPr lang="pt-BR" sz="17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</a:t>
            </a:r>
            <a:endParaRPr lang="pt-BR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7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    </a:t>
            </a:r>
            <a:r>
              <a:rPr lang="pt-BR" sz="1700" b="1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nome</a:t>
            </a:r>
            <a:r>
              <a:rPr lang="pt-BR" sz="17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pt-BR" sz="1700" b="1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idade</a:t>
            </a:r>
            <a:r>
              <a:rPr lang="pt-BR" sz="17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7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lang="pt-BR" sz="17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700" b="0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linha.strip</a:t>
            </a:r>
            <a:r>
              <a:rPr lang="pt-BR" sz="17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().split(</a:t>
            </a:r>
            <a:r>
              <a:rPr lang="pt-BR" sz="17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","</a:t>
            </a:r>
            <a:r>
              <a:rPr lang="pt-BR" sz="17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lang="pt-BR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7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        </a:t>
            </a:r>
            <a:r>
              <a:rPr lang="pt-BR" sz="1700" b="0" u="none" strike="noStrike" dirty="0" err="1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if</a:t>
            </a:r>
            <a:r>
              <a:rPr lang="pt-BR" sz="17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7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idade</a:t>
            </a:r>
            <a:r>
              <a:rPr lang="pt-BR" sz="1700" b="0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.isdigit</a:t>
            </a:r>
            <a:r>
              <a:rPr lang="pt-BR" sz="17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():</a:t>
            </a:r>
            <a:endParaRPr lang="pt-BR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7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        </a:t>
            </a:r>
            <a:r>
              <a:rPr lang="pt-BR" sz="1700" b="1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idade</a:t>
            </a:r>
            <a:r>
              <a:rPr lang="pt-BR" sz="17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7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lang="pt-BR" sz="17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700" b="0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int</a:t>
            </a:r>
            <a:r>
              <a:rPr lang="pt-BR" sz="17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(</a:t>
            </a:r>
            <a:r>
              <a:rPr lang="pt-BR" sz="1700" b="1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idade</a:t>
            </a:r>
            <a:r>
              <a:rPr lang="pt-BR" sz="17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        </a:t>
            </a:r>
            <a:endParaRPr lang="pt-BR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7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    </a:t>
            </a:r>
            <a:r>
              <a:rPr lang="pt-BR" sz="17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usuarios_lidos</a:t>
            </a:r>
            <a:r>
              <a:rPr lang="pt-BR" sz="1700" b="0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.append</a:t>
            </a:r>
            <a:r>
              <a:rPr lang="pt-BR" sz="17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([</a:t>
            </a:r>
            <a:r>
              <a:rPr lang="pt-BR" sz="1700" b="1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nome</a:t>
            </a:r>
            <a:r>
              <a:rPr lang="pt-BR" sz="17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pt-BR" sz="1700" b="1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idade</a:t>
            </a:r>
            <a:r>
              <a:rPr lang="pt-BR" sz="17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])</a:t>
            </a:r>
            <a:endParaRPr lang="pt-BR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pt-BR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7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print(</a:t>
            </a:r>
            <a:r>
              <a:rPr lang="pt-BR" sz="17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usuarios_lidos</a:t>
            </a:r>
            <a:r>
              <a:rPr lang="pt-BR" sz="17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lang="pt-BR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524240" y="0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0000"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Exemplo 9</a:t>
            </a:r>
            <a:endParaRPr lang="pt-BR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213;p33"/>
          <p:cNvSpPr/>
          <p:nvPr/>
        </p:nvSpPr>
        <p:spPr>
          <a:xfrm>
            <a:off x="511200" y="852120"/>
            <a:ext cx="1089792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 as </a:t>
            </a:r>
            <a:r>
              <a:rPr lang="pt-BR" sz="1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facilidades do Python</a:t>
            </a:r>
            <a:r>
              <a:rPr lang="pt-BR" sz="1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 Leia a planilha CSV que você crou no exemplo 4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Google Shape;214;p33"/>
          <p:cNvSpPr/>
          <p:nvPr/>
        </p:nvSpPr>
        <p:spPr>
          <a:xfrm>
            <a:off x="274680" y="1287720"/>
            <a:ext cx="11483640" cy="5671800"/>
          </a:xfrm>
          <a:prstGeom prst="rect">
            <a:avLst/>
          </a:prstGeom>
          <a:solidFill>
            <a:srgbClr val="FFFFD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500" b="0" u="none" strike="noStrike" dirty="0" err="1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import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5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csv</a:t>
            </a:r>
            <a:endParaRPr lang="pt-BR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5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variavel_dicionario_lido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5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[]</a:t>
            </a:r>
            <a:endParaRPr lang="pt-BR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500" b="0" u="none" strike="noStrike" dirty="0" err="1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with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open(</a:t>
            </a:r>
            <a:r>
              <a:rPr lang="pt-BR" sz="15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lang="pt-BR" sz="1500" b="1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exemplo4.csv</a:t>
            </a:r>
            <a:r>
              <a:rPr lang="pt-BR" sz="15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pt-BR" sz="15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"r"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pt-BR" sz="1500" b="0" u="none" strike="noStrike" dirty="0" err="1">
                <a:solidFill>
                  <a:srgbClr val="0097A7"/>
                </a:solidFill>
                <a:effectLst/>
                <a:uFillTx/>
                <a:latin typeface="Roboto Mono"/>
                <a:ea typeface="Roboto Mono"/>
              </a:rPr>
              <a:t>encoding</a:t>
            </a:r>
            <a:r>
              <a:rPr lang="pt-BR" sz="15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lang="pt-BR" sz="15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"utf-8"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 </a:t>
            </a:r>
            <a:r>
              <a:rPr lang="pt-BR" sz="15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as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5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v_arquivo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</a:t>
            </a:r>
            <a:endParaRPr lang="pt-BR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</a:t>
            </a:r>
            <a:r>
              <a:rPr lang="pt-BR" sz="15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leitor_csv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5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5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csv</a:t>
            </a:r>
            <a:r>
              <a:rPr lang="pt-BR" sz="1500" b="0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.reader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(</a:t>
            </a:r>
            <a:r>
              <a:rPr lang="pt-BR" sz="15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v_arquivo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    </a:t>
            </a:r>
            <a:endParaRPr lang="pt-BR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</a:t>
            </a:r>
            <a:r>
              <a:rPr lang="pt-BR" sz="15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cabecalho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5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500" b="0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next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(</a:t>
            </a:r>
            <a:r>
              <a:rPr lang="pt-BR" sz="15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leitor_csv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  </a:t>
            </a:r>
            <a:r>
              <a:rPr lang="pt-BR" sz="1500" b="0" u="none" strike="noStrike" dirty="0">
                <a:solidFill>
                  <a:srgbClr val="D81B60"/>
                </a:solidFill>
                <a:effectLst/>
                <a:uFillTx/>
                <a:latin typeface="Roboto Mono"/>
                <a:ea typeface="Roboto Mono"/>
              </a:rPr>
              <a:t># lê a primeira linha (colunas)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</a:t>
            </a:r>
            <a:endParaRPr lang="pt-BR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5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    for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500" b="1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linha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5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in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5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leitor_csv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</a:t>
            </a:r>
            <a:endParaRPr lang="pt-BR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    </a:t>
            </a:r>
            <a:r>
              <a:rPr lang="pt-BR" sz="1500" b="1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registro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5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{}        </a:t>
            </a:r>
            <a:endParaRPr lang="pt-BR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5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        for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500" b="1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i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5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in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range(</a:t>
            </a:r>
            <a:r>
              <a:rPr lang="pt-BR" sz="1500" b="0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len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(</a:t>
            </a:r>
            <a:r>
              <a:rPr lang="pt-BR" sz="15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cabecalho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)):</a:t>
            </a:r>
            <a:endParaRPr lang="pt-BR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        </a:t>
            </a:r>
            <a:r>
              <a:rPr lang="pt-BR" sz="1500" b="1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valor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5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linha[</a:t>
            </a:r>
            <a:r>
              <a:rPr lang="pt-BR" sz="1500" b="1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i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]            </a:t>
            </a:r>
            <a:endParaRPr lang="pt-BR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500" b="0" u="none" strike="noStrike" dirty="0">
                <a:solidFill>
                  <a:srgbClr val="D81B60"/>
                </a:solidFill>
                <a:effectLst/>
                <a:uFillTx/>
                <a:latin typeface="Roboto Mono"/>
                <a:ea typeface="Roboto Mono"/>
              </a:rPr>
              <a:t>            # conversão de tipo</a:t>
            </a:r>
            <a:endParaRPr lang="pt-BR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5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            </a:t>
            </a:r>
            <a:r>
              <a:rPr lang="pt-BR" sz="1500" b="0" u="none" strike="noStrike" dirty="0" err="1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if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5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valor</a:t>
            </a:r>
            <a:r>
              <a:rPr lang="pt-BR" sz="1500" b="0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.isdigit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():</a:t>
            </a:r>
            <a:endParaRPr lang="pt-BR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            </a:t>
            </a:r>
            <a:r>
              <a:rPr lang="pt-BR" sz="1500" b="1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valor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5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500" b="0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int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(valor)            </a:t>
            </a:r>
            <a:endParaRPr lang="pt-BR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        </a:t>
            </a:r>
            <a:r>
              <a:rPr lang="pt-BR" sz="1500" b="1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registro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[</a:t>
            </a:r>
            <a:r>
              <a:rPr lang="pt-BR" sz="15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cabecalho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[</a:t>
            </a:r>
            <a:r>
              <a:rPr lang="pt-BR" sz="1500" b="1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i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]] </a:t>
            </a:r>
            <a:r>
              <a:rPr lang="pt-BR" sz="15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1500" b="1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valor</a:t>
            </a:r>
            <a:endParaRPr lang="pt-BR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    </a:t>
            </a:r>
            <a:r>
              <a:rPr lang="pt-BR" sz="15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variavel_dicionario_lido</a:t>
            </a:r>
            <a:r>
              <a:rPr lang="pt-BR" sz="1500" b="0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.append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(</a:t>
            </a:r>
            <a:r>
              <a:rPr lang="pt-BR" sz="1500" b="1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registro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lang="pt-BR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print(</a:t>
            </a:r>
            <a:r>
              <a:rPr lang="pt-BR" sz="15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variavel_dicionario_lido</a:t>
            </a:r>
            <a:r>
              <a:rPr lang="pt-BR" sz="15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lang="pt-BR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pt-BR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524240" y="-55080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0000"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Exemplo 10</a:t>
            </a:r>
            <a:endParaRPr lang="pt-BR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Google Shape;220;p34"/>
          <p:cNvSpPr/>
          <p:nvPr/>
        </p:nvSpPr>
        <p:spPr>
          <a:xfrm>
            <a:off x="536040" y="852120"/>
            <a:ext cx="11483640" cy="8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Leia o arquivo JSON que você  criou no exemplo 4 e imprima os valores do json na tela.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DICA: Use as facilidades do Python.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221;p34"/>
          <p:cNvSpPr/>
          <p:nvPr/>
        </p:nvSpPr>
        <p:spPr>
          <a:xfrm>
            <a:off x="249120" y="1689480"/>
            <a:ext cx="11483640" cy="3747600"/>
          </a:xfrm>
          <a:prstGeom prst="rect">
            <a:avLst/>
          </a:prstGeom>
          <a:solidFill>
            <a:srgbClr val="FFFFD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2100" b="0" u="none" strike="noStrike" dirty="0" err="1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import</a:t>
            </a:r>
            <a:r>
              <a:rPr lang="pt-BR" sz="21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21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json</a:t>
            </a:r>
            <a:endParaRPr lang="pt-BR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pt-BR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2100" b="0" u="none" strike="noStrike" dirty="0" err="1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with</a:t>
            </a:r>
            <a:r>
              <a:rPr lang="pt-BR" sz="21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open(</a:t>
            </a:r>
            <a:r>
              <a:rPr lang="pt-BR" sz="21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lang="pt-BR" sz="2100" b="1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exemplo5.json</a:t>
            </a:r>
            <a:r>
              <a:rPr lang="pt-BR" sz="21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lang="pt-BR" sz="21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pt-BR" sz="21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"r"</a:t>
            </a:r>
            <a:r>
              <a:rPr lang="pt-BR" sz="21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lang="pt-BR" sz="2100" b="0" u="none" strike="noStrike" dirty="0" err="1">
                <a:solidFill>
                  <a:srgbClr val="0097A7"/>
                </a:solidFill>
                <a:effectLst/>
                <a:uFillTx/>
                <a:latin typeface="Roboto Mono"/>
                <a:ea typeface="Roboto Mono"/>
              </a:rPr>
              <a:t>encoding</a:t>
            </a:r>
            <a:r>
              <a:rPr lang="pt-BR" sz="21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lang="pt-BR" sz="2100" b="0" u="none" strike="noStrike" dirty="0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"utf-8"</a:t>
            </a:r>
            <a:r>
              <a:rPr lang="pt-BR" sz="21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 </a:t>
            </a:r>
            <a:r>
              <a:rPr lang="pt-BR" sz="21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as</a:t>
            </a:r>
            <a:r>
              <a:rPr lang="pt-BR" sz="21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21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variavel_arquivo</a:t>
            </a:r>
            <a:r>
              <a:rPr lang="pt-BR" sz="21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</a:t>
            </a:r>
            <a:endParaRPr lang="pt-BR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21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</a:t>
            </a:r>
            <a:r>
              <a:rPr lang="pt-BR" sz="21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variavel_dicionario_lido</a:t>
            </a:r>
            <a:r>
              <a:rPr lang="pt-BR" sz="21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2100" b="0" u="none" strike="noStrike" dirty="0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lang="pt-BR" sz="21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lang="pt-BR" sz="2100" b="0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json.load</a:t>
            </a:r>
            <a:r>
              <a:rPr lang="pt-BR" sz="21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(</a:t>
            </a:r>
            <a:r>
              <a:rPr lang="pt-BR" sz="21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variavel_arquivo</a:t>
            </a:r>
            <a:r>
              <a:rPr lang="pt-BR" sz="21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lang="pt-BR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pt-BR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21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print(</a:t>
            </a:r>
            <a:r>
              <a:rPr lang="pt-BR" sz="2100" b="1" u="none" strike="noStrike" dirty="0" err="1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variavel_dicionario_lido</a:t>
            </a:r>
            <a:r>
              <a:rPr lang="pt-BR" sz="2100" b="0" u="none" strike="noStrike" dirty="0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lang="pt-BR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pt-BR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1669</Words>
  <Application>Microsoft Office PowerPoint</Application>
  <PresentationFormat>Widescreen</PresentationFormat>
  <Paragraphs>205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30" baseType="lpstr">
      <vt:lpstr>Arial</vt:lpstr>
      <vt:lpstr>Calibri</vt:lpstr>
      <vt:lpstr>Noto Sans Symbols</vt:lpstr>
      <vt:lpstr>Roboto Mono</vt:lpstr>
      <vt:lpstr>Symbol</vt:lpstr>
      <vt:lpstr>Times New Roman</vt:lpstr>
      <vt:lpstr>Wingdings</vt:lpstr>
      <vt:lpstr>Tema do Office</vt:lpstr>
      <vt:lpstr>Aula 7 - 2026-04-15 </vt:lpstr>
      <vt:lpstr>Entrada e Saída em Python</vt:lpstr>
      <vt:lpstr>ARQUIVOS:</vt:lpstr>
      <vt:lpstr>Tipos de Variáveis para Armazenar:</vt:lpstr>
      <vt:lpstr>Criação de arquivos método CLÁSSICO</vt:lpstr>
      <vt:lpstr>Criação de arquivos método CLÁSSICO</vt:lpstr>
      <vt:lpstr>Criação de arquivos método PYTHON</vt:lpstr>
      <vt:lpstr>Criação de arquivos método PYTHON</vt:lpstr>
      <vt:lpstr>Exemplo 1</vt:lpstr>
      <vt:lpstr>Exemplo 2</vt:lpstr>
      <vt:lpstr>Exemplo 3</vt:lpstr>
      <vt:lpstr>Facilidades PYTHON - Formatos de Arquivo </vt:lpstr>
      <vt:lpstr>FORMATO CSV</vt:lpstr>
      <vt:lpstr>Exemplo 4</vt:lpstr>
      <vt:lpstr>FORMATO JSON</vt:lpstr>
      <vt:lpstr>Exemplo 5</vt:lpstr>
      <vt:lpstr>LER ARQUIVOS</vt:lpstr>
      <vt:lpstr>Exemplo 6</vt:lpstr>
      <vt:lpstr>Exemplo 7</vt:lpstr>
      <vt:lpstr>Exemplo 8</vt:lpstr>
      <vt:lpstr>Exemplo 9</vt:lpstr>
      <vt:lpstr>Exemplo 10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miguel</dc:creator>
  <dc:description/>
  <cp:lastModifiedBy>MIGUEL PENTEADO</cp:lastModifiedBy>
  <cp:revision>8</cp:revision>
  <dcterms:modified xsi:type="dcterms:W3CDTF">2026-04-17T00:04:52Z</dcterms:modified>
  <dc:language>pt-BR</dc:language>
</cp:coreProperties>
</file>