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1" r:id="rId10"/>
    <p:sldId id="282" r:id="rId11"/>
    <p:sldId id="277" r:id="rId12"/>
    <p:sldId id="293" r:id="rId13"/>
    <p:sldId id="28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583505-839D-4FDB-96AB-B06BDB678086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1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ECAC5C-A03B-4568-91FF-2330E0B80C8C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59937F-34BB-4099-A854-D3236A5F0E75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922E01-3F43-4E28-83AB-8511CD831C2B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CEC26C-64C9-4B43-92FE-9CF328C9B21A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AF7B84-7DE8-45B0-A744-83F78B46E1E4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240" cy="1051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E2C479-BE3F-4D29-A584-C2894B63116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0760" cy="262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 rot="5400000">
            <a:off x="1799640" y="-596160"/>
            <a:ext cx="5810760" cy="773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03A5BB-6E31-41DB-9263-C33362025D0F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C63356-BAAE-4A7A-8B4A-C49614AB1A2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2DE266-76CD-4D2D-AFD9-02B031F50A89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837EEA-ECA1-4A39-9797-D1A6B876B661}" type="slidenum">
              <a:rPr lang="pt-BR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Aula 8 - 2026-04-22</a:t>
            </a:r>
            <a:br>
              <a:rPr sz="6000" dirty="0"/>
            </a:b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- </a:t>
            </a:r>
            <a:r>
              <a:rPr lang="pt-BR" sz="60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Debugging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21437" y="406441"/>
            <a:ext cx="10271464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algn="ctr">
              <a:tabLst>
                <a:tab pos="0" algn="l"/>
              </a:tabLst>
            </a:pPr>
            <a:r>
              <a:rPr lang="pt-BR" sz="6000" dirty="0">
                <a:solidFill>
                  <a:schemeClr val="dk1"/>
                </a:solidFill>
                <a:latin typeface="Calibri"/>
                <a:ea typeface="Calibri"/>
              </a:rPr>
              <a:t>O que é Depuração de código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1420560"/>
            <a:ext cx="9142920" cy="383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dirty="0"/>
              <a:t>Definição: </a:t>
            </a: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b="1" dirty="0"/>
              <a:t>Depuração é o processo de encontrar, isolar e resolver erros de codificação conhecidos como bugs em programas de software. A depuração ajuda a descobrir a causa de erros de codificação, evitar problemas de função do software e melhorar o desempenho geral do software. </a:t>
            </a:r>
          </a:p>
          <a:p>
            <a:pPr>
              <a:lnSpc>
                <a:spcPct val="2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000" dirty="0"/>
              <a:t>Camilo </a:t>
            </a:r>
            <a:r>
              <a:rPr lang="pt-BR" sz="2000" dirty="0" err="1"/>
              <a:t>Quiroz-Vázquez</a:t>
            </a:r>
            <a:r>
              <a:rPr lang="pt-BR" sz="2000" dirty="0"/>
              <a:t> - IBM</a:t>
            </a: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22245" y="183494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Processo de Depuração de Software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D75965B-8662-CE37-C692-3D262AC814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6175" y="1239175"/>
            <a:ext cx="4731797" cy="473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FD4234-04C8-EDFD-C920-BE1B21B7E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916" y="1089974"/>
            <a:ext cx="3588168" cy="54353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O que corrigir ? Erros (</a:t>
            </a:r>
            <a:r>
              <a:rPr lang="pt-BR" sz="4000" b="0" u="none" strike="noStrike" dirty="0" err="1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BUGs</a:t>
            </a: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F4442D6-DD52-39B8-4649-925EC589232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2393731"/>
            <a:ext cx="10514520" cy="2488987"/>
          </a:xfrm>
        </p:spPr>
        <p:txBody>
          <a:bodyPr/>
          <a:lstStyle/>
          <a:p>
            <a:r>
              <a:rPr lang="pt-BR" b="1" dirty="0"/>
              <a:t>Erros semânticos;</a:t>
            </a:r>
          </a:p>
          <a:p>
            <a:r>
              <a:rPr lang="pt-BR" b="1" dirty="0"/>
              <a:t>Erros de sintaxe;</a:t>
            </a:r>
          </a:p>
          <a:p>
            <a:r>
              <a:rPr lang="pt-BR" b="1" dirty="0"/>
              <a:t>Erros lógicos;</a:t>
            </a:r>
          </a:p>
          <a:p>
            <a:pPr marL="0" indent="0">
              <a:buNone/>
            </a:pPr>
            <a:endParaRPr lang="pt-BR" b="1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Erros de SEMÂNTICA</a:t>
            </a:r>
          </a:p>
        </p:txBody>
      </p:sp>
      <p:sp>
        <p:nvSpPr>
          <p:cNvPr id="67" name="Google Shape;104;p17"/>
          <p:cNvSpPr/>
          <p:nvPr/>
        </p:nvSpPr>
        <p:spPr>
          <a:xfrm>
            <a:off x="1524540" y="1860434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dirty="0"/>
              <a:t>Erro semântico ocorre quando o computador </a:t>
            </a:r>
            <a:r>
              <a:rPr lang="pt-BR" b="1" dirty="0"/>
              <a:t>entende o código</a:t>
            </a:r>
            <a:r>
              <a:rPr lang="pt-BR" dirty="0"/>
              <a:t>, mas o </a:t>
            </a:r>
            <a:r>
              <a:rPr lang="pt-BR" b="1" dirty="0"/>
              <a:t>significado do que foi escrito</a:t>
            </a:r>
            <a:r>
              <a:rPr lang="pt-BR" dirty="0"/>
              <a:t> </a:t>
            </a:r>
            <a:r>
              <a:rPr lang="pt-BR" b="1" dirty="0"/>
              <a:t>não corresponde ao que o programador pretendia</a:t>
            </a:r>
            <a:r>
              <a:rPr lang="pt-BR" dirty="0"/>
              <a:t>. O código está </a:t>
            </a:r>
            <a:r>
              <a:rPr lang="pt-BR" b="1" dirty="0"/>
              <a:t>sintaticamente correto</a:t>
            </a:r>
            <a:r>
              <a:rPr lang="pt-BR" dirty="0"/>
              <a:t>, mas o </a:t>
            </a:r>
            <a:r>
              <a:rPr lang="pt-BR" b="1" dirty="0"/>
              <a:t>significado da instrução</a:t>
            </a:r>
            <a:r>
              <a:rPr lang="pt-BR" dirty="0"/>
              <a:t> está INCORRETO dentro do </a:t>
            </a:r>
            <a:r>
              <a:rPr lang="pt-BR" b="1" dirty="0"/>
              <a:t>contexto do problema</a:t>
            </a:r>
            <a:r>
              <a:rPr lang="pt-BR" dirty="0"/>
              <a:t>.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263B55-1C97-77A6-A0DC-19D43B4E9287}"/>
              </a:ext>
            </a:extLst>
          </p:cNvPr>
          <p:cNvSpPr txBox="1"/>
          <p:nvPr/>
        </p:nvSpPr>
        <p:spPr>
          <a:xfrm>
            <a:off x="2017450" y="4052082"/>
            <a:ext cx="6094520" cy="11374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idade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"25"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resultado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idade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idade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print(resultado)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38B0A7-A03A-B750-E217-402B2BBAE551}"/>
              </a:ext>
            </a:extLst>
          </p:cNvPr>
          <p:cNvSpPr txBox="1"/>
          <p:nvPr/>
        </p:nvSpPr>
        <p:spPr>
          <a:xfrm>
            <a:off x="2017450" y="5684454"/>
            <a:ext cx="6094520" cy="4193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2525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0EB77-DC4E-7071-D5B1-667B93E6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A0D80633-5F43-71F6-D5E1-D34BA4B1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Erros de SINTAXE</a:t>
            </a:r>
          </a:p>
        </p:txBody>
      </p:sp>
      <p:sp>
        <p:nvSpPr>
          <p:cNvPr id="67" name="Google Shape;104;p17">
            <a:extLst>
              <a:ext uri="{FF2B5EF4-FFF2-40B4-BE49-F238E27FC236}">
                <a16:creationId xmlns:a16="http://schemas.microsoft.com/office/drawing/2014/main" id="{9E65E938-67E5-B566-9D8C-07EC4E7FB52E}"/>
              </a:ext>
            </a:extLst>
          </p:cNvPr>
          <p:cNvSpPr/>
          <p:nvPr/>
        </p:nvSpPr>
        <p:spPr>
          <a:xfrm>
            <a:off x="1524540" y="1860434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dirty="0"/>
              <a:t>Um erro de sintaxe ocorre quando o </a:t>
            </a:r>
            <a:r>
              <a:rPr lang="pt-BR" b="1" dirty="0"/>
              <a:t>código não segue as regras gramaticais </a:t>
            </a:r>
            <a:r>
              <a:rPr lang="pt-BR" dirty="0"/>
              <a:t>da </a:t>
            </a:r>
            <a:r>
              <a:rPr lang="pt-BR" b="1" dirty="0"/>
              <a:t>linguagem de programação</a:t>
            </a:r>
            <a:r>
              <a:rPr lang="pt-BR" dirty="0"/>
              <a:t>. O interpretador (ou compilador) não consegue entender o código. </a:t>
            </a:r>
            <a:r>
              <a:rPr lang="pt-BR" b="1" dirty="0"/>
              <a:t>O código não chega a executar</a:t>
            </a:r>
            <a:r>
              <a:rPr lang="pt-BR" dirty="0"/>
              <a:t>.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A4A68C-3760-EC2C-038E-27C8A7452701}"/>
              </a:ext>
            </a:extLst>
          </p:cNvPr>
          <p:cNvSpPr txBox="1"/>
          <p:nvPr/>
        </p:nvSpPr>
        <p:spPr>
          <a:xfrm>
            <a:off x="2017450" y="4052082"/>
            <a:ext cx="609452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if  x &gt; 10</a:t>
            </a:r>
          </a:p>
          <a:p>
            <a:r>
              <a:rPr lang="en-US" dirty="0"/>
              <a:t>    print(x)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FD1941-AB42-C791-E2B8-36FAE46B654A}"/>
              </a:ext>
            </a:extLst>
          </p:cNvPr>
          <p:cNvSpPr txBox="1"/>
          <p:nvPr/>
        </p:nvSpPr>
        <p:spPr>
          <a:xfrm>
            <a:off x="2017450" y="5684454"/>
            <a:ext cx="6094520" cy="4193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dirty="0">
                <a:solidFill>
                  <a:srgbClr val="C53929"/>
                </a:solidFill>
                <a:latin typeface="Roboto Mono" pitchFamily="2" charset="0"/>
              </a:rPr>
              <a:t>Error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1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D08C-92D4-37B3-5A6E-B9B90406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>
            <a:extLst>
              <a:ext uri="{FF2B5EF4-FFF2-40B4-BE49-F238E27FC236}">
                <a16:creationId xmlns:a16="http://schemas.microsoft.com/office/drawing/2014/main" id="{ED1960C5-44EF-7B25-130F-39F4BD94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80" y="754200"/>
            <a:ext cx="9142920" cy="9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Erros de LÓGICA</a:t>
            </a:r>
          </a:p>
        </p:txBody>
      </p:sp>
      <p:sp>
        <p:nvSpPr>
          <p:cNvPr id="67" name="Google Shape;104;p17">
            <a:extLst>
              <a:ext uri="{FF2B5EF4-FFF2-40B4-BE49-F238E27FC236}">
                <a16:creationId xmlns:a16="http://schemas.microsoft.com/office/drawing/2014/main" id="{27BF3CC1-B7EB-C6AD-594E-F81A87BDE7FD}"/>
              </a:ext>
            </a:extLst>
          </p:cNvPr>
          <p:cNvSpPr/>
          <p:nvPr/>
        </p:nvSpPr>
        <p:spPr>
          <a:xfrm>
            <a:off x="1524540" y="1860434"/>
            <a:ext cx="9142920" cy="177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pt-BR" dirty="0"/>
              <a:t>Um erro lógico acontece quando o </a:t>
            </a:r>
            <a:r>
              <a:rPr lang="pt-BR" b="1" dirty="0"/>
              <a:t>código está sintaticamente correto</a:t>
            </a:r>
            <a:r>
              <a:rPr lang="pt-BR" dirty="0"/>
              <a:t> e faz </a:t>
            </a:r>
            <a:r>
              <a:rPr lang="pt-BR" b="1" dirty="0"/>
              <a:t>sentido para o computador</a:t>
            </a:r>
            <a:r>
              <a:rPr lang="pt-BR" dirty="0"/>
              <a:t>, mas a </a:t>
            </a:r>
            <a:r>
              <a:rPr lang="pt-BR" b="1" dirty="0"/>
              <a:t>lógica usada para resolver o problema está errada</a:t>
            </a:r>
            <a:r>
              <a:rPr lang="pt-BR" dirty="0"/>
              <a:t>.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305516-EC19-28ED-37FF-E9C8A9309187}"/>
              </a:ext>
            </a:extLst>
          </p:cNvPr>
          <p:cNvSpPr txBox="1"/>
          <p:nvPr/>
        </p:nvSpPr>
        <p:spPr>
          <a:xfrm>
            <a:off x="2017450" y="5684454"/>
            <a:ext cx="6094520" cy="4193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12,5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CAD8C6-AE40-E2BD-9379-9FF0C5634AA1}"/>
              </a:ext>
            </a:extLst>
          </p:cNvPr>
          <p:cNvSpPr txBox="1"/>
          <p:nvPr/>
        </p:nvSpPr>
        <p:spPr>
          <a:xfrm>
            <a:off x="2017450" y="3429000"/>
            <a:ext cx="6094520" cy="14965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s-ES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y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s-ES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5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x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y </a:t>
            </a:r>
            <a:r>
              <a:rPr lang="es-ES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es-ES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es-ES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print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es-ES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 </a:t>
            </a:r>
            <a:r>
              <a:rPr lang="es-ES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média</a:t>
            </a:r>
            <a:r>
              <a:rPr lang="es-ES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entre 10 e 5 é : “,</a:t>
            </a:r>
            <a:r>
              <a:rPr lang="es-ES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media)</a:t>
            </a:r>
            <a:endParaRPr lang="es-E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819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9A162A55-EF0F-3AD2-8691-354A4E49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 de Depuração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2B5AE87-FACB-79CD-E005-3D38E85FD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347" y="1685925"/>
            <a:ext cx="5036727" cy="492442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99083E-8622-D271-596B-25EBF64377FF}"/>
              </a:ext>
            </a:extLst>
          </p:cNvPr>
          <p:cNvSpPr txBox="1"/>
          <p:nvPr/>
        </p:nvSpPr>
        <p:spPr>
          <a:xfrm>
            <a:off x="1171852" y="2618490"/>
            <a:ext cx="257452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Antes:</a:t>
            </a:r>
          </a:p>
          <a:p>
            <a:endParaRPr lang="pt-BR" dirty="0"/>
          </a:p>
          <a:p>
            <a:r>
              <a:rPr lang="pt-BR" dirty="0"/>
              <a:t>Tudo Separado</a:t>
            </a:r>
          </a:p>
        </p:txBody>
      </p:sp>
    </p:spTree>
    <p:extLst>
      <p:ext uri="{BB962C8B-B14F-4D97-AF65-F5344CB8AC3E}">
        <p14:creationId xmlns:p14="http://schemas.microsoft.com/office/powerpoint/2010/main" val="475340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562F-6F96-D49B-2ECF-977BD9F6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5B8465A-21D4-ECD8-82DA-654C5502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169731"/>
            <a:ext cx="10514520" cy="1324440"/>
          </a:xfrm>
        </p:spPr>
        <p:txBody>
          <a:bodyPr/>
          <a:lstStyle/>
          <a:p>
            <a:r>
              <a:rPr lang="pt-BR" dirty="0"/>
              <a:t>Ferramentas de Depuração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BA28580-AF80-3557-F60A-03B8185BFAEC}"/>
              </a:ext>
            </a:extLst>
          </p:cNvPr>
          <p:cNvSpPr txBox="1"/>
          <p:nvPr/>
        </p:nvSpPr>
        <p:spPr>
          <a:xfrm>
            <a:off x="559294" y="3705979"/>
            <a:ext cx="309830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Agora:</a:t>
            </a:r>
          </a:p>
          <a:p>
            <a:endParaRPr lang="pt-BR" dirty="0"/>
          </a:p>
          <a:p>
            <a:r>
              <a:rPr lang="pt-BR" dirty="0"/>
              <a:t>Tudo Junto na mesma tela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F960C94-D920-3F5F-01B2-C76284283579}"/>
              </a:ext>
            </a:extLst>
          </p:cNvPr>
          <p:cNvSpPr txBox="1"/>
          <p:nvPr/>
        </p:nvSpPr>
        <p:spPr>
          <a:xfrm>
            <a:off x="559294" y="1757779"/>
            <a:ext cx="2991774" cy="1323439"/>
          </a:xfrm>
          <a:prstGeom prst="rect">
            <a:avLst/>
          </a:prstGeom>
          <a:solidFill>
            <a:srgbClr val="A3DBFF"/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I.D.E. </a:t>
            </a:r>
          </a:p>
          <a:p>
            <a:pPr marL="285750" indent="-285750">
              <a:buFontTx/>
              <a:buChar char="-"/>
            </a:pPr>
            <a:r>
              <a:rPr lang="pt-BR" sz="2000" dirty="0" err="1"/>
              <a:t>Integrated</a:t>
            </a:r>
            <a:endParaRPr lang="pt-BR" sz="2000" dirty="0"/>
          </a:p>
          <a:p>
            <a:pPr marL="285750" indent="-285750">
              <a:buFontTx/>
              <a:buChar char="-"/>
            </a:pPr>
            <a:r>
              <a:rPr lang="pt-BR" sz="2000" dirty="0" err="1"/>
              <a:t>Development</a:t>
            </a:r>
            <a:endParaRPr lang="pt-BR" sz="2000" dirty="0"/>
          </a:p>
          <a:p>
            <a:pPr marL="285750" indent="-285750">
              <a:buFontTx/>
              <a:buChar char="-"/>
            </a:pPr>
            <a:r>
              <a:rPr lang="pt-BR" sz="2000" dirty="0" err="1"/>
              <a:t>Enviroment</a:t>
            </a: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5EE4B1F-1640-A058-08D4-99C4F6D1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197" y="1228725"/>
            <a:ext cx="85820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6226-C302-064F-2396-D92F24E4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E3869B9-E648-2E74-9017-0381F296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169731"/>
            <a:ext cx="10514520" cy="1324440"/>
          </a:xfrm>
        </p:spPr>
        <p:txBody>
          <a:bodyPr/>
          <a:lstStyle/>
          <a:p>
            <a:r>
              <a:rPr lang="pt-BR" dirty="0"/>
              <a:t>Diferentes </a:t>
            </a:r>
            <a:r>
              <a:rPr lang="pt-BR" dirty="0" err="1"/>
              <a:t>IDEs</a:t>
            </a:r>
            <a:r>
              <a:rPr lang="pt-BR" dirty="0"/>
              <a:t> para PYTHON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00E525-2AAD-D359-975F-E78E4F34D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82" y="1215701"/>
            <a:ext cx="8785426" cy="547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2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DC35DF4-CE80-66A0-F465-5CD3CD9900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739" y="2171189"/>
            <a:ext cx="10595699" cy="3767972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pt-BR" dirty="0"/>
              <a:t>Para iniciar um processo de depuração de código em </a:t>
            </a:r>
            <a:r>
              <a:rPr lang="pt-BR" dirty="0" err="1"/>
              <a:t>IDEs</a:t>
            </a:r>
            <a:r>
              <a:rPr lang="pt-BR" dirty="0"/>
              <a:t> modernas precisamos aplicar pelo menos 2 conceitos: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Breakpoints (Pontos de Parada)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Step-</a:t>
            </a:r>
            <a:r>
              <a:rPr lang="pt-BR" b="1" dirty="0" err="1"/>
              <a:t>By</a:t>
            </a:r>
            <a:r>
              <a:rPr lang="pt-BR" b="1" dirty="0"/>
              <a:t>-Step (Passo-a-Passo)</a:t>
            </a: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7B091-6D35-CBF7-A7DB-4B6200AB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6173EF9D-E5D6-000D-E8D2-AB481EF2F19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5715F90-A938-2095-E68B-165F70E149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689480"/>
            <a:ext cx="10595699" cy="600959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pt-BR" sz="2000" dirty="0"/>
              <a:t>Considere que você queira depurar o seguinte código na IDE Microsoft VSCODE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00E709-2D51-BE04-247F-37394D1C2C10}"/>
              </a:ext>
            </a:extLst>
          </p:cNvPr>
          <p:cNvSpPr txBox="1"/>
          <p:nvPr/>
        </p:nvSpPr>
        <p:spPr>
          <a:xfrm>
            <a:off x="838080" y="2452028"/>
            <a:ext cx="6094520" cy="369331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1"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2"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3"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4"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5"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6"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7"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8"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9"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"linha 10"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variavel1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3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variavel2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11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;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494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4A066-323D-A2EE-1DB5-AA53A3F40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9C30A2C9-E607-45D1-A7D6-2FAFACF35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196CAA-A370-021F-A180-5F587401B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12" y="1551110"/>
            <a:ext cx="8031335" cy="52233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ED4AA76-50F8-9569-2269-0FC357B3F35E}"/>
              </a:ext>
            </a:extLst>
          </p:cNvPr>
          <p:cNvSpPr txBox="1"/>
          <p:nvPr/>
        </p:nvSpPr>
        <p:spPr>
          <a:xfrm>
            <a:off x="1411549" y="1118586"/>
            <a:ext cx="592140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Normal – Sem Depuração (</a:t>
            </a:r>
            <a:r>
              <a:rPr lang="pt-BR" b="1" dirty="0" err="1"/>
              <a:t>ctr</a:t>
            </a:r>
            <a:r>
              <a:rPr lang="pt-BR" b="1" dirty="0"/>
              <a:t> + f5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728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19C2-CC71-66AE-B9BC-22B819F2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7BEE5BD4-EC36-C532-37DC-1E2C4E405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804EEF-8AAF-4B3B-6559-F5BE0EA77571}"/>
              </a:ext>
            </a:extLst>
          </p:cNvPr>
          <p:cNvSpPr txBox="1"/>
          <p:nvPr/>
        </p:nvSpPr>
        <p:spPr>
          <a:xfrm>
            <a:off x="1411549" y="1118586"/>
            <a:ext cx="53798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Normal – Sem Depuração (</a:t>
            </a:r>
            <a:r>
              <a:rPr lang="pt-BR" b="1" dirty="0" err="1"/>
              <a:t>ctr</a:t>
            </a:r>
            <a:r>
              <a:rPr lang="pt-BR" b="1" dirty="0"/>
              <a:t> + f5</a:t>
            </a:r>
            <a:r>
              <a:rPr lang="pt-BR" dirty="0"/>
              <a:t>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3574233-D78E-B6DA-A9BC-1F9C9595A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69" y="1580225"/>
            <a:ext cx="10111665" cy="49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0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0D10E-DAFC-E85F-05AF-A0C11FF2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BC72A9EF-4AD9-46E0-E520-C74F3EDC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DB43DF9-1E9C-03E3-C38A-9DCE1632435D}"/>
              </a:ext>
            </a:extLst>
          </p:cNvPr>
          <p:cNvSpPr txBox="1"/>
          <p:nvPr/>
        </p:nvSpPr>
        <p:spPr>
          <a:xfrm>
            <a:off x="1411549" y="1118586"/>
            <a:ext cx="53798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Normal – Sem Depuração (</a:t>
            </a:r>
            <a:r>
              <a:rPr lang="pt-BR" b="1" dirty="0" err="1"/>
              <a:t>ctr</a:t>
            </a:r>
            <a:r>
              <a:rPr lang="pt-BR" b="1" dirty="0"/>
              <a:t> + f5</a:t>
            </a:r>
            <a:r>
              <a:rPr lang="pt-BR" dirty="0"/>
              <a:t>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5560841-49F7-9E4A-9750-9F0842E27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69" y="1580225"/>
            <a:ext cx="10111665" cy="49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96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158E-4A60-D4E5-41FF-9D1CA833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37FCD347-B753-29E8-1685-4F64B2322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7BF12C-44FF-FF5F-16AB-DC8FF0AB8EE2}"/>
              </a:ext>
            </a:extLst>
          </p:cNvPr>
          <p:cNvSpPr txBox="1"/>
          <p:nvPr/>
        </p:nvSpPr>
        <p:spPr>
          <a:xfrm>
            <a:off x="1411549" y="1118586"/>
            <a:ext cx="5379868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1º passo – inserir um BREAKPOINT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A5D9F8-859C-0533-7481-BBB49C3A2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364" y="1784412"/>
            <a:ext cx="9431584" cy="497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02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41E5-5EEF-2BD7-1763-B277A4E2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CE8BC9EC-8CC9-F7C3-2711-3B443858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26EE8C-BAB2-E7DF-A644-5EC27CFD4D4C}"/>
              </a:ext>
            </a:extLst>
          </p:cNvPr>
          <p:cNvSpPr txBox="1"/>
          <p:nvPr/>
        </p:nvSpPr>
        <p:spPr>
          <a:xfrm>
            <a:off x="1411548" y="1118586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2º passo – MENU “RUN”  -&gt; “START DEBUGGING” (OU APERTAR </a:t>
            </a:r>
            <a:r>
              <a:rPr lang="pt-BR" b="1" dirty="0"/>
              <a:t>F5</a:t>
            </a:r>
            <a:r>
              <a:rPr lang="pt-BR" dirty="0"/>
              <a:t>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224701-6175-8944-3463-60003AFB0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08" y="1788319"/>
            <a:ext cx="9028035" cy="497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2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BFFA0-F957-B1A4-2608-2FE242CE6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CEEDC5A4-99CD-B1CD-D109-B44ACD6D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05B4E6-DD3E-24F7-513C-956E0C2F5D6C}"/>
              </a:ext>
            </a:extLst>
          </p:cNvPr>
          <p:cNvSpPr txBox="1"/>
          <p:nvPr/>
        </p:nvSpPr>
        <p:spPr>
          <a:xfrm>
            <a:off x="1411548" y="1118586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3º passo – MENU SUSPENSO  -&gt; SEGUNDO BOTÃO (OU APERTAR </a:t>
            </a:r>
            <a:r>
              <a:rPr lang="pt-BR" b="1" dirty="0"/>
              <a:t>F10</a:t>
            </a:r>
            <a:r>
              <a:rPr lang="pt-BR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F8ED03-D00F-62E4-BBEB-9793D92A8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72" y="2031090"/>
            <a:ext cx="10955539" cy="39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56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D402-7973-2C0D-478C-4FCA6380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FEBB6CC8-70C8-FEC4-F064-CF65364E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80" y="270769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2E6221-14F9-1170-8553-6DD57D5F23FA}"/>
              </a:ext>
            </a:extLst>
          </p:cNvPr>
          <p:cNvSpPr txBox="1"/>
          <p:nvPr/>
        </p:nvSpPr>
        <p:spPr>
          <a:xfrm>
            <a:off x="1411548" y="1118586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4º passo – MENU SUSPENSO  -&gt; EXECUTAR PASSO A PASSO ( </a:t>
            </a:r>
            <a:r>
              <a:rPr lang="pt-BR" b="1" dirty="0"/>
              <a:t>F10</a:t>
            </a:r>
            <a:r>
              <a:rPr lang="pt-BR" dirty="0"/>
              <a:t>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2A4CF9-ED43-0F4C-9ADF-D992FEEC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80" y="1843282"/>
            <a:ext cx="8463917" cy="482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32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0493-3B45-C754-CB50-1B217CC9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E529871D-ECCB-8184-90C8-04A49DF7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7" y="84338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B416A9-FB23-55FC-7D50-16EF615E7BD6}"/>
              </a:ext>
            </a:extLst>
          </p:cNvPr>
          <p:cNvSpPr txBox="1"/>
          <p:nvPr/>
        </p:nvSpPr>
        <p:spPr>
          <a:xfrm>
            <a:off x="1411547" y="843378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5º passo – ENCONTROU UMA VARIÁVEL, INSPECIONE-A ( WATCH 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4BEA06-1A6D-B79B-DB3A-B4EE0DF6D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731" y="1489709"/>
            <a:ext cx="9286042" cy="536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0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0307-8650-0AA5-4D54-408374F3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B193F9B4-87F3-E1C3-8C9A-DFA230E4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7" y="84338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575413-F0DD-449E-2F09-B92FF48D4232}"/>
              </a:ext>
            </a:extLst>
          </p:cNvPr>
          <p:cNvSpPr txBox="1"/>
          <p:nvPr/>
        </p:nvSpPr>
        <p:spPr>
          <a:xfrm>
            <a:off x="1411547" y="843378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6º passo – CONTINUANDO ... ( WATCH ) – STEP BY STEP ( </a:t>
            </a:r>
            <a:r>
              <a:rPr lang="pt-BR" b="1" dirty="0"/>
              <a:t>F10 )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A5F99E-C56A-6DAF-C2D6-0AB3D3D3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04" y="1572300"/>
            <a:ext cx="8719623" cy="50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62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5401-75C7-DBD4-2C40-C4DB8D5B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7FA93D11-C6C3-7DF9-3E35-A7400D8F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7" y="84338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D62D1B-3F79-3DD7-F61C-D39FBBFDD8FD}"/>
              </a:ext>
            </a:extLst>
          </p:cNvPr>
          <p:cNvSpPr txBox="1"/>
          <p:nvPr/>
        </p:nvSpPr>
        <p:spPr>
          <a:xfrm>
            <a:off x="1411547" y="843378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dirty="0"/>
              <a:t>7º passo – CONTINUANDO ... ( WATCH ) – STEP BY STEP ( </a:t>
            </a:r>
            <a:r>
              <a:rPr lang="pt-BR" b="1" dirty="0"/>
              <a:t>F10 )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21DF3C-CAD5-5617-91C6-D645B0267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1517990"/>
            <a:ext cx="10111665" cy="53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85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D378-5FAC-A939-4B07-88116785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31958BDC-DF11-1B49-947F-359228E2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7" y="84338"/>
            <a:ext cx="9431584" cy="84781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no VS-CODE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58250C-EA58-8B87-9BC2-DF391E840908}"/>
              </a:ext>
            </a:extLst>
          </p:cNvPr>
          <p:cNvSpPr txBox="1"/>
          <p:nvPr/>
        </p:nvSpPr>
        <p:spPr>
          <a:xfrm>
            <a:off x="1411547" y="843378"/>
            <a:ext cx="822072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Exercução</a:t>
            </a:r>
            <a:r>
              <a:rPr lang="pt-BR" dirty="0"/>
              <a:t> com Depuração</a:t>
            </a:r>
          </a:p>
          <a:p>
            <a:r>
              <a:rPr lang="pt-BR" b="1" dirty="0"/>
              <a:t>FINALIZANDO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0AF1484-ACAC-DDA1-C52A-BED6A3609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7" y="1691195"/>
            <a:ext cx="10939925" cy="44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00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060D-3C47-3406-A8EB-E38325BC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1D325EEA-1D7C-841B-2F80-877E2DF2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8600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</a:t>
            </a:r>
            <a:r>
              <a:rPr lang="pt-BR" sz="6000" dirty="0">
                <a:solidFill>
                  <a:schemeClr val="dk1"/>
                </a:solidFill>
                <a:latin typeface="Calibri"/>
                <a:ea typeface="Calibri"/>
              </a:rPr>
              <a:t>MANUAL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1055864-5353-6A79-5138-527CD450D559}"/>
              </a:ext>
            </a:extLst>
          </p:cNvPr>
          <p:cNvSpPr>
            <a:spLocks noGrp="1"/>
          </p:cNvSpPr>
          <p:nvPr>
            <p:ph type="body"/>
          </p:nvPr>
        </p:nvSpPr>
        <p:spPr>
          <a:solidFill>
            <a:schemeClr val="accent4"/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800" b="1" dirty="0"/>
              <a:t>Elabore um programa em Python que: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Crie uma </a:t>
            </a:r>
            <a:r>
              <a:rPr lang="pt-BR" sz="1800" b="1" dirty="0"/>
              <a:t>lista </a:t>
            </a:r>
            <a:r>
              <a:rPr lang="pt-BR" sz="1800" dirty="0"/>
              <a:t>chamada </a:t>
            </a:r>
            <a:r>
              <a:rPr lang="pt-BR" sz="1800" b="1" dirty="0" err="1"/>
              <a:t>estados_brasil</a:t>
            </a:r>
            <a:r>
              <a:rPr lang="pt-BR" sz="1800" b="1" dirty="0"/>
              <a:t> </a:t>
            </a:r>
            <a:r>
              <a:rPr lang="pt-BR" sz="1800" dirty="0"/>
              <a:t>contendo as 27 siglas das unidades federativas do Brasil: AC, AL, AP, AM, BA, CE, DF, ES, GO, MA, MT, MS, MG, PA, PB, PR, PE, PI, RJ, RN, RS, RO, RR, SC, SP, SE, TO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Calcule o </a:t>
            </a:r>
            <a:r>
              <a:rPr lang="pt-BR" sz="1800" b="1" dirty="0"/>
              <a:t>total de elementos </a:t>
            </a:r>
            <a:r>
              <a:rPr lang="pt-BR" sz="1800" dirty="0"/>
              <a:t>da lista utilizando a função </a:t>
            </a:r>
            <a:r>
              <a:rPr lang="pt-BR" sz="1800" b="1" dirty="0" err="1"/>
              <a:t>len</a:t>
            </a:r>
            <a:r>
              <a:rPr lang="pt-BR" sz="1800" b="1" dirty="0"/>
              <a:t>()</a:t>
            </a:r>
            <a:r>
              <a:rPr lang="pt-BR" sz="1800" dirty="0"/>
              <a:t>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Utilize uma variável de controle chamada </a:t>
            </a:r>
            <a:r>
              <a:rPr lang="pt-BR" sz="1800" b="1" dirty="0" err="1"/>
              <a:t>posicao_atual</a:t>
            </a:r>
            <a:r>
              <a:rPr lang="pt-BR" sz="1800" dirty="0"/>
              <a:t>, </a:t>
            </a:r>
            <a:r>
              <a:rPr lang="pt-BR" sz="1800" b="1" dirty="0"/>
              <a:t>iniciando com valor 0</a:t>
            </a:r>
            <a:r>
              <a:rPr lang="pt-BR" sz="1800" dirty="0"/>
              <a:t>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Utilize uma estrutura de repetição </a:t>
            </a:r>
            <a:r>
              <a:rPr lang="pt-BR" sz="1800" b="1" dirty="0" err="1"/>
              <a:t>while</a:t>
            </a:r>
            <a:r>
              <a:rPr lang="pt-BR" sz="1800" dirty="0"/>
              <a:t> para </a:t>
            </a:r>
            <a:r>
              <a:rPr lang="pt-BR" sz="1800" b="1" dirty="0"/>
              <a:t>percorrer a lista</a:t>
            </a:r>
            <a:r>
              <a:rPr lang="pt-BR" sz="1800" dirty="0"/>
              <a:t>.</a:t>
            </a:r>
          </a:p>
          <a:p>
            <a:pPr>
              <a:lnSpc>
                <a:spcPct val="100000"/>
              </a:lnSpc>
            </a:pPr>
            <a:r>
              <a:rPr lang="pt-BR" sz="1800" dirty="0"/>
              <a:t>Depure manualmente a evolução dos valores de saída e das variáveis. Desenhe </a:t>
            </a:r>
            <a:r>
              <a:rPr lang="pt-BR" sz="1800"/>
              <a:t>para mostrar uma </a:t>
            </a:r>
            <a:r>
              <a:rPr lang="pt-BR" sz="1800" dirty="0"/>
              <a:t>tabela onde as variáveis serão as colunas.</a:t>
            </a:r>
          </a:p>
        </p:txBody>
      </p:sp>
    </p:spTree>
    <p:extLst>
      <p:ext uri="{BB962C8B-B14F-4D97-AF65-F5344CB8AC3E}">
        <p14:creationId xmlns:p14="http://schemas.microsoft.com/office/powerpoint/2010/main" val="2034762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0626E-621B-A8E0-0F00-7F4F76A1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>
            <a:extLst>
              <a:ext uri="{FF2B5EF4-FFF2-40B4-BE49-F238E27FC236}">
                <a16:creationId xmlns:a16="http://schemas.microsoft.com/office/drawing/2014/main" id="{09A9D63A-416B-289A-BF79-F80B40F03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86007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Depuração </a:t>
            </a:r>
            <a:r>
              <a:rPr lang="pt-BR" sz="6000" dirty="0">
                <a:solidFill>
                  <a:schemeClr val="dk1"/>
                </a:solidFill>
                <a:latin typeface="Calibri"/>
                <a:ea typeface="Calibri"/>
              </a:rPr>
              <a:t>MANUAL</a:t>
            </a:r>
            <a:endParaRPr lang="pt-BR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4C0193-4A95-C999-A26B-1560E8C23BC3}"/>
              </a:ext>
            </a:extLst>
          </p:cNvPr>
          <p:cNvSpPr txBox="1"/>
          <p:nvPr/>
        </p:nvSpPr>
        <p:spPr>
          <a:xfrm>
            <a:off x="514905" y="1438183"/>
            <a:ext cx="10591060" cy="4247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estados_brasil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"AC"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"AL"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"AP"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"AM"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"BA"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"CE"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"DF"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"ES"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"GO"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"MA"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"MT"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"MS"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"MG"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"PA"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"PB"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"PR"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"PE"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"PI"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"RJ"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"RN"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"RS"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"RR"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"SC"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"SP"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"SE"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"TO"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_________________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len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(__________________)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_________________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"_____________________"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while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_______________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&lt;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_________________ :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 _________________[_______________])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_____________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___________________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73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5344B-A6D7-D41C-3B13-1DAE98A7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FFE60B-6544-8E43-C4B7-CD521C3E8DFE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746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829</Words>
  <Application>Microsoft Office PowerPoint</Application>
  <PresentationFormat>Widescreen</PresentationFormat>
  <Paragraphs>116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Roboto Mono</vt:lpstr>
      <vt:lpstr>Symbol</vt:lpstr>
      <vt:lpstr>Times New Roman</vt:lpstr>
      <vt:lpstr>Wingdings</vt:lpstr>
      <vt:lpstr>Tema do Office</vt:lpstr>
      <vt:lpstr>Aula 8 - 2026-04-22 </vt:lpstr>
      <vt:lpstr>O que é Depuração de código</vt:lpstr>
      <vt:lpstr>Processo de Depuração de Software</vt:lpstr>
      <vt:lpstr>O que corrigir ? Erros (BUGs)</vt:lpstr>
      <vt:lpstr>Erros de SEMÂNTICA</vt:lpstr>
      <vt:lpstr>Erros de SINTAXE</vt:lpstr>
      <vt:lpstr>Erros de LÓGICA</vt:lpstr>
      <vt:lpstr>Ferramentas de Depuração</vt:lpstr>
      <vt:lpstr>Ferramentas de Depuração</vt:lpstr>
      <vt:lpstr>Diferentes IDEs para PYTHON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no VS-CODE</vt:lpstr>
      <vt:lpstr>Depuração MANUAL</vt:lpstr>
      <vt:lpstr>Depuração MANUAL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miguel</dc:creator>
  <dc:description/>
  <cp:lastModifiedBy>MIGUEL PENTEADO</cp:lastModifiedBy>
  <cp:revision>18</cp:revision>
  <dcterms:modified xsi:type="dcterms:W3CDTF">2026-04-22T19:41:33Z</dcterms:modified>
  <dc:language>pt-BR</dc:language>
</cp:coreProperties>
</file>