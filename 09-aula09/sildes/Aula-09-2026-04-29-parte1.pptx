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07" r:id="rId4"/>
    <p:sldId id="259" r:id="rId5"/>
    <p:sldId id="260" r:id="rId6"/>
    <p:sldId id="308" r:id="rId7"/>
    <p:sldId id="309" r:id="rId8"/>
    <p:sldId id="310" r:id="rId9"/>
    <p:sldId id="278" r:id="rId10"/>
    <p:sldId id="312" r:id="rId11"/>
    <p:sldId id="311" r:id="rId12"/>
    <p:sldId id="313" r:id="rId13"/>
    <p:sldId id="314" r:id="rId14"/>
    <p:sldId id="315" r:id="rId15"/>
    <p:sldId id="316" r:id="rId16"/>
    <p:sldId id="306" r:id="rId17"/>
    <p:sldId id="317" r:id="rId18"/>
    <p:sldId id="319" r:id="rId19"/>
    <p:sldId id="320" r:id="rId20"/>
    <p:sldId id="321" r:id="rId21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6600"/>
    <a:srgbClr val="A3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583505-839D-4FDB-96AB-B06BDB678086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1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2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ECAC5C-A03B-4568-91FF-2330E0B80C8C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59937F-34BB-4099-A854-D3236A5F0E75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922E01-3F43-4E28-83AB-8511CD831C2B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CEC26C-64C9-4B43-92FE-9CF328C9B21A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AF7B84-7DE8-45B0-A744-83F78B46E1E4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240" cy="1051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E2C479-BE3F-4D29-A584-C2894B63116F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 rot="5400000">
            <a:off x="7133760" y="1956240"/>
            <a:ext cx="5810760" cy="262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 rot="5400000">
            <a:off x="1799640" y="-596160"/>
            <a:ext cx="5810760" cy="77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A03A5BB-6E31-41DB-9263-C33362025D0F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C63356-BAAE-4A7A-8B4A-C49614AB1A29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2DE266-76CD-4D2D-AFD9-02B031F50A89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1837EEA-ECA1-4A39-9797-D1A6B876B661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Aula 9 - 2026-04-29</a:t>
            </a:r>
            <a:br>
              <a:rPr sz="6000" dirty="0"/>
            </a:b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384917" y="3602160"/>
            <a:ext cx="9774314" cy="165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Orientação a Objetos – parte 1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21437" y="406441"/>
            <a:ext cx="10271464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algn="ctr">
              <a:tabLst>
                <a:tab pos="0" algn="l"/>
              </a:tabLst>
            </a:pPr>
            <a:r>
              <a:rPr lang="pt-BR" sz="6000" dirty="0">
                <a:solidFill>
                  <a:schemeClr val="dk1"/>
                </a:solidFill>
                <a:latin typeface="Calibri"/>
                <a:ea typeface="Calibri"/>
              </a:rPr>
              <a:t>O que é Orientação a Objetos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1420560"/>
            <a:ext cx="9142920" cy="383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000" dirty="0"/>
              <a:t>Definição: </a:t>
            </a: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b="1" dirty="0"/>
              <a:t>É um paradigma de análise, projeto e programação</a:t>
            </a:r>
            <a:r>
              <a:rPr lang="pt-BR" dirty="0"/>
              <a:t> de sistemas de software</a:t>
            </a: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000" i="1" dirty="0"/>
              <a:t>CARVALHO, Thiago Leite e. </a:t>
            </a:r>
            <a:r>
              <a:rPr lang="pt-BR" sz="2000" b="1" i="1" dirty="0"/>
              <a:t>Orientação a Objetos</a:t>
            </a:r>
            <a:r>
              <a:rPr lang="pt-BR" sz="2000" i="1" dirty="0"/>
              <a:t>: aprenda seus conceitos e suas aplicabilidades de forma efetiva. 1. ed. [</a:t>
            </a:r>
            <a:r>
              <a:rPr lang="pt-BR" sz="2000" i="1" dirty="0" err="1"/>
              <a:t>S.l</a:t>
            </a:r>
            <a:r>
              <a:rPr lang="pt-BR" sz="2000" i="1" dirty="0"/>
              <a:t>.]: Casa do Código</a:t>
            </a:r>
            <a:endParaRPr lang="pt-BR" sz="2000" b="0" i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AD8D8-86A1-6EFC-82C0-4C3395FC7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>
            <a:extLst>
              <a:ext uri="{FF2B5EF4-FFF2-40B4-BE49-F238E27FC236}">
                <a16:creationId xmlns:a16="http://schemas.microsoft.com/office/drawing/2014/main" id="{E1DCD4E2-8D60-56C0-4987-79B00899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37" y="406441"/>
            <a:ext cx="10271464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algn="ctr">
              <a:tabLst>
                <a:tab pos="0" algn="l"/>
              </a:tabLst>
            </a:pPr>
            <a:r>
              <a:rPr lang="pt-BR" sz="6000" dirty="0">
                <a:solidFill>
                  <a:schemeClr val="dk1"/>
                </a:solidFill>
                <a:latin typeface="Calibri"/>
                <a:ea typeface="Calibri"/>
              </a:rPr>
              <a:t>O que é Orientação a Objetos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>
            <a:extLst>
              <a:ext uri="{FF2B5EF4-FFF2-40B4-BE49-F238E27FC236}">
                <a16:creationId xmlns:a16="http://schemas.microsoft.com/office/drawing/2014/main" id="{33097927-443A-C52F-E7D2-A47B7E92E12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23880" y="1420560"/>
            <a:ext cx="9142920" cy="383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0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“”</a:t>
            </a:r>
          </a:p>
          <a:p>
            <a:pPr marL="342900" indent="-342900">
              <a:lnSpc>
                <a:spcPct val="20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BR" sz="20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Foi uma tentativa de criar um paradigma de software que mapea</a:t>
            </a:r>
            <a:r>
              <a:rPr lang="pt-BR" sz="2000" i="1" dirty="0">
                <a:solidFill>
                  <a:srgbClr val="000000"/>
                </a:solidFill>
                <a:latin typeface="Arial"/>
              </a:rPr>
              <a:t>sse melhor os objetos do mundo real em sistemas de computador.</a:t>
            </a:r>
          </a:p>
          <a:p>
            <a:pPr marL="342900" indent="-342900">
              <a:lnSpc>
                <a:spcPct val="20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BR" sz="2000" b="0" i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É</a:t>
            </a:r>
            <a:r>
              <a:rPr lang="pt-BR" sz="2000" i="1" dirty="0">
                <a:solidFill>
                  <a:srgbClr val="000000"/>
                </a:solidFill>
                <a:latin typeface="Arial"/>
              </a:rPr>
              <a:t> uma evolução do paradigma estruturado (método de programação utilizado por nós até aqui na disciplina).</a:t>
            </a:r>
            <a:endParaRPr lang="pt-BR" sz="2000" b="0" i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841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dirty="0">
                <a:solidFill>
                  <a:srgbClr val="000000"/>
                </a:solidFill>
                <a:latin typeface="Calibri"/>
              </a:rPr>
              <a:t>Sistemas Grandes = Problemas</a:t>
            </a:r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F4442D6-DD52-39B8-4649-925EC589232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2393731"/>
            <a:ext cx="10514520" cy="3270222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Quanto maior, mais difícil modelar e documentar;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Grande propensão a erros: </a:t>
            </a:r>
            <a:r>
              <a:rPr lang="pt-BR" sz="2000" b="1" dirty="0"/>
              <a:t>semânticos</a:t>
            </a:r>
            <a:r>
              <a:rPr lang="pt-BR" sz="2000" dirty="0"/>
              <a:t>; </a:t>
            </a:r>
            <a:r>
              <a:rPr lang="pt-BR" sz="2000" b="1" dirty="0"/>
              <a:t>sintaxe</a:t>
            </a:r>
            <a:r>
              <a:rPr lang="pt-BR" sz="2000" dirty="0"/>
              <a:t>; </a:t>
            </a:r>
            <a:r>
              <a:rPr lang="pt-BR" sz="2000" b="1" dirty="0"/>
              <a:t>lógicos</a:t>
            </a:r>
            <a:r>
              <a:rPr lang="pt-BR" sz="2000" dirty="0"/>
              <a:t>;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Exemplo: Sistemas ERP</a:t>
            </a:r>
          </a:p>
          <a:p>
            <a:pPr marL="0" indent="0">
              <a:buNone/>
            </a:pPr>
            <a:endParaRPr lang="pt-BR" b="1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90736" y="400837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 início</a:t>
            </a:r>
          </a:p>
        </p:txBody>
      </p:sp>
      <p:sp>
        <p:nvSpPr>
          <p:cNvPr id="67" name="Google Shape;104;p17"/>
          <p:cNvSpPr/>
          <p:nvPr/>
        </p:nvSpPr>
        <p:spPr>
          <a:xfrm>
            <a:off x="1444641" y="1257572"/>
            <a:ext cx="9142920" cy="177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380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pt-BR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LINGUAGENS “ENGESSADAS” : FORTRAN, COBOL</a:t>
            </a:r>
          </a:p>
          <a:p>
            <a:pPr marL="457200" indent="-380880"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pt-BR" b="1" dirty="0"/>
              <a:t>Simulação</a:t>
            </a:r>
            <a:r>
              <a:rPr lang="pt-BR" dirty="0"/>
              <a:t> (simular eventos do dia a dia em sistemas digitais). * </a:t>
            </a:r>
            <a:r>
              <a:rPr lang="pt-BR" b="1" dirty="0"/>
              <a:t>Os Criadores:</a:t>
            </a:r>
            <a:r>
              <a:rPr lang="pt-BR" dirty="0"/>
              <a:t> Em 1962, os pesquisadores noruegueses </a:t>
            </a:r>
            <a:r>
              <a:rPr lang="pt-BR" b="1" dirty="0"/>
              <a:t>Kristen </a:t>
            </a:r>
            <a:r>
              <a:rPr lang="pt-BR" b="1" dirty="0" err="1"/>
              <a:t>Nygaard</a:t>
            </a:r>
            <a:r>
              <a:rPr lang="pt-BR" b="1" dirty="0"/>
              <a:t> e Ole-Johan Dahl</a:t>
            </a:r>
            <a:r>
              <a:rPr lang="pt-BR" dirty="0"/>
              <a:t> aceitaram o desafio de criar uma linguagem de simulação de eventos discretos, batizada de </a:t>
            </a:r>
            <a:r>
              <a:rPr lang="pt-BR" b="1" dirty="0"/>
              <a:t>Simula 67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96195C-4C5D-0AE6-75A0-ACF0565A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571" y="3359792"/>
            <a:ext cx="847725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5F774-93EA-28FC-6DAE-187EC3600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C0EEAB1-8DDC-77F5-686A-1D0E72A7C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940122"/>
              </p:ext>
            </p:extLst>
          </p:nvPr>
        </p:nvGraphicFramePr>
        <p:xfrm>
          <a:off x="2032986" y="2286740"/>
          <a:ext cx="7171370" cy="22586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37817">
                  <a:extLst>
                    <a:ext uri="{9D8B030D-6E8A-4147-A177-3AD203B41FA5}">
                      <a16:colId xmlns:a16="http://schemas.microsoft.com/office/drawing/2014/main" val="1602539179"/>
                    </a:ext>
                  </a:extLst>
                </a:gridCol>
                <a:gridCol w="3033553">
                  <a:extLst>
                    <a:ext uri="{9D8B030D-6E8A-4147-A177-3AD203B41FA5}">
                      <a16:colId xmlns:a16="http://schemas.microsoft.com/office/drawing/2014/main" val="617622710"/>
                    </a:ext>
                  </a:extLst>
                </a:gridCol>
              </a:tblGrid>
              <a:tr h="8809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PARADIGMA DE PROGRAMAÇÃO PROCEDIMENTAL (ESTRUTURADA)</a:t>
                      </a:r>
                      <a:endParaRPr lang="pt-BR" sz="1200" b="1" i="0" u="none" strike="noStrike" dirty="0">
                        <a:solidFill>
                          <a:srgbClr val="111827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CARACTERÍSTICAS</a:t>
                      </a:r>
                      <a:endParaRPr lang="pt-BR" sz="1200" b="1" i="0" u="none" strike="noStrike" dirty="0">
                        <a:solidFill>
                          <a:srgbClr val="111827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44300"/>
                  </a:ext>
                </a:extLst>
              </a:tr>
              <a:tr h="5109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Filosofia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executar </a:t>
                      </a:r>
                      <a:r>
                        <a:rPr lang="pt-BR" sz="1200" b="1" u="none" strike="noStrike" dirty="0">
                          <a:effectLst/>
                        </a:rPr>
                        <a:t>sequência</a:t>
                      </a:r>
                      <a:r>
                        <a:rPr lang="pt-BR" sz="1200" u="none" strike="noStrike" dirty="0">
                          <a:effectLst/>
                        </a:rPr>
                        <a:t>, </a:t>
                      </a:r>
                      <a:r>
                        <a:rPr lang="pt-BR" sz="1200" b="1" u="none" strike="noStrike" dirty="0">
                          <a:effectLst/>
                        </a:rPr>
                        <a:t>decisão</a:t>
                      </a:r>
                      <a:r>
                        <a:rPr lang="pt-BR" sz="1200" u="none" strike="noStrike" dirty="0">
                          <a:effectLst/>
                        </a:rPr>
                        <a:t> e </a:t>
                      </a:r>
                      <a:r>
                        <a:rPr lang="pt-BR" sz="1200" b="1" u="none" strike="noStrike" dirty="0">
                          <a:effectLst/>
                        </a:rPr>
                        <a:t>iteração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4091130"/>
                  </a:ext>
                </a:extLst>
              </a:tr>
              <a:tr h="5109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Dados e Operações CORRELACIONADAS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ficam </a:t>
                      </a:r>
                      <a:r>
                        <a:rPr lang="pt-BR" sz="1200" b="1" u="none" strike="noStrike" dirty="0">
                          <a:effectLst/>
                        </a:rPr>
                        <a:t>separados (soltos)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5954986"/>
                  </a:ext>
                </a:extLst>
              </a:tr>
              <a:tr h="35588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Representação da REALIDADE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/>
                        </a:rPr>
                        <a:t>“Fraca” (subjetiva ao fluxo de execução)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0085690"/>
                  </a:ext>
                </a:extLst>
              </a:tr>
            </a:tbl>
          </a:graphicData>
        </a:graphic>
      </p:graphicFrame>
      <p:sp>
        <p:nvSpPr>
          <p:cNvPr id="7" name="Título 6">
            <a:extLst>
              <a:ext uri="{FF2B5EF4-FFF2-40B4-BE49-F238E27FC236}">
                <a16:creationId xmlns:a16="http://schemas.microsoft.com/office/drawing/2014/main" id="{2F438C3C-7C16-22DF-08E2-2AE894A7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658003"/>
            <a:ext cx="10514520" cy="1324440"/>
          </a:xfrm>
        </p:spPr>
        <p:txBody>
          <a:bodyPr/>
          <a:lstStyle/>
          <a:p>
            <a:r>
              <a:rPr lang="pt-BR" dirty="0"/>
              <a:t>Paradigma de Programação Estruturado</a:t>
            </a:r>
          </a:p>
        </p:txBody>
      </p:sp>
    </p:spTree>
    <p:extLst>
      <p:ext uri="{BB962C8B-B14F-4D97-AF65-F5344CB8AC3E}">
        <p14:creationId xmlns:p14="http://schemas.microsoft.com/office/powerpoint/2010/main" val="2760690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1541E-61D8-B51B-154E-711529B2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FD5C322-6BE0-AEC1-3436-5F069A632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240753"/>
            <a:ext cx="10514520" cy="1324440"/>
          </a:xfrm>
        </p:spPr>
        <p:txBody>
          <a:bodyPr/>
          <a:lstStyle/>
          <a:p>
            <a:r>
              <a:rPr lang="pt-BR" dirty="0"/>
              <a:t>Paradigma de Programação Estruturado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CCAB1CD-78EF-122E-95DB-B03371A44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40" y="1712698"/>
            <a:ext cx="2437120" cy="483871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A30DECB-1A9C-62F4-9741-19F02834F15C}"/>
              </a:ext>
            </a:extLst>
          </p:cNvPr>
          <p:cNvSpPr txBox="1"/>
          <p:nvPr/>
        </p:nvSpPr>
        <p:spPr>
          <a:xfrm>
            <a:off x="3686452" y="1712698"/>
            <a:ext cx="6094520" cy="50475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nome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"Maria"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nota1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7.5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nota2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8.0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Função para calcular média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calcular_media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(n1, n2):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(n1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n2)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/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2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Função para verificar situação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verificar_situacao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(media):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media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&gt;=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7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"Aprovado"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else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"Reprovado"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Processamento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media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calcular_media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(nota1, nota2)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situacao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verificar_situacao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(media)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Saída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"Aluno:"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nome)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"Média:"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media)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"Situação:"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situacao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988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5D43-09A7-DE61-F103-307F47422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FF68AE9-1186-621D-A50B-5CAA86832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35" y="80955"/>
            <a:ext cx="11194699" cy="886711"/>
          </a:xfrm>
        </p:spPr>
        <p:txBody>
          <a:bodyPr/>
          <a:lstStyle/>
          <a:p>
            <a:r>
              <a:rPr lang="pt-BR" sz="3600" dirty="0"/>
              <a:t>Programação Estruturada: Documentando com D.F.D.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D8F167-BCEA-EC0D-EBE8-6575BE38CCE5}"/>
              </a:ext>
            </a:extLst>
          </p:cNvPr>
          <p:cNvSpPr txBox="1"/>
          <p:nvPr/>
        </p:nvSpPr>
        <p:spPr>
          <a:xfrm>
            <a:off x="5018103" y="967666"/>
            <a:ext cx="6094520" cy="56938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somar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(a, b):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resultado_soma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(a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resultado_soma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subtrair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(a, b):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resultado_subtracao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(a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-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resultado_subtracao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multiplicar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(a, b):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resultado_multiplicacao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(a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*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resultado_multiplicacao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dividir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(a, b):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"Erro: divisão por zero"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resultado_divisao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(a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/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resultado_divisao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numero1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10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numero2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5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"Soma:"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somar(numero1, numero2))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"Subtração:"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subtrair(numero1, numero2))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"Multiplicação:"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multiplicar(numero1, numero2))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"Divisão:"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dividir(numero1, numero2))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D25751F-1701-68A8-E3EB-DB2B98729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36" y="967665"/>
            <a:ext cx="3426737" cy="569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73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0EB77-DC4E-7071-D5B1-667B93E6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>
            <a:extLst>
              <a:ext uri="{FF2B5EF4-FFF2-40B4-BE49-F238E27FC236}">
                <a16:creationId xmlns:a16="http://schemas.microsoft.com/office/drawing/2014/main" id="{A0D80633-5F43-71F6-D5E1-D34BA4B1E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primeira Grande </a:t>
            </a:r>
            <a:r>
              <a:rPr lang="pt-BR" sz="4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Idéia</a:t>
            </a: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ABSTRAÇÃO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CFC883-CCEC-FD2B-7F2B-D6CA99D7A50D}"/>
              </a:ext>
            </a:extLst>
          </p:cNvPr>
          <p:cNvSpPr txBox="1"/>
          <p:nvPr/>
        </p:nvSpPr>
        <p:spPr>
          <a:xfrm>
            <a:off x="1352880" y="2010766"/>
            <a:ext cx="8643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b="1" i="0" dirty="0">
                <a:solidFill>
                  <a:srgbClr val="111827"/>
                </a:solidFill>
                <a:effectLst/>
                <a:latin typeface="Helvetica Neue"/>
              </a:rPr>
              <a:t>ABSTRAÇÃO</a:t>
            </a:r>
            <a:r>
              <a:rPr lang="pt-BR" b="0" i="0" dirty="0">
                <a:solidFill>
                  <a:srgbClr val="333333"/>
                </a:solidFill>
                <a:effectLst/>
                <a:latin typeface="Helvetica Neue"/>
              </a:rPr>
              <a:t>: representar as características essenciais de um objeto do mundo real ocultando detalhes desnecessários de sua implementação em código.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6C3F04F-E750-A328-1B71-3E0CD330C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571" y="3359792"/>
            <a:ext cx="84772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15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FD80-D873-0D93-B258-AB453234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>
            <a:extLst>
              <a:ext uri="{FF2B5EF4-FFF2-40B4-BE49-F238E27FC236}">
                <a16:creationId xmlns:a16="http://schemas.microsoft.com/office/drawing/2014/main" id="{5161AFC6-A6E2-FDBA-0B89-D6EB3D550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primeira Grande </a:t>
            </a:r>
            <a:r>
              <a:rPr lang="pt-BR" sz="4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Idéia</a:t>
            </a: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ABSTRAÇÃO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D24BF6-B0D2-33ED-34DB-8CCC8D804675}"/>
              </a:ext>
            </a:extLst>
          </p:cNvPr>
          <p:cNvSpPr txBox="1"/>
          <p:nvPr/>
        </p:nvSpPr>
        <p:spPr>
          <a:xfrm>
            <a:off x="1352880" y="2010766"/>
            <a:ext cx="8643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b="1" i="0" dirty="0">
                <a:solidFill>
                  <a:srgbClr val="111827"/>
                </a:solidFill>
                <a:effectLst/>
                <a:latin typeface="Helvetica Neue"/>
              </a:rPr>
              <a:t>ABSTRAÇÃO</a:t>
            </a:r>
            <a:r>
              <a:rPr lang="pt-BR" b="0" i="0" dirty="0">
                <a:solidFill>
                  <a:srgbClr val="333333"/>
                </a:solidFill>
                <a:effectLst/>
                <a:latin typeface="Helvetica Neue"/>
              </a:rPr>
              <a:t>: representar as características essenciais de um objeto do mundo real ocultando detalhes desnecessários de sua implementação em código.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4F60BFA-0E04-3BF6-C275-E9439DF47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571" y="3359792"/>
            <a:ext cx="84772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5FD9-A9AC-BCD7-DEF6-BA97F8704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>
            <a:extLst>
              <a:ext uri="{FF2B5EF4-FFF2-40B4-BE49-F238E27FC236}">
                <a16:creationId xmlns:a16="http://schemas.microsoft.com/office/drawing/2014/main" id="{A575A665-3454-0043-86FD-0E8D6EB5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pt-BR" sz="4000" dirty="0">
                <a:solidFill>
                  <a:srgbClr val="000000"/>
                </a:solidFill>
                <a:latin typeface="Arial"/>
              </a:rPr>
              <a:t>segunda</a:t>
            </a: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Grande </a:t>
            </a:r>
            <a:r>
              <a:rPr lang="pt-BR" sz="4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Idéia</a:t>
            </a: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REUSO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15FAFA-897B-EE4C-A15B-051B830A286E}"/>
              </a:ext>
            </a:extLst>
          </p:cNvPr>
          <p:cNvSpPr txBox="1"/>
          <p:nvPr/>
        </p:nvSpPr>
        <p:spPr>
          <a:xfrm>
            <a:off x="1352880" y="2010766"/>
            <a:ext cx="8643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 startAt="2"/>
            </a:pPr>
            <a:r>
              <a:rPr lang="pt-BR" b="1" dirty="0"/>
              <a:t>REUSO</a:t>
            </a:r>
            <a:r>
              <a:rPr lang="pt-BR" dirty="0"/>
              <a:t>: </a:t>
            </a:r>
            <a:r>
              <a:rPr lang="pt-BR" b="1" dirty="0"/>
              <a:t>reaproveitamento de código</a:t>
            </a:r>
            <a:r>
              <a:rPr lang="pt-BR" dirty="0"/>
              <a:t> já criado. É a lógica da “peça de lego”.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7A688AD-935C-C0E5-8E39-1466CA07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571" y="3359792"/>
            <a:ext cx="84772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55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ECAD-65E2-CE0A-7DE9-3DA3F6D7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>
            <a:extLst>
              <a:ext uri="{FF2B5EF4-FFF2-40B4-BE49-F238E27FC236}">
                <a16:creationId xmlns:a16="http://schemas.microsoft.com/office/drawing/2014/main" id="{DC27E03F-8068-BA2E-6B43-2634F974D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379" y="754200"/>
            <a:ext cx="9652421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terceira Grande </a:t>
            </a:r>
            <a:r>
              <a:rPr lang="pt-BR" sz="4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Idéia</a:t>
            </a: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pt-BR" sz="4000" dirty="0">
                <a:solidFill>
                  <a:srgbClr val="000000"/>
                </a:solidFill>
                <a:latin typeface="Arial"/>
              </a:rPr>
              <a:t>ENCAPSULAMENTO</a:t>
            </a:r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993E08-32AA-9474-29B8-51E2B09F4686}"/>
              </a:ext>
            </a:extLst>
          </p:cNvPr>
          <p:cNvSpPr txBox="1"/>
          <p:nvPr/>
        </p:nvSpPr>
        <p:spPr>
          <a:xfrm>
            <a:off x="1189609" y="1771572"/>
            <a:ext cx="95346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pt-BR" b="1" dirty="0"/>
              <a:t>ENCAPSULAMENTO</a:t>
            </a:r>
            <a:r>
              <a:rPr lang="pt-BR" dirty="0"/>
              <a:t>: ocultar a complexidade e proteger o acesso indevido a conteúdo de variáveis; </a:t>
            </a:r>
          </a:p>
          <a:p>
            <a:r>
              <a:rPr lang="pt-BR" dirty="0"/>
              <a:t>Exemplo de utilidade: ao chamar a função </a:t>
            </a:r>
            <a:r>
              <a:rPr lang="pt-BR" b="1" i="1" dirty="0" err="1"/>
              <a:t>desenha_janela</a:t>
            </a:r>
            <a:r>
              <a:rPr lang="pt-BR" b="1" i="1" dirty="0"/>
              <a:t>()</a:t>
            </a:r>
            <a:r>
              <a:rPr lang="pt-BR" i="1" dirty="0"/>
              <a:t>,</a:t>
            </a:r>
            <a:r>
              <a:rPr lang="pt-BR" dirty="0"/>
              <a:t> o desenvolvedor não precisa se preocupar com quais chamadas da biblioteca gráfica do sistema operacional serão utilizadas, focando apenas em atingir o objetivo funcional do seu sistema.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B6E6D70-C415-93BE-3402-D918922FC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17" y="3429000"/>
            <a:ext cx="84772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62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B1B20-28FC-35C4-B076-720BC63E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F4D808B-F325-F9EE-C707-7E66AC45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658003"/>
            <a:ext cx="10514520" cy="1324440"/>
          </a:xfrm>
        </p:spPr>
        <p:txBody>
          <a:bodyPr/>
          <a:lstStyle/>
          <a:p>
            <a:r>
              <a:rPr lang="pt-BR" sz="3600" dirty="0"/>
              <a:t>Paradigma de Programação Orientado a Objetos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86CBD18-A06C-349B-42B3-F9E2A44A1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312455"/>
              </p:ext>
            </p:extLst>
          </p:nvPr>
        </p:nvGraphicFramePr>
        <p:xfrm>
          <a:off x="2338310" y="2159997"/>
          <a:ext cx="7515380" cy="2107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8580">
                  <a:extLst>
                    <a:ext uri="{9D8B030D-6E8A-4147-A177-3AD203B41FA5}">
                      <a16:colId xmlns:a16="http://schemas.microsoft.com/office/drawing/2014/main" val="3329754894"/>
                    </a:ext>
                  </a:extLst>
                </a:gridCol>
                <a:gridCol w="4026800">
                  <a:extLst>
                    <a:ext uri="{9D8B030D-6E8A-4147-A177-3AD203B41FA5}">
                      <a16:colId xmlns:a16="http://schemas.microsoft.com/office/drawing/2014/main" val="2377838859"/>
                    </a:ext>
                  </a:extLst>
                </a:gridCol>
              </a:tblGrid>
              <a:tr h="76042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/>
                        </a:rPr>
                        <a:t>PARADIGMA DE PROGRAMAÇÃO ORIENTADA A OBJETOS</a:t>
                      </a:r>
                      <a:endParaRPr lang="pt-BR" sz="1200" b="1" i="0" u="none" strike="noStrike" dirty="0">
                        <a:solidFill>
                          <a:srgbClr val="11182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/>
                        </a:rPr>
                        <a:t>CARACTERÍSTICAS</a:t>
                      </a:r>
                      <a:endParaRPr lang="pt-BR" sz="1200" b="1" i="0" u="none" strike="noStrike" dirty="0">
                        <a:solidFill>
                          <a:srgbClr val="11182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412882"/>
                  </a:ext>
                </a:extLst>
              </a:tr>
              <a:tr h="59921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Filosofia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/>
                        </a:rPr>
                        <a:t>REUSO</a:t>
                      </a:r>
                      <a:r>
                        <a:rPr lang="pt-BR" sz="1200" u="none" strike="noStrike" dirty="0">
                          <a:effectLst/>
                        </a:rPr>
                        <a:t>, </a:t>
                      </a:r>
                      <a:r>
                        <a:rPr lang="pt-BR" sz="1200" b="1" u="none" strike="noStrike" dirty="0">
                          <a:effectLst/>
                        </a:rPr>
                        <a:t>COESÃO</a:t>
                      </a:r>
                      <a:r>
                        <a:rPr lang="pt-BR" sz="1200" u="none" strike="noStrike" dirty="0">
                          <a:effectLst/>
                        </a:rPr>
                        <a:t> e </a:t>
                      </a:r>
                      <a:r>
                        <a:rPr lang="pt-BR" sz="1200" b="1" u="none" strike="noStrike" dirty="0">
                          <a:effectLst/>
                        </a:rPr>
                        <a:t>ACOPLAMENTO</a:t>
                      </a:r>
                      <a:r>
                        <a:rPr lang="pt-BR" sz="1200" u="none" strike="noStrike" dirty="0">
                          <a:effectLst/>
                        </a:rPr>
                        <a:t> no código</a:t>
                      </a:r>
                      <a:endParaRPr lang="pt-BR" sz="1200" b="1" i="0" u="none" strike="noStrike" dirty="0">
                        <a:solidFill>
                          <a:srgbClr val="11182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4649063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Dados e Operações CORRELACIONADAS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/>
                        </a:rPr>
                        <a:t>ficam juntos (funções e variáveis)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3571771"/>
                  </a:ext>
                </a:extLst>
              </a:tr>
              <a:tr h="30721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Representação da REALIDADE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/>
                        </a:rPr>
                        <a:t>Forte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495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854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31621-331D-AA92-0002-5CA90723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C41472C-25EE-F054-0D0F-20B810B55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658003"/>
            <a:ext cx="10514520" cy="1324440"/>
          </a:xfrm>
        </p:spPr>
        <p:txBody>
          <a:bodyPr/>
          <a:lstStyle/>
          <a:p>
            <a:pPr algn="ctr"/>
            <a:r>
              <a:rPr lang="pt-BR" sz="3600" dirty="0"/>
              <a:t>Gramática das linguagens de programação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075086F-5F43-C521-AEAD-ADA82A011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500101"/>
              </p:ext>
            </p:extLst>
          </p:nvPr>
        </p:nvGraphicFramePr>
        <p:xfrm>
          <a:off x="1880154" y="1806970"/>
          <a:ext cx="7632700" cy="1228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9500">
                  <a:extLst>
                    <a:ext uri="{9D8B030D-6E8A-4147-A177-3AD203B41FA5}">
                      <a16:colId xmlns:a16="http://schemas.microsoft.com/office/drawing/2014/main" val="566741924"/>
                    </a:ext>
                  </a:extLst>
                </a:gridCol>
                <a:gridCol w="4843200">
                  <a:extLst>
                    <a:ext uri="{9D8B030D-6E8A-4147-A177-3AD203B41FA5}">
                      <a16:colId xmlns:a16="http://schemas.microsoft.com/office/drawing/2014/main" val="57291529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Conceito</a:t>
                      </a:r>
                      <a:endParaRPr lang="pt-BR" sz="1200" b="1" i="0" u="none" strike="noStrike" dirty="0">
                        <a:solidFill>
                          <a:srgbClr val="111827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Recurso adicionado a linguagem</a:t>
                      </a:r>
                      <a:endParaRPr lang="pt-BR" sz="1200" b="1" i="0" u="none" strike="noStrike" dirty="0">
                        <a:solidFill>
                          <a:srgbClr val="111827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713077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ABSTRAÇÃO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CLASSES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711554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REUSO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>
                          <a:effectLst/>
                        </a:rPr>
                        <a:t>MECANISMO DE HERANÇA</a:t>
                      </a: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789639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ENCAPSULAMENTO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200" u="none" strike="noStrike" dirty="0">
                          <a:effectLst/>
                        </a:rPr>
                        <a:t>MECANISMO DE ACESSO A CLASSE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9739350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06C7767B-64AE-762E-88C2-88C7913D28C8}"/>
              </a:ext>
            </a:extLst>
          </p:cNvPr>
          <p:cNvSpPr txBox="1"/>
          <p:nvPr/>
        </p:nvSpPr>
        <p:spPr>
          <a:xfrm>
            <a:off x="1376039" y="3518139"/>
            <a:ext cx="9516862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33333"/>
                </a:solidFill>
                <a:effectLst/>
                <a:latin typeface="Helvetica Neue"/>
              </a:rPr>
              <a:t>As linguagens antigas precisavam adicionar extensões para implantar os conceitos. A linguagem C, por exemplo, recebeu a adição de uma </a:t>
            </a:r>
            <a:r>
              <a:rPr lang="pt-BR" b="1" i="0" dirty="0">
                <a:solidFill>
                  <a:srgbClr val="333333"/>
                </a:solidFill>
                <a:effectLst/>
                <a:latin typeface="Helvetica Neue"/>
              </a:rPr>
              <a:t>extensão de gramática</a:t>
            </a:r>
            <a:r>
              <a:rPr lang="pt-BR" b="0" i="0" dirty="0">
                <a:solidFill>
                  <a:srgbClr val="333333"/>
                </a:solidFill>
                <a:effectLst/>
                <a:latin typeface="Helvetica Neue"/>
              </a:rPr>
              <a:t> e passou a se chamar C++ (linguagem C com suporte a orientação a objetos).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33333"/>
                </a:solidFill>
                <a:effectLst/>
                <a:latin typeface="Helvetica Neue"/>
              </a:rPr>
              <a:t>A linguagem </a:t>
            </a:r>
            <a:r>
              <a:rPr lang="pt-BR" b="1" i="0" dirty="0">
                <a:solidFill>
                  <a:srgbClr val="333333"/>
                </a:solidFill>
                <a:effectLst/>
                <a:latin typeface="Helvetica Neue"/>
              </a:rPr>
              <a:t>JAVA já nasceu orientada a objetos </a:t>
            </a:r>
            <a:r>
              <a:rPr lang="pt-BR" b="0" i="0" dirty="0">
                <a:solidFill>
                  <a:srgbClr val="333333"/>
                </a:solidFill>
                <a:effectLst/>
                <a:latin typeface="Helvetica Neue"/>
              </a:rPr>
              <a:t>e praticamente obriga o desenvolvedor a utilizar esse paradigma de programação.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33333"/>
                </a:solidFill>
                <a:effectLst/>
                <a:latin typeface="Helvetica Neue"/>
              </a:rPr>
              <a:t>A linguagem </a:t>
            </a:r>
            <a:r>
              <a:rPr lang="pt-BR" b="1" i="0" dirty="0">
                <a:solidFill>
                  <a:srgbClr val="333333"/>
                </a:solidFill>
                <a:effectLst/>
                <a:latin typeface="Helvetica Neue"/>
              </a:rPr>
              <a:t>Python nasceu orientada a objetos com flexibilidade de paradigma</a:t>
            </a:r>
            <a:r>
              <a:rPr lang="pt-BR" b="0" i="0" dirty="0">
                <a:solidFill>
                  <a:srgbClr val="333333"/>
                </a:solidFill>
                <a:effectLst/>
                <a:latin typeface="Helvetica Neue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61523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5B3C0-7322-9D7D-3CF8-DF063B93E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0F8CE31-916D-B85B-5D7A-5F0F6F48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89833"/>
            <a:ext cx="10514520" cy="563720"/>
          </a:xfrm>
        </p:spPr>
        <p:txBody>
          <a:bodyPr/>
          <a:lstStyle/>
          <a:p>
            <a:r>
              <a:rPr lang="pt-BR" dirty="0"/>
              <a:t>Paradigma de Programação OO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AC803D-37A6-4773-239D-D03144551AA7}"/>
              </a:ext>
            </a:extLst>
          </p:cNvPr>
          <p:cNvSpPr txBox="1"/>
          <p:nvPr/>
        </p:nvSpPr>
        <p:spPr>
          <a:xfrm>
            <a:off x="115409" y="797510"/>
            <a:ext cx="6094520" cy="4154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class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Calculadora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init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__(self, numero1, numero2):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.numero1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numero1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.numero2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numero2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somar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resultado_soma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.numero1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.numero2 )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resultado_soma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subtrair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resultado_subtracao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.numero1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.numero2 )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resultado_subtracao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multiplicar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resultado_multiplicacao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.numero1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.numero2)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resultado_multiplicacao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dividir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.numero2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"Erro: divisão por zero"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resultado_divisao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.numero1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.numero2 )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resultado_divisao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9F5D471-5DBF-09C8-2009-50A6E424725A}"/>
              </a:ext>
            </a:extLst>
          </p:cNvPr>
          <p:cNvSpPr txBox="1"/>
          <p:nvPr/>
        </p:nvSpPr>
        <p:spPr>
          <a:xfrm>
            <a:off x="115408" y="4952494"/>
            <a:ext cx="6542843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4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objeto_calculadora1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1" dirty="0">
                <a:solidFill>
                  <a:srgbClr val="37474F"/>
                </a:solidFill>
                <a:effectLst/>
                <a:latin typeface="Roboto Mono" pitchFamily="2" charset="0"/>
              </a:rPr>
              <a:t>Calculadora(</a:t>
            </a:r>
            <a:r>
              <a:rPr lang="pt-BR" sz="1400" b="0" i="1" dirty="0">
                <a:solidFill>
                  <a:srgbClr val="C53929"/>
                </a:solidFill>
                <a:effectLst/>
                <a:latin typeface="Roboto Mono" pitchFamily="2" charset="0"/>
              </a:rPr>
              <a:t>10</a:t>
            </a:r>
            <a:r>
              <a:rPr lang="pt-BR" sz="1400" b="0" i="1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1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400" b="0" i="1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1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"Soma         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, objeto_calculadora1.somar()      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"Subtração    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, objeto_calculadora1.subtrair()</a:t>
            </a:r>
            <a:r>
              <a:rPr lang="pt-BR" sz="1400" dirty="0">
                <a:solidFill>
                  <a:srgbClr val="37474F"/>
                </a:solidFill>
                <a:latin typeface="Roboto Mono" pitchFamily="2" charset="0"/>
              </a:rPr>
              <a:t>   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"Multiplicação:"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, objeto_calculadora1.multiplicar())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"Divisão      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, objeto_calculadora1.dividir()    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9E6A668-E383-75C9-1955-84CB9B8A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491" y="569952"/>
            <a:ext cx="5753100" cy="230505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B672BF6-BD3B-EA09-ED25-FEF295D1E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51" y="2777347"/>
            <a:ext cx="5220071" cy="399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8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5344B-A6D7-D41C-3B13-1DAE98A7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76137"/>
            <a:ext cx="10514520" cy="726913"/>
          </a:xfrm>
        </p:spPr>
        <p:txBody>
          <a:bodyPr/>
          <a:lstStyle/>
          <a:p>
            <a:pPr algn="ctr"/>
            <a:r>
              <a:rPr lang="pt-BR" dirty="0"/>
              <a:t>Nomenclatura no Paradigma OO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FE592C9-0977-EF26-AF00-D9C294AF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222159"/>
              </p:ext>
            </p:extLst>
          </p:nvPr>
        </p:nvGraphicFramePr>
        <p:xfrm>
          <a:off x="348449" y="736847"/>
          <a:ext cx="6114496" cy="28017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5796">
                  <a:extLst>
                    <a:ext uri="{9D8B030D-6E8A-4147-A177-3AD203B41FA5}">
                      <a16:colId xmlns:a16="http://schemas.microsoft.com/office/drawing/2014/main" val="1045820495"/>
                    </a:ext>
                  </a:extLst>
                </a:gridCol>
                <a:gridCol w="1908700">
                  <a:extLst>
                    <a:ext uri="{9D8B030D-6E8A-4147-A177-3AD203B41FA5}">
                      <a16:colId xmlns:a16="http://schemas.microsoft.com/office/drawing/2014/main" val="3487445988"/>
                    </a:ext>
                  </a:extLst>
                </a:gridCol>
              </a:tblGrid>
              <a:tr h="11951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NOMENCLATURA </a:t>
                      </a:r>
                    </a:p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PARADIGMA PROGRAMAÇÃO ESTRUTURADA </a:t>
                      </a:r>
                    </a:p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(OU PROCEDIMENTAL) </a:t>
                      </a:r>
                    </a:p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 </a:t>
                      </a:r>
                      <a:r>
                        <a:rPr lang="pt-BR" sz="1100" b="1" u="none" strike="noStrike" dirty="0" err="1">
                          <a:effectLst/>
                        </a:rPr>
                        <a:t>python</a:t>
                      </a:r>
                      <a:endParaRPr lang="pt-BR" sz="1100" b="1" i="0" u="none" strike="noStrike" dirty="0">
                        <a:solidFill>
                          <a:srgbClr val="11182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22" marR="8922" marT="8922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NOMENCLATURA</a:t>
                      </a:r>
                    </a:p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PARADIGMA PROGRAMAÇÃO </a:t>
                      </a:r>
                    </a:p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ORIENTADA A OBJETOS </a:t>
                      </a:r>
                    </a:p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 err="1">
                          <a:effectLst/>
                        </a:rPr>
                        <a:t>python</a:t>
                      </a:r>
                      <a:endParaRPr lang="pt-BR" sz="1100" b="1" i="0" u="none" strike="noStrike" dirty="0">
                        <a:solidFill>
                          <a:srgbClr val="11182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22" marR="8922" marT="8922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357240"/>
                  </a:ext>
                </a:extLst>
              </a:tr>
              <a:tr h="38507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TIPO DE VARIAVEL ( </a:t>
                      </a:r>
                      <a:r>
                        <a:rPr lang="pt-BR" sz="1100" b="1" u="none" strike="noStrike" dirty="0">
                          <a:effectLst/>
                        </a:rPr>
                        <a:t>inteiro</a:t>
                      </a:r>
                      <a:r>
                        <a:rPr lang="pt-BR" sz="1100" u="none" strike="noStrike" dirty="0">
                          <a:effectLst/>
                        </a:rPr>
                        <a:t>, </a:t>
                      </a:r>
                      <a:r>
                        <a:rPr lang="pt-BR" sz="1100" b="1" u="none" strike="noStrike" dirty="0">
                          <a:effectLst/>
                        </a:rPr>
                        <a:t>texto</a:t>
                      </a:r>
                      <a:r>
                        <a:rPr lang="pt-BR" sz="1100" u="none" strike="noStrike" dirty="0">
                          <a:effectLst/>
                        </a:rPr>
                        <a:t>, </a:t>
                      </a:r>
                      <a:r>
                        <a:rPr lang="pt-BR" sz="1100" b="1" u="none" strike="noStrike" dirty="0">
                          <a:effectLst/>
                        </a:rPr>
                        <a:t>real</a:t>
                      </a:r>
                      <a:r>
                        <a:rPr lang="pt-BR" sz="1100" u="none" strike="noStrike" dirty="0">
                          <a:effectLst/>
                        </a:rPr>
                        <a:t>, </a:t>
                      </a:r>
                      <a:r>
                        <a:rPr lang="pt-BR" sz="1100" b="1" u="none" strike="noStrike" dirty="0">
                          <a:effectLst/>
                        </a:rPr>
                        <a:t>booleano</a:t>
                      </a:r>
                      <a:r>
                        <a:rPr lang="pt-BR" sz="1100" u="none" strike="noStrike" dirty="0">
                          <a:effectLst/>
                        </a:rPr>
                        <a:t>, </a:t>
                      </a:r>
                      <a:r>
                        <a:rPr lang="pt-BR" sz="1100" b="1" u="none" strike="noStrike" dirty="0">
                          <a:effectLst/>
                        </a:rPr>
                        <a:t>listas</a:t>
                      </a:r>
                      <a:r>
                        <a:rPr lang="pt-BR" sz="1100" u="none" strike="noStrike" dirty="0">
                          <a:effectLst/>
                        </a:rPr>
                        <a:t>, </a:t>
                      </a:r>
                      <a:r>
                        <a:rPr lang="pt-BR" sz="1100" b="1" u="none" strike="noStrike" dirty="0">
                          <a:effectLst/>
                        </a:rPr>
                        <a:t>dicionários</a:t>
                      </a:r>
                      <a:r>
                        <a:rPr lang="pt-BR" sz="1100" u="none" strike="noStrike" dirty="0">
                          <a:effectLst/>
                        </a:rPr>
                        <a:t>, </a:t>
                      </a:r>
                      <a:r>
                        <a:rPr lang="pt-BR" sz="1100" b="1" u="none" strike="noStrike" dirty="0">
                          <a:effectLst/>
                        </a:rPr>
                        <a:t>clausuras</a:t>
                      </a:r>
                      <a:r>
                        <a:rPr lang="pt-BR" sz="1100" u="none" strike="noStrike" dirty="0">
                          <a:effectLst/>
                        </a:rPr>
                        <a:t> e </a:t>
                      </a:r>
                      <a:r>
                        <a:rPr lang="pt-BR" sz="1100" b="1" u="none" strike="noStrike" dirty="0">
                          <a:effectLst/>
                        </a:rPr>
                        <a:t>conjuntos</a:t>
                      </a:r>
                      <a:r>
                        <a:rPr lang="pt-BR" sz="1100" u="none" strike="noStrike" dirty="0">
                          <a:effectLst/>
                        </a:rPr>
                        <a:t> 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22" marR="8922" marT="8922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CLASSE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22" marR="8922" marT="8922" marB="0" anchor="ctr"/>
                </a:tc>
                <a:extLst>
                  <a:ext uri="{0D108BD9-81ED-4DB2-BD59-A6C34878D82A}">
                    <a16:rowId xmlns:a16="http://schemas.microsoft.com/office/drawing/2014/main" val="1183936446"/>
                  </a:ext>
                </a:extLst>
              </a:tr>
              <a:tr h="275207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VARIÁVEIS COMPOSTAS</a:t>
                      </a:r>
                      <a:r>
                        <a:rPr lang="pt-BR" sz="1100" u="none" strike="noStrike" dirty="0">
                          <a:effectLst/>
                        </a:rPr>
                        <a:t> (listas, dicionários, clausuras, conjuntos)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22" marR="8922" marT="8922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OBJETOS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22" marR="8922" marT="8922" marB="0" anchor="ctr"/>
                </a:tc>
                <a:extLst>
                  <a:ext uri="{0D108BD9-81ED-4DB2-BD59-A6C34878D82A}">
                    <a16:rowId xmlns:a16="http://schemas.microsoft.com/office/drawing/2014/main" val="1115680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FUNÇÕES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22" marR="8922" marT="8922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MÉTODOS</a:t>
                      </a:r>
                    </a:p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22" marR="8922" marT="8922" marB="0" anchor="ctr"/>
                </a:tc>
                <a:extLst>
                  <a:ext uri="{0D108BD9-81ED-4DB2-BD59-A6C34878D82A}">
                    <a16:rowId xmlns:a16="http://schemas.microsoft.com/office/drawing/2014/main" val="3721151680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F04F6FE2-397C-2CB4-381D-E2BDA884C25D}"/>
              </a:ext>
            </a:extLst>
          </p:cNvPr>
          <p:cNvSpPr txBox="1"/>
          <p:nvPr/>
        </p:nvSpPr>
        <p:spPr>
          <a:xfrm>
            <a:off x="348449" y="3691164"/>
            <a:ext cx="4188042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calcular_resultado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(nome, nota1, nota2):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media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(nota1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nota2)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/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2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"Nome:"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 nome)</a:t>
            </a: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"Média:"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media)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media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&gt;=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6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"Situação: Aprovado"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else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"Situação: Reprovado"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uso da função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calcular_resultado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53674D7-66DB-A1E7-F80A-4BB845590161}"/>
              </a:ext>
            </a:extLst>
          </p:cNvPr>
          <p:cNvSpPr txBox="1"/>
          <p:nvPr/>
        </p:nvSpPr>
        <p:spPr>
          <a:xfrm>
            <a:off x="6717437" y="1659826"/>
            <a:ext cx="5063231" cy="4524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class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Aluno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init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__(self, nome, nota1, nota2):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.nome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nome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.nota1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nota1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.nota2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nota2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calcular_media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.nota1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self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.nota2)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/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2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verificar_situacao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.calcular_media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&gt;=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6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"Aprovado"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else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"Reprovado"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exibir_resultado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"Nome:"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.nome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"Média:"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.calcular_media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"Situação:"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.verificar_situacao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uso da classe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aluno1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Aluno(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8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6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aluno1.exibir_resultado()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46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DE92-B075-061B-F3E0-C7D57088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910AAB7-3900-F3EB-985C-E85E2B5E4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658003"/>
            <a:ext cx="10514520" cy="1324440"/>
          </a:xfrm>
        </p:spPr>
        <p:txBody>
          <a:bodyPr/>
          <a:lstStyle/>
          <a:p>
            <a:r>
              <a:rPr lang="pt-BR" sz="3600" dirty="0"/>
              <a:t>Orientado a Objetos - ENCAPSULAMENTO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BE99B4D-4F9A-0869-D2BC-454649399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73358"/>
              </p:ext>
            </p:extLst>
          </p:nvPr>
        </p:nvGraphicFramePr>
        <p:xfrm>
          <a:off x="1015969" y="1982443"/>
          <a:ext cx="10160062" cy="3393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2090">
                  <a:extLst>
                    <a:ext uri="{9D8B030D-6E8A-4147-A177-3AD203B41FA5}">
                      <a16:colId xmlns:a16="http://schemas.microsoft.com/office/drawing/2014/main" val="2777875409"/>
                    </a:ext>
                  </a:extLst>
                </a:gridCol>
                <a:gridCol w="6537972">
                  <a:extLst>
                    <a:ext uri="{9D8B030D-6E8A-4147-A177-3AD203B41FA5}">
                      <a16:colId xmlns:a16="http://schemas.microsoft.com/office/drawing/2014/main" val="2254206948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Nível de ACESSO Público: </a:t>
                      </a:r>
                      <a:endParaRPr lang="pt-BR" sz="2000" b="1" i="0" u="none" strike="noStrike" dirty="0">
                        <a:solidFill>
                          <a:srgbClr val="11182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1800" b="1" u="none" strike="noStrike" dirty="0">
                          <a:effectLst/>
                        </a:rPr>
                        <a:t>Um atributo</a:t>
                      </a:r>
                      <a:r>
                        <a:rPr lang="pt-BR" sz="1100" u="none" strike="noStrike" dirty="0">
                          <a:effectLst/>
                        </a:rPr>
                        <a:t> (</a:t>
                      </a:r>
                      <a:r>
                        <a:rPr lang="pt-BR" sz="1100" u="none" strike="noStrike" dirty="0" err="1">
                          <a:effectLst/>
                        </a:rPr>
                        <a:t>sub-variável</a:t>
                      </a:r>
                      <a:r>
                        <a:rPr lang="pt-BR" sz="1100" u="none" strike="noStrike" dirty="0">
                          <a:effectLst/>
                        </a:rPr>
                        <a:t>) </a:t>
                      </a:r>
                    </a:p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de uma variável objeto pode ser </a:t>
                      </a:r>
                    </a:p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acessada e alterada </a:t>
                      </a:r>
                    </a:p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em </a:t>
                      </a:r>
                      <a:r>
                        <a:rPr lang="pt-BR" sz="1100" b="1" u="none" strike="noStrike" dirty="0">
                          <a:effectLst/>
                        </a:rPr>
                        <a:t>qualquer local do código principal do programa</a:t>
                      </a:r>
                      <a:r>
                        <a:rPr lang="pt-BR" sz="1100" u="none" strike="noStrike" dirty="0">
                          <a:effectLst/>
                        </a:rPr>
                        <a:t>;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885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Nível de ACESSO Privado: </a:t>
                      </a:r>
                      <a:endParaRPr lang="pt-BR" sz="2000" b="1" i="0" u="none" strike="noStrike" dirty="0">
                        <a:solidFill>
                          <a:srgbClr val="11182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2000" b="1" u="none" strike="noStrike" dirty="0">
                          <a:effectLst/>
                        </a:rPr>
                        <a:t>Um atributo</a:t>
                      </a:r>
                      <a:r>
                        <a:rPr lang="pt-BR" sz="1100" u="none" strike="noStrike" dirty="0">
                          <a:effectLst/>
                        </a:rPr>
                        <a:t> (</a:t>
                      </a:r>
                      <a:r>
                        <a:rPr lang="pt-BR" sz="1100" u="none" strike="noStrike" dirty="0" err="1">
                          <a:effectLst/>
                        </a:rPr>
                        <a:t>sub-variável</a:t>
                      </a:r>
                      <a:r>
                        <a:rPr lang="pt-BR" sz="1100" u="none" strike="noStrike" dirty="0">
                          <a:effectLst/>
                        </a:rPr>
                        <a:t>) </a:t>
                      </a:r>
                    </a:p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de uma variável objeto </a:t>
                      </a:r>
                    </a:p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só pode ser </a:t>
                      </a:r>
                    </a:p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acessada e alterada </a:t>
                      </a:r>
                    </a:p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1100" b="1" u="none" strike="noStrike" dirty="0">
                          <a:effectLst/>
                        </a:rPr>
                        <a:t>por um método (função) do próprio objeto</a:t>
                      </a:r>
                      <a:r>
                        <a:rPr lang="pt-BR" sz="1100" u="none" strike="noStrike" dirty="0">
                          <a:effectLst/>
                        </a:rPr>
                        <a:t>;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406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227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E473A-5133-1A12-1F3B-70D6A041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E0A06EE-961C-220A-6EDC-8752D9FD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09" y="316948"/>
            <a:ext cx="11478826" cy="1324440"/>
          </a:xfrm>
        </p:spPr>
        <p:txBody>
          <a:bodyPr/>
          <a:lstStyle/>
          <a:p>
            <a:r>
              <a:rPr lang="pt-BR" sz="3600" dirty="0"/>
              <a:t>ENCAPSULAMENTO – Objetos com acesso de atributos PÚBLICOS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8BA66D1-21E0-0795-BDC1-F8AF98E8B152}"/>
              </a:ext>
            </a:extLst>
          </p:cNvPr>
          <p:cNvSpPr txBox="1"/>
          <p:nvPr/>
        </p:nvSpPr>
        <p:spPr>
          <a:xfrm>
            <a:off x="465878" y="1732936"/>
            <a:ext cx="6121353" cy="47282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class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Personagem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init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__(self, nome, altura): 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.nome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nome              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.altura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altura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pular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                  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print(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.nome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pulou!"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Instanciação de Objetos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Personagem(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"Mario"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1.60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mario.pular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b="0" i="0" dirty="0">
              <a:solidFill>
                <a:srgbClr val="D81B6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mario.nome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Luiggie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mario.pular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11290F-D347-DE93-25B1-27154CCAF6AE}"/>
              </a:ext>
            </a:extLst>
          </p:cNvPr>
          <p:cNvSpPr txBox="1"/>
          <p:nvPr/>
        </p:nvSpPr>
        <p:spPr>
          <a:xfrm>
            <a:off x="6846902" y="5587682"/>
            <a:ext cx="2900779" cy="77841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Mario pulou ! 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Luiggie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pulou !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1CC808-F8A5-BD8E-3C43-68A5C4187A5E}"/>
              </a:ext>
            </a:extLst>
          </p:cNvPr>
          <p:cNvSpPr txBox="1"/>
          <p:nvPr/>
        </p:nvSpPr>
        <p:spPr>
          <a:xfrm>
            <a:off x="6747029" y="4962618"/>
            <a:ext cx="1655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Saída em Tela</a:t>
            </a:r>
          </a:p>
        </p:txBody>
      </p:sp>
    </p:spTree>
    <p:extLst>
      <p:ext uri="{BB962C8B-B14F-4D97-AF65-F5344CB8AC3E}">
        <p14:creationId xmlns:p14="http://schemas.microsoft.com/office/powerpoint/2010/main" val="1383641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8508E-2ECB-6845-13CD-F19CD7FA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239EFFA-F836-C4DD-0C01-64FD3D6D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34" y="658003"/>
            <a:ext cx="10514520" cy="1324440"/>
          </a:xfrm>
        </p:spPr>
        <p:txBody>
          <a:bodyPr/>
          <a:lstStyle/>
          <a:p>
            <a:r>
              <a:rPr lang="pt-BR" sz="3600" dirty="0"/>
              <a:t>ENCAPSULAMENTO – Objetos com acesso de atributos PRIVADOS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B0668A-8A6E-061A-9574-3558A76CDB11}"/>
              </a:ext>
            </a:extLst>
          </p:cNvPr>
          <p:cNvSpPr txBox="1"/>
          <p:nvPr/>
        </p:nvSpPr>
        <p:spPr>
          <a:xfrm>
            <a:off x="483634" y="2506678"/>
            <a:ext cx="5908288" cy="3693319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class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Personagem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init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__(self, nome, altura):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.__nome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nome </a:t>
            </a:r>
          </a:p>
          <a:p>
            <a:pPr algn="l">
              <a:buNone/>
            </a:pPr>
            <a:r>
              <a:rPr lang="pt-BR" dirty="0">
                <a:solidFill>
                  <a:srgbClr val="37474F"/>
                </a:solidFill>
                <a:latin typeface="Roboto Mono" pitchFamily="2" charset="0"/>
              </a:rPr>
              <a:t>        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.__altura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altura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pular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</a:t>
            </a: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print(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.__nome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pulou!"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Instanciação de Objetos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Personagem(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"Mario"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1.60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mario.pular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.__nome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Luiggie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mario.pular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CA2D25-AA0C-6F78-A69B-528D83D5744B}"/>
              </a:ext>
            </a:extLst>
          </p:cNvPr>
          <p:cNvSpPr txBox="1"/>
          <p:nvPr/>
        </p:nvSpPr>
        <p:spPr>
          <a:xfrm>
            <a:off x="6631618" y="5392201"/>
            <a:ext cx="1518364" cy="646331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pt-BR"/>
              <a:t>Mario pulou !</a:t>
            </a:r>
          </a:p>
          <a:p>
            <a:r>
              <a:rPr lang="pt-BR"/>
              <a:t>Mario pulou !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6C6E5C-E9B0-1C31-32B0-D8819A303D4E}"/>
              </a:ext>
            </a:extLst>
          </p:cNvPr>
          <p:cNvSpPr txBox="1"/>
          <p:nvPr/>
        </p:nvSpPr>
        <p:spPr>
          <a:xfrm>
            <a:off x="6531077" y="4767309"/>
            <a:ext cx="1719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Saída em Tela:</a:t>
            </a:r>
          </a:p>
        </p:txBody>
      </p:sp>
    </p:spTree>
    <p:extLst>
      <p:ext uri="{BB962C8B-B14F-4D97-AF65-F5344CB8AC3E}">
        <p14:creationId xmlns:p14="http://schemas.microsoft.com/office/powerpoint/2010/main" val="1954211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9CD59-9329-3D3A-3394-AFF814BCA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6A42751-F2E9-5529-BBEA-47B4DD62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134220"/>
            <a:ext cx="10514520" cy="584871"/>
          </a:xfrm>
        </p:spPr>
        <p:txBody>
          <a:bodyPr/>
          <a:lstStyle/>
          <a:p>
            <a:r>
              <a:rPr lang="pt-BR" sz="3600" dirty="0"/>
              <a:t>Orientado a Objetos – Método Construtor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7BE01F69-E406-338B-E2EF-49C80D955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383779"/>
              </p:ext>
            </p:extLst>
          </p:nvPr>
        </p:nvGraphicFramePr>
        <p:xfrm>
          <a:off x="838740" y="719091"/>
          <a:ext cx="10160062" cy="999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2090">
                  <a:extLst>
                    <a:ext uri="{9D8B030D-6E8A-4147-A177-3AD203B41FA5}">
                      <a16:colId xmlns:a16="http://schemas.microsoft.com/office/drawing/2014/main" val="2777875409"/>
                    </a:ext>
                  </a:extLst>
                </a:gridCol>
                <a:gridCol w="6537972">
                  <a:extLst>
                    <a:ext uri="{9D8B030D-6E8A-4147-A177-3AD203B41FA5}">
                      <a16:colId xmlns:a16="http://schemas.microsoft.com/office/drawing/2014/main" val="2254206948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pt-BR" sz="2800" b="1" u="none" strike="noStrike" dirty="0">
                          <a:effectLst/>
                        </a:rPr>
                        <a:t>__</a:t>
                      </a:r>
                      <a:r>
                        <a:rPr lang="pt-BR" sz="2800" b="1" u="none" strike="noStrike" dirty="0" err="1">
                          <a:effectLst/>
                        </a:rPr>
                        <a:t>init</a:t>
                      </a:r>
                      <a:r>
                        <a:rPr lang="pt-BR" sz="2800" b="1" u="none" strike="noStrike" dirty="0">
                          <a:effectLst/>
                        </a:rPr>
                        <a:t>__(self)</a:t>
                      </a:r>
                      <a:endParaRPr lang="pt-BR" sz="2800" b="1" i="0" u="none" strike="noStrike" dirty="0">
                        <a:solidFill>
                          <a:srgbClr val="11182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pt-BR" sz="1800" b="1" u="none" strike="noStrike" dirty="0">
                          <a:effectLst/>
                        </a:rPr>
                        <a:t>Método</a:t>
                      </a:r>
                      <a:r>
                        <a:rPr lang="pt-BR" sz="1800" b="0" u="none" strike="noStrike" dirty="0">
                          <a:effectLst/>
                        </a:rPr>
                        <a:t> de toda classe responsável por repassar </a:t>
                      </a:r>
                      <a:r>
                        <a:rPr lang="pt-BR" sz="1800" b="1" u="none" strike="noStrike" dirty="0">
                          <a:effectLst/>
                        </a:rPr>
                        <a:t>valores iniciais </a:t>
                      </a:r>
                      <a:r>
                        <a:rPr lang="pt-BR" sz="1800" b="0" u="none" strike="noStrike" dirty="0">
                          <a:effectLst/>
                        </a:rPr>
                        <a:t>aos objetos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885081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84A9DA81-EACB-9E95-D510-80EDC649CA4A}"/>
              </a:ext>
            </a:extLst>
          </p:cNvPr>
          <p:cNvSpPr txBox="1"/>
          <p:nvPr/>
        </p:nvSpPr>
        <p:spPr>
          <a:xfrm>
            <a:off x="838740" y="1811044"/>
            <a:ext cx="5455528" cy="47282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class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Personagem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   </a:t>
            </a:r>
            <a:r>
              <a:rPr lang="pt-BR" b="1" i="0" dirty="0" err="1">
                <a:solidFill>
                  <a:srgbClr val="3F51B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def</a:t>
            </a:r>
            <a:r>
              <a:rPr lang="pt-BR" b="1" i="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__</a:t>
            </a:r>
            <a:r>
              <a:rPr lang="pt-BR" b="1" i="0" dirty="0" err="1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init</a:t>
            </a:r>
            <a:r>
              <a:rPr lang="pt-BR" b="1" i="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__(self, nome, altura):</a:t>
            </a:r>
            <a:r>
              <a:rPr lang="pt-BR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endParaRPr lang="pt-BR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.nome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nome              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.altura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altura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pular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(self):                  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print(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.nome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pulou!"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Instanciação de Objetos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1" i="0" dirty="0" err="1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mario</a:t>
            </a:r>
            <a:r>
              <a:rPr lang="pt-BR" b="1" i="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</a:t>
            </a:r>
            <a:r>
              <a:rPr lang="pt-BR" b="1" i="0" dirty="0">
                <a:solidFill>
                  <a:srgbClr val="3F51B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=</a:t>
            </a:r>
            <a:r>
              <a:rPr lang="pt-BR" b="1" i="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 Personagem(</a:t>
            </a:r>
            <a:r>
              <a:rPr lang="pt-BR" b="1" i="0" dirty="0">
                <a:solidFill>
                  <a:srgbClr val="388E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"Mario"</a:t>
            </a:r>
            <a:r>
              <a:rPr lang="pt-BR" b="1" i="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, </a:t>
            </a:r>
            <a:r>
              <a:rPr lang="pt-BR" b="1" i="0" dirty="0">
                <a:solidFill>
                  <a:srgbClr val="C539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1.60</a:t>
            </a:r>
            <a:r>
              <a:rPr lang="pt-BR" b="1" i="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)</a:t>
            </a:r>
            <a:endParaRPr lang="pt-BR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mario.pular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b="0" i="0" dirty="0">
              <a:solidFill>
                <a:srgbClr val="D81B6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mario.nome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Luiggie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mario.pular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9678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1584</Words>
  <Application>Microsoft Office PowerPoint</Application>
  <PresentationFormat>Widescreen</PresentationFormat>
  <Paragraphs>251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Helvetica Neue</vt:lpstr>
      <vt:lpstr>Roboto Mono</vt:lpstr>
      <vt:lpstr>Symbol</vt:lpstr>
      <vt:lpstr>Times New Roman</vt:lpstr>
      <vt:lpstr>Wingdings</vt:lpstr>
      <vt:lpstr>Tema do Office</vt:lpstr>
      <vt:lpstr>Aula 9 - 2026-04-29 </vt:lpstr>
      <vt:lpstr>O que é Orientação a Objetos</vt:lpstr>
      <vt:lpstr>O que é Orientação a Objetos</vt:lpstr>
      <vt:lpstr>Sistemas Grandes = Problemas</vt:lpstr>
      <vt:lpstr>O início</vt:lpstr>
      <vt:lpstr>Paradigma de Programação Estruturado</vt:lpstr>
      <vt:lpstr>Paradigma de Programação Estruturado</vt:lpstr>
      <vt:lpstr>Programação Estruturada: Documentando com D.F.D.</vt:lpstr>
      <vt:lpstr>A primeira Grande Idéia: ABSTRAÇÃO</vt:lpstr>
      <vt:lpstr>A primeira Grande Idéia: ABSTRAÇÃO</vt:lpstr>
      <vt:lpstr>A segunda Grande Idéia: REUSO</vt:lpstr>
      <vt:lpstr>A terceira Grande Idéia: ENCAPSULAMENTO</vt:lpstr>
      <vt:lpstr>Paradigma de Programação Orientado a Objetos</vt:lpstr>
      <vt:lpstr>Gramática das linguagens de programação</vt:lpstr>
      <vt:lpstr>Paradigma de Programação OO Python</vt:lpstr>
      <vt:lpstr>Nomenclatura no Paradigma OO</vt:lpstr>
      <vt:lpstr>Orientado a Objetos - ENCAPSULAMENTO</vt:lpstr>
      <vt:lpstr>ENCAPSULAMENTO – Objetos com acesso de atributos PÚBLICOS</vt:lpstr>
      <vt:lpstr>ENCAPSULAMENTO – Objetos com acesso de atributos PRIVADOS</vt:lpstr>
      <vt:lpstr>Orientado a Objetos – Método Construtor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miguel</dc:creator>
  <dc:description/>
  <cp:lastModifiedBy>MIGUEL PENTEADO</cp:lastModifiedBy>
  <cp:revision>27</cp:revision>
  <dcterms:modified xsi:type="dcterms:W3CDTF">2026-04-29T20:06:28Z</dcterms:modified>
  <dc:language>pt-BR</dc:language>
</cp:coreProperties>
</file>