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5" r:id="rId3"/>
  </p:sldMasterIdLst>
  <p:sldIdLst>
    <p:sldId id="256" r:id="rId4"/>
    <p:sldId id="257" r:id="rId5"/>
    <p:sldId id="264" r:id="rId6"/>
    <p:sldId id="259" r:id="rId7"/>
    <p:sldId id="258" r:id="rId8"/>
    <p:sldId id="283" r:id="rId9"/>
    <p:sldId id="260" r:id="rId10"/>
    <p:sldId id="284" r:id="rId11"/>
    <p:sldId id="261" r:id="rId12"/>
    <p:sldId id="269" r:id="rId13"/>
    <p:sldId id="285" r:id="rId14"/>
    <p:sldId id="262" r:id="rId15"/>
    <p:sldId id="271" r:id="rId16"/>
    <p:sldId id="286" r:id="rId17"/>
    <p:sldId id="265" r:id="rId18"/>
    <p:sldId id="272" r:id="rId19"/>
    <p:sldId id="287" r:id="rId20"/>
    <p:sldId id="263" r:id="rId21"/>
    <p:sldId id="273" r:id="rId22"/>
    <p:sldId id="288" r:id="rId23"/>
    <p:sldId id="274" r:id="rId24"/>
    <p:sldId id="289" r:id="rId25"/>
    <p:sldId id="266" r:id="rId26"/>
    <p:sldId id="270" r:id="rId27"/>
    <p:sldId id="275" r:id="rId28"/>
    <p:sldId id="290" r:id="rId29"/>
    <p:sldId id="276" r:id="rId30"/>
    <p:sldId id="291" r:id="rId31"/>
    <p:sldId id="277" r:id="rId32"/>
    <p:sldId id="292" r:id="rId33"/>
    <p:sldId id="293" r:id="rId34"/>
    <p:sldId id="294" r:id="rId35"/>
    <p:sldId id="279" r:id="rId36"/>
    <p:sldId id="295" r:id="rId37"/>
    <p:sldId id="280" r:id="rId38"/>
    <p:sldId id="296" r:id="rId39"/>
    <p:sldId id="281" r:id="rId40"/>
    <p:sldId id="297" r:id="rId41"/>
    <p:sldId id="282" r:id="rId42"/>
    <p:sldId id="298" r:id="rId43"/>
    <p:sldId id="299" r:id="rId44"/>
    <p:sldId id="300" r:id="rId45"/>
  </p:sldIdLst>
  <p:sldSz cx="9144000" cy="5143500" type="screen16x9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C3"/>
    <a:srgbClr val="E0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855880" y="581400"/>
            <a:ext cx="495252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87480" y="938160"/>
            <a:ext cx="7313400" cy="91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167;p19"/>
          <p:cNvSpPr/>
          <p:nvPr/>
        </p:nvSpPr>
        <p:spPr>
          <a:xfrm>
            <a:off x="-12600" y="-18000"/>
            <a:ext cx="725400" cy="51789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18" name="Google Shape;168;p19"/>
          <p:cNvCxnSpPr/>
          <p:nvPr/>
        </p:nvCxnSpPr>
        <p:spPr>
          <a:xfrm>
            <a:off x="-12960" y="543240"/>
            <a:ext cx="9170640" cy="72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cxnSp>
        <p:nvCxnSpPr>
          <p:cNvPr id="19" name="Google Shape;169;p19"/>
          <p:cNvCxnSpPr/>
          <p:nvPr/>
        </p:nvCxnSpPr>
        <p:spPr>
          <a:xfrm>
            <a:off x="-12960" y="4603680"/>
            <a:ext cx="9170640" cy="72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cxnSp>
        <p:nvCxnSpPr>
          <p:cNvPr id="20" name="Google Shape;170;p19"/>
          <p:cNvCxnSpPr/>
          <p:nvPr/>
        </p:nvCxnSpPr>
        <p:spPr>
          <a:xfrm>
            <a:off x="713160" y="-10800"/>
            <a:ext cx="720" cy="516600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grpSp>
        <p:nvGrpSpPr>
          <p:cNvPr id="21" name="Google Shape;171;p19"/>
          <p:cNvGrpSpPr/>
          <p:nvPr/>
        </p:nvGrpSpPr>
        <p:grpSpPr>
          <a:xfrm>
            <a:off x="102960" y="141120"/>
            <a:ext cx="494640" cy="242640"/>
            <a:chOff x="102960" y="141120"/>
            <a:chExt cx="494640" cy="242640"/>
          </a:xfrm>
        </p:grpSpPr>
        <p:cxnSp>
          <p:nvCxnSpPr>
            <p:cNvPr id="22" name="Google Shape;172;p19"/>
            <p:cNvCxnSpPr/>
            <p:nvPr/>
          </p:nvCxnSpPr>
          <p:spPr>
            <a:xfrm>
              <a:off x="102960" y="14112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23" name="Google Shape;173;p19"/>
            <p:cNvCxnSpPr/>
            <p:nvPr/>
          </p:nvCxnSpPr>
          <p:spPr>
            <a:xfrm>
              <a:off x="102960" y="2196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24" name="Google Shape;174;p19"/>
            <p:cNvCxnSpPr/>
            <p:nvPr/>
          </p:nvCxnSpPr>
          <p:spPr>
            <a:xfrm>
              <a:off x="102960" y="3006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25" name="Google Shape;175;p19"/>
            <p:cNvCxnSpPr/>
            <p:nvPr/>
          </p:nvCxnSpPr>
          <p:spPr>
            <a:xfrm>
              <a:off x="102960" y="3834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</p:grpSp>
      <p:sp>
        <p:nvSpPr>
          <p:cNvPr id="26" name="Google Shape;176;p19"/>
          <p:cNvSpPr/>
          <p:nvPr/>
        </p:nvSpPr>
        <p:spPr>
          <a:xfrm>
            <a:off x="8639280" y="114480"/>
            <a:ext cx="309600" cy="295200"/>
          </a:xfrm>
          <a:custGeom>
            <a:avLst/>
            <a:gdLst>
              <a:gd name="textAreaLeft" fmla="*/ 0 w 309600"/>
              <a:gd name="textAreaRight" fmla="*/ 310320 w 309600"/>
              <a:gd name="textAreaTop" fmla="*/ 0 h 295200"/>
              <a:gd name="textAreaBottom" fmla="*/ 295920 h 295200"/>
            </a:gdLst>
            <a:ahLst/>
            <a:cxnLst/>
            <a:rect l="textAreaLeft" t="textAreaTop" r="textAreaRight" b="textAreaBottom"/>
            <a:pathLst>
              <a:path w="98227" h="93770">
                <a:moveTo>
                  <a:pt x="42818" y="1"/>
                </a:moveTo>
                <a:lnTo>
                  <a:pt x="42818" y="41023"/>
                </a:lnTo>
                <a:lnTo>
                  <a:pt x="3908" y="28455"/>
                </a:lnTo>
                <a:lnTo>
                  <a:pt x="0" y="40432"/>
                </a:lnTo>
                <a:lnTo>
                  <a:pt x="38910" y="53001"/>
                </a:lnTo>
                <a:lnTo>
                  <a:pt x="14660" y="86250"/>
                </a:lnTo>
                <a:lnTo>
                  <a:pt x="24842" y="93749"/>
                </a:lnTo>
                <a:lnTo>
                  <a:pt x="49113" y="60521"/>
                </a:lnTo>
                <a:lnTo>
                  <a:pt x="73068" y="93770"/>
                </a:lnTo>
                <a:lnTo>
                  <a:pt x="83249" y="86271"/>
                </a:lnTo>
                <a:lnTo>
                  <a:pt x="59295" y="53022"/>
                </a:lnTo>
                <a:lnTo>
                  <a:pt x="98226" y="40453"/>
                </a:lnTo>
                <a:lnTo>
                  <a:pt x="94318" y="28476"/>
                </a:lnTo>
                <a:lnTo>
                  <a:pt x="55387" y="41044"/>
                </a:lnTo>
                <a:lnTo>
                  <a:pt x="55387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9;p30"/>
          <p:cNvSpPr/>
          <p:nvPr/>
        </p:nvSpPr>
        <p:spPr>
          <a:xfrm>
            <a:off x="2160" y="-5760"/>
            <a:ext cx="2202480" cy="51429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41" name="Google Shape;290;p30"/>
          <p:cNvCxnSpPr/>
          <p:nvPr/>
        </p:nvCxnSpPr>
        <p:spPr>
          <a:xfrm>
            <a:off x="-12960" y="543240"/>
            <a:ext cx="9170640" cy="72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cxnSp>
        <p:nvCxnSpPr>
          <p:cNvPr id="42" name="Google Shape;291;p30"/>
          <p:cNvCxnSpPr/>
          <p:nvPr/>
        </p:nvCxnSpPr>
        <p:spPr>
          <a:xfrm>
            <a:off x="-12960" y="4603680"/>
            <a:ext cx="9170640" cy="72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grpSp>
        <p:nvGrpSpPr>
          <p:cNvPr id="43" name="Google Shape;292;p30"/>
          <p:cNvGrpSpPr/>
          <p:nvPr/>
        </p:nvGrpSpPr>
        <p:grpSpPr>
          <a:xfrm>
            <a:off x="98640" y="141120"/>
            <a:ext cx="494640" cy="242640"/>
            <a:chOff x="98640" y="141120"/>
            <a:chExt cx="494640" cy="242640"/>
          </a:xfrm>
        </p:grpSpPr>
        <p:cxnSp>
          <p:nvCxnSpPr>
            <p:cNvPr id="44" name="Google Shape;293;p30"/>
            <p:cNvCxnSpPr/>
            <p:nvPr/>
          </p:nvCxnSpPr>
          <p:spPr>
            <a:xfrm>
              <a:off x="98640" y="14112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45" name="Google Shape;294;p30"/>
            <p:cNvCxnSpPr/>
            <p:nvPr/>
          </p:nvCxnSpPr>
          <p:spPr>
            <a:xfrm>
              <a:off x="98640" y="2196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46" name="Google Shape;295;p30"/>
            <p:cNvCxnSpPr/>
            <p:nvPr/>
          </p:nvCxnSpPr>
          <p:spPr>
            <a:xfrm>
              <a:off x="98640" y="3006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47" name="Google Shape;296;p30"/>
            <p:cNvCxnSpPr/>
            <p:nvPr/>
          </p:nvCxnSpPr>
          <p:spPr>
            <a:xfrm>
              <a:off x="98640" y="3834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</p:grpSp>
      <p:cxnSp>
        <p:nvCxnSpPr>
          <p:cNvPr id="48" name="Google Shape;297;p30"/>
          <p:cNvCxnSpPr/>
          <p:nvPr/>
        </p:nvCxnSpPr>
        <p:spPr>
          <a:xfrm>
            <a:off x="8430480" y="5400"/>
            <a:ext cx="720" cy="513288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sp>
        <p:nvSpPr>
          <p:cNvPr id="37" name="Google Shape;298;p30"/>
          <p:cNvSpPr/>
          <p:nvPr/>
        </p:nvSpPr>
        <p:spPr>
          <a:xfrm>
            <a:off x="8639280" y="114480"/>
            <a:ext cx="309600" cy="295200"/>
          </a:xfrm>
          <a:custGeom>
            <a:avLst/>
            <a:gdLst>
              <a:gd name="textAreaLeft" fmla="*/ 0 w 309600"/>
              <a:gd name="textAreaRight" fmla="*/ 310320 w 309600"/>
              <a:gd name="textAreaTop" fmla="*/ 0 h 295200"/>
              <a:gd name="textAreaBottom" fmla="*/ 295920 h 295200"/>
            </a:gdLst>
            <a:ahLst/>
            <a:cxnLst/>
            <a:rect l="textAreaLeft" t="textAreaTop" r="textAreaRight" b="textAreaBottom"/>
            <a:pathLst>
              <a:path w="98227" h="93770">
                <a:moveTo>
                  <a:pt x="42818" y="1"/>
                </a:moveTo>
                <a:lnTo>
                  <a:pt x="42818" y="41023"/>
                </a:lnTo>
                <a:lnTo>
                  <a:pt x="3908" y="28455"/>
                </a:lnTo>
                <a:lnTo>
                  <a:pt x="0" y="40432"/>
                </a:lnTo>
                <a:lnTo>
                  <a:pt x="38910" y="53001"/>
                </a:lnTo>
                <a:lnTo>
                  <a:pt x="14660" y="86250"/>
                </a:lnTo>
                <a:lnTo>
                  <a:pt x="24842" y="93749"/>
                </a:lnTo>
                <a:lnTo>
                  <a:pt x="49113" y="60521"/>
                </a:lnTo>
                <a:lnTo>
                  <a:pt x="73068" y="93770"/>
                </a:lnTo>
                <a:lnTo>
                  <a:pt x="83249" y="86271"/>
                </a:lnTo>
                <a:lnTo>
                  <a:pt x="59295" y="53022"/>
                </a:lnTo>
                <a:lnTo>
                  <a:pt x="98226" y="40453"/>
                </a:lnTo>
                <a:lnTo>
                  <a:pt x="94318" y="28476"/>
                </a:lnTo>
                <a:lnTo>
                  <a:pt x="55387" y="41044"/>
                </a:lnTo>
                <a:lnTo>
                  <a:pt x="55387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855880" y="677520"/>
            <a:ext cx="4952520" cy="105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301;p30"/>
          <p:cNvSpPr/>
          <p:nvPr/>
        </p:nvSpPr>
        <p:spPr>
          <a:xfrm>
            <a:off x="2855880" y="3492360"/>
            <a:ext cx="4952520" cy="64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ctr" defTabSz="914400">
              <a:lnSpc>
                <a:spcPct val="115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 icons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Flaticon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4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9;p30"/>
          <p:cNvSpPr/>
          <p:nvPr/>
        </p:nvSpPr>
        <p:spPr>
          <a:xfrm>
            <a:off x="2160" y="-5760"/>
            <a:ext cx="2202480" cy="51429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29" name="Google Shape;290;p30"/>
          <p:cNvCxnSpPr/>
          <p:nvPr/>
        </p:nvCxnSpPr>
        <p:spPr>
          <a:xfrm>
            <a:off x="-12960" y="543240"/>
            <a:ext cx="9170640" cy="72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cxnSp>
        <p:nvCxnSpPr>
          <p:cNvPr id="30" name="Google Shape;291;p30"/>
          <p:cNvCxnSpPr/>
          <p:nvPr/>
        </p:nvCxnSpPr>
        <p:spPr>
          <a:xfrm>
            <a:off x="-12960" y="4603680"/>
            <a:ext cx="9170640" cy="72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grpSp>
        <p:nvGrpSpPr>
          <p:cNvPr id="31" name="Google Shape;292;p30"/>
          <p:cNvGrpSpPr/>
          <p:nvPr/>
        </p:nvGrpSpPr>
        <p:grpSpPr>
          <a:xfrm>
            <a:off x="98640" y="141120"/>
            <a:ext cx="494640" cy="242640"/>
            <a:chOff x="98640" y="141120"/>
            <a:chExt cx="494640" cy="242640"/>
          </a:xfrm>
        </p:grpSpPr>
        <p:cxnSp>
          <p:nvCxnSpPr>
            <p:cNvPr id="32" name="Google Shape;293;p30"/>
            <p:cNvCxnSpPr/>
            <p:nvPr/>
          </p:nvCxnSpPr>
          <p:spPr>
            <a:xfrm>
              <a:off x="98640" y="14112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33" name="Google Shape;294;p30"/>
            <p:cNvCxnSpPr/>
            <p:nvPr/>
          </p:nvCxnSpPr>
          <p:spPr>
            <a:xfrm>
              <a:off x="98640" y="2196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34" name="Google Shape;295;p30"/>
            <p:cNvCxnSpPr/>
            <p:nvPr/>
          </p:nvCxnSpPr>
          <p:spPr>
            <a:xfrm>
              <a:off x="98640" y="3006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35" name="Google Shape;296;p30"/>
            <p:cNvCxnSpPr/>
            <p:nvPr/>
          </p:nvCxnSpPr>
          <p:spPr>
            <a:xfrm>
              <a:off x="98640" y="3834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</p:grpSp>
      <p:cxnSp>
        <p:nvCxnSpPr>
          <p:cNvPr id="36" name="Google Shape;297;p30"/>
          <p:cNvCxnSpPr/>
          <p:nvPr/>
        </p:nvCxnSpPr>
        <p:spPr>
          <a:xfrm>
            <a:off x="8430480" y="5400"/>
            <a:ext cx="720" cy="513288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sp>
        <p:nvSpPr>
          <p:cNvPr id="37" name="Google Shape;298;p30"/>
          <p:cNvSpPr/>
          <p:nvPr/>
        </p:nvSpPr>
        <p:spPr>
          <a:xfrm>
            <a:off x="8639280" y="114480"/>
            <a:ext cx="309600" cy="295200"/>
          </a:xfrm>
          <a:custGeom>
            <a:avLst/>
            <a:gdLst>
              <a:gd name="textAreaLeft" fmla="*/ 0 w 309600"/>
              <a:gd name="textAreaRight" fmla="*/ 310320 w 309600"/>
              <a:gd name="textAreaTop" fmla="*/ 0 h 295200"/>
              <a:gd name="textAreaBottom" fmla="*/ 295920 h 295200"/>
            </a:gdLst>
            <a:ahLst/>
            <a:cxnLst/>
            <a:rect l="textAreaLeft" t="textAreaTop" r="textAreaRight" b="textAreaBottom"/>
            <a:pathLst>
              <a:path w="98227" h="93770">
                <a:moveTo>
                  <a:pt x="42818" y="1"/>
                </a:moveTo>
                <a:lnTo>
                  <a:pt x="42818" y="41023"/>
                </a:lnTo>
                <a:lnTo>
                  <a:pt x="3908" y="28455"/>
                </a:lnTo>
                <a:lnTo>
                  <a:pt x="0" y="40432"/>
                </a:lnTo>
                <a:lnTo>
                  <a:pt x="38910" y="53001"/>
                </a:lnTo>
                <a:lnTo>
                  <a:pt x="14660" y="86250"/>
                </a:lnTo>
                <a:lnTo>
                  <a:pt x="24842" y="93749"/>
                </a:lnTo>
                <a:lnTo>
                  <a:pt x="49113" y="60521"/>
                </a:lnTo>
                <a:lnTo>
                  <a:pt x="73068" y="93770"/>
                </a:lnTo>
                <a:lnTo>
                  <a:pt x="83249" y="86271"/>
                </a:lnTo>
                <a:lnTo>
                  <a:pt x="59295" y="53022"/>
                </a:lnTo>
                <a:lnTo>
                  <a:pt x="98226" y="40453"/>
                </a:lnTo>
                <a:lnTo>
                  <a:pt x="94318" y="28476"/>
                </a:lnTo>
                <a:lnTo>
                  <a:pt x="55387" y="41044"/>
                </a:lnTo>
                <a:lnTo>
                  <a:pt x="55387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855880" y="677520"/>
            <a:ext cx="4952520" cy="105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pt-B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Google Shape;301;p30"/>
          <p:cNvSpPr/>
          <p:nvPr/>
        </p:nvSpPr>
        <p:spPr>
          <a:xfrm>
            <a:off x="2855880" y="3492360"/>
            <a:ext cx="4952520" cy="64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t">
            <a:noAutofit/>
          </a:bodyPr>
          <a:lstStyle/>
          <a:p>
            <a:pPr algn="ctr" defTabSz="914400">
              <a:lnSpc>
                <a:spcPct val="115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 icons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Flaticon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4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CUSTOM_1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87480" y="938160"/>
            <a:ext cx="7313400" cy="91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67;p19"/>
          <p:cNvSpPr/>
          <p:nvPr/>
        </p:nvSpPr>
        <p:spPr>
          <a:xfrm>
            <a:off x="-12600" y="-18000"/>
            <a:ext cx="725400" cy="51789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57" name="Google Shape;168;p19"/>
          <p:cNvCxnSpPr/>
          <p:nvPr/>
        </p:nvCxnSpPr>
        <p:spPr>
          <a:xfrm>
            <a:off x="-12960" y="543240"/>
            <a:ext cx="9170640" cy="72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cxnSp>
        <p:nvCxnSpPr>
          <p:cNvPr id="58" name="Google Shape;169;p19"/>
          <p:cNvCxnSpPr/>
          <p:nvPr/>
        </p:nvCxnSpPr>
        <p:spPr>
          <a:xfrm>
            <a:off x="-12960" y="4603680"/>
            <a:ext cx="9170640" cy="72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cxnSp>
        <p:nvCxnSpPr>
          <p:cNvPr id="59" name="Google Shape;170;p19"/>
          <p:cNvCxnSpPr/>
          <p:nvPr/>
        </p:nvCxnSpPr>
        <p:spPr>
          <a:xfrm>
            <a:off x="713160" y="-10800"/>
            <a:ext cx="720" cy="516600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grpSp>
        <p:nvGrpSpPr>
          <p:cNvPr id="60" name="Google Shape;171;p19"/>
          <p:cNvGrpSpPr/>
          <p:nvPr/>
        </p:nvGrpSpPr>
        <p:grpSpPr>
          <a:xfrm>
            <a:off x="102960" y="141120"/>
            <a:ext cx="494640" cy="242640"/>
            <a:chOff x="102960" y="141120"/>
            <a:chExt cx="494640" cy="242640"/>
          </a:xfrm>
        </p:grpSpPr>
        <p:cxnSp>
          <p:nvCxnSpPr>
            <p:cNvPr id="61" name="Google Shape;172;p19"/>
            <p:cNvCxnSpPr/>
            <p:nvPr/>
          </p:nvCxnSpPr>
          <p:spPr>
            <a:xfrm>
              <a:off x="102960" y="14112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62" name="Google Shape;173;p19"/>
            <p:cNvCxnSpPr/>
            <p:nvPr/>
          </p:nvCxnSpPr>
          <p:spPr>
            <a:xfrm>
              <a:off x="102960" y="2196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63" name="Google Shape;174;p19"/>
            <p:cNvCxnSpPr/>
            <p:nvPr/>
          </p:nvCxnSpPr>
          <p:spPr>
            <a:xfrm>
              <a:off x="102960" y="3006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64" name="Google Shape;175;p19"/>
            <p:cNvCxnSpPr/>
            <p:nvPr/>
          </p:nvCxnSpPr>
          <p:spPr>
            <a:xfrm>
              <a:off x="102960" y="3834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</p:grpSp>
      <p:sp>
        <p:nvSpPr>
          <p:cNvPr id="65" name="Google Shape;176;p19"/>
          <p:cNvSpPr/>
          <p:nvPr/>
        </p:nvSpPr>
        <p:spPr>
          <a:xfrm>
            <a:off x="8639280" y="114480"/>
            <a:ext cx="309600" cy="295200"/>
          </a:xfrm>
          <a:custGeom>
            <a:avLst/>
            <a:gdLst>
              <a:gd name="textAreaLeft" fmla="*/ 0 w 309600"/>
              <a:gd name="textAreaRight" fmla="*/ 310320 w 309600"/>
              <a:gd name="textAreaTop" fmla="*/ 0 h 295200"/>
              <a:gd name="textAreaBottom" fmla="*/ 295920 h 295200"/>
            </a:gdLst>
            <a:ahLst/>
            <a:cxnLst/>
            <a:rect l="textAreaLeft" t="textAreaTop" r="textAreaRight" b="textAreaBottom"/>
            <a:pathLst>
              <a:path w="98227" h="93770">
                <a:moveTo>
                  <a:pt x="42818" y="1"/>
                </a:moveTo>
                <a:lnTo>
                  <a:pt x="42818" y="41023"/>
                </a:lnTo>
                <a:lnTo>
                  <a:pt x="3908" y="28455"/>
                </a:lnTo>
                <a:lnTo>
                  <a:pt x="0" y="40432"/>
                </a:lnTo>
                <a:lnTo>
                  <a:pt x="38910" y="53001"/>
                </a:lnTo>
                <a:lnTo>
                  <a:pt x="14660" y="86250"/>
                </a:lnTo>
                <a:lnTo>
                  <a:pt x="24842" y="93749"/>
                </a:lnTo>
                <a:lnTo>
                  <a:pt x="49113" y="60521"/>
                </a:lnTo>
                <a:lnTo>
                  <a:pt x="73068" y="93770"/>
                </a:lnTo>
                <a:lnTo>
                  <a:pt x="83249" y="86271"/>
                </a:lnTo>
                <a:lnTo>
                  <a:pt x="59295" y="53022"/>
                </a:lnTo>
                <a:lnTo>
                  <a:pt x="98226" y="40453"/>
                </a:lnTo>
                <a:lnTo>
                  <a:pt x="94318" y="28476"/>
                </a:lnTo>
                <a:lnTo>
                  <a:pt x="55387" y="41044"/>
                </a:lnTo>
                <a:lnTo>
                  <a:pt x="55387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855880" y="581400"/>
            <a:ext cx="4952520" cy="1250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>
              <a:spcBef>
                <a:spcPts val="1417"/>
              </a:spcBef>
              <a:buNone/>
            </a:pP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CUSTOM_1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87480" y="938160"/>
            <a:ext cx="7313400" cy="91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67;p19"/>
          <p:cNvSpPr/>
          <p:nvPr/>
        </p:nvSpPr>
        <p:spPr>
          <a:xfrm>
            <a:off x="-12600" y="-18000"/>
            <a:ext cx="725400" cy="51789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57" name="Google Shape;168;p19"/>
          <p:cNvCxnSpPr/>
          <p:nvPr/>
        </p:nvCxnSpPr>
        <p:spPr>
          <a:xfrm>
            <a:off x="-12960" y="543240"/>
            <a:ext cx="9170640" cy="72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cxnSp>
        <p:nvCxnSpPr>
          <p:cNvPr id="58" name="Google Shape;169;p19"/>
          <p:cNvCxnSpPr/>
          <p:nvPr/>
        </p:nvCxnSpPr>
        <p:spPr>
          <a:xfrm>
            <a:off x="-12960" y="4603680"/>
            <a:ext cx="9170640" cy="72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cxnSp>
        <p:nvCxnSpPr>
          <p:cNvPr id="59" name="Google Shape;170;p19"/>
          <p:cNvCxnSpPr/>
          <p:nvPr/>
        </p:nvCxnSpPr>
        <p:spPr>
          <a:xfrm>
            <a:off x="713160" y="-10800"/>
            <a:ext cx="720" cy="516600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grpSp>
        <p:nvGrpSpPr>
          <p:cNvPr id="60" name="Google Shape;171;p19"/>
          <p:cNvGrpSpPr/>
          <p:nvPr/>
        </p:nvGrpSpPr>
        <p:grpSpPr>
          <a:xfrm>
            <a:off x="102960" y="141120"/>
            <a:ext cx="494640" cy="242640"/>
            <a:chOff x="102960" y="141120"/>
            <a:chExt cx="494640" cy="242640"/>
          </a:xfrm>
        </p:grpSpPr>
        <p:cxnSp>
          <p:nvCxnSpPr>
            <p:cNvPr id="61" name="Google Shape;172;p19"/>
            <p:cNvCxnSpPr/>
            <p:nvPr/>
          </p:nvCxnSpPr>
          <p:spPr>
            <a:xfrm>
              <a:off x="102960" y="14112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62" name="Google Shape;173;p19"/>
            <p:cNvCxnSpPr/>
            <p:nvPr/>
          </p:nvCxnSpPr>
          <p:spPr>
            <a:xfrm>
              <a:off x="102960" y="2196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63" name="Google Shape;174;p19"/>
            <p:cNvCxnSpPr/>
            <p:nvPr/>
          </p:nvCxnSpPr>
          <p:spPr>
            <a:xfrm>
              <a:off x="102960" y="3006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64" name="Google Shape;175;p19"/>
            <p:cNvCxnSpPr/>
            <p:nvPr/>
          </p:nvCxnSpPr>
          <p:spPr>
            <a:xfrm>
              <a:off x="102960" y="3834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</p:grpSp>
      <p:sp>
        <p:nvSpPr>
          <p:cNvPr id="65" name="Google Shape;176;p19"/>
          <p:cNvSpPr/>
          <p:nvPr/>
        </p:nvSpPr>
        <p:spPr>
          <a:xfrm>
            <a:off x="8639280" y="114480"/>
            <a:ext cx="309600" cy="295200"/>
          </a:xfrm>
          <a:custGeom>
            <a:avLst/>
            <a:gdLst>
              <a:gd name="textAreaLeft" fmla="*/ 0 w 309600"/>
              <a:gd name="textAreaRight" fmla="*/ 310320 w 309600"/>
              <a:gd name="textAreaTop" fmla="*/ 0 h 295200"/>
              <a:gd name="textAreaBottom" fmla="*/ 295920 h 295200"/>
            </a:gdLst>
            <a:ahLst/>
            <a:cxnLst/>
            <a:rect l="textAreaLeft" t="textAreaTop" r="textAreaRight" b="textAreaBottom"/>
            <a:pathLst>
              <a:path w="98227" h="93770">
                <a:moveTo>
                  <a:pt x="42818" y="1"/>
                </a:moveTo>
                <a:lnTo>
                  <a:pt x="42818" y="41023"/>
                </a:lnTo>
                <a:lnTo>
                  <a:pt x="3908" y="28455"/>
                </a:lnTo>
                <a:lnTo>
                  <a:pt x="0" y="40432"/>
                </a:lnTo>
                <a:lnTo>
                  <a:pt x="38910" y="53001"/>
                </a:lnTo>
                <a:lnTo>
                  <a:pt x="14660" y="86250"/>
                </a:lnTo>
                <a:lnTo>
                  <a:pt x="24842" y="93749"/>
                </a:lnTo>
                <a:lnTo>
                  <a:pt x="49113" y="60521"/>
                </a:lnTo>
                <a:lnTo>
                  <a:pt x="73068" y="93770"/>
                </a:lnTo>
                <a:lnTo>
                  <a:pt x="83249" y="86271"/>
                </a:lnTo>
                <a:lnTo>
                  <a:pt x="59295" y="53022"/>
                </a:lnTo>
                <a:lnTo>
                  <a:pt x="98226" y="40453"/>
                </a:lnTo>
                <a:lnTo>
                  <a:pt x="94318" y="28476"/>
                </a:lnTo>
                <a:lnTo>
                  <a:pt x="55387" y="41044"/>
                </a:lnTo>
                <a:lnTo>
                  <a:pt x="55387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900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>
            <a:off x="-12600" y="-18000"/>
            <a:ext cx="725400" cy="517896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cxnSp>
        <p:nvCxnSpPr>
          <p:cNvPr id="3" name="Google Shape;10;p2"/>
          <p:cNvCxnSpPr/>
          <p:nvPr/>
        </p:nvCxnSpPr>
        <p:spPr>
          <a:xfrm>
            <a:off x="-12960" y="543240"/>
            <a:ext cx="9170640" cy="72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cxnSp>
        <p:nvCxnSpPr>
          <p:cNvPr id="4" name="Google Shape;11;p2"/>
          <p:cNvCxnSpPr/>
          <p:nvPr/>
        </p:nvCxnSpPr>
        <p:spPr>
          <a:xfrm>
            <a:off x="-12960" y="4603680"/>
            <a:ext cx="9170640" cy="72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cxnSp>
        <p:nvCxnSpPr>
          <p:cNvPr id="5" name="Google Shape;12;p2"/>
          <p:cNvCxnSpPr/>
          <p:nvPr/>
        </p:nvCxnSpPr>
        <p:spPr>
          <a:xfrm>
            <a:off x="713160" y="-10800"/>
            <a:ext cx="720" cy="5166000"/>
          </a:xfrm>
          <a:prstGeom prst="straightConnector1">
            <a:avLst/>
          </a:prstGeom>
          <a:ln w="9525">
            <a:solidFill>
              <a:srgbClr val="070709"/>
            </a:solidFill>
            <a:round/>
          </a:ln>
        </p:spPr>
      </p:cxnSp>
      <p:grpSp>
        <p:nvGrpSpPr>
          <p:cNvPr id="6" name="Google Shape;13;p2"/>
          <p:cNvGrpSpPr/>
          <p:nvPr/>
        </p:nvGrpSpPr>
        <p:grpSpPr>
          <a:xfrm>
            <a:off x="8547120" y="141120"/>
            <a:ext cx="494640" cy="242640"/>
            <a:chOff x="8547120" y="141120"/>
            <a:chExt cx="494640" cy="242640"/>
          </a:xfrm>
        </p:grpSpPr>
        <p:cxnSp>
          <p:nvCxnSpPr>
            <p:cNvPr id="7" name="Google Shape;14;p2"/>
            <p:cNvCxnSpPr/>
            <p:nvPr/>
          </p:nvCxnSpPr>
          <p:spPr>
            <a:xfrm>
              <a:off x="8547120" y="14112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8" name="Google Shape;15;p2"/>
            <p:cNvCxnSpPr/>
            <p:nvPr/>
          </p:nvCxnSpPr>
          <p:spPr>
            <a:xfrm>
              <a:off x="8547120" y="2196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9" name="Google Shape;16;p2"/>
            <p:cNvCxnSpPr/>
            <p:nvPr/>
          </p:nvCxnSpPr>
          <p:spPr>
            <a:xfrm>
              <a:off x="8547120" y="3006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  <p:cxnSp>
          <p:nvCxnSpPr>
            <p:cNvPr id="10" name="Google Shape;17;p2"/>
            <p:cNvCxnSpPr/>
            <p:nvPr/>
          </p:nvCxnSpPr>
          <p:spPr>
            <a:xfrm>
              <a:off x="8547120" y="383400"/>
              <a:ext cx="495000" cy="720"/>
            </a:xfrm>
            <a:prstGeom prst="straightConnector1">
              <a:avLst/>
            </a:prstGeom>
            <a:ln w="9525">
              <a:solidFill>
                <a:srgbClr val="070709"/>
              </a:solidFill>
              <a:round/>
            </a:ln>
          </p:spPr>
        </p:cxnSp>
      </p:grpSp>
      <p:sp>
        <p:nvSpPr>
          <p:cNvPr id="11" name="Google Shape;18;p2"/>
          <p:cNvSpPr/>
          <p:nvPr/>
        </p:nvSpPr>
        <p:spPr>
          <a:xfrm>
            <a:off x="191880" y="114480"/>
            <a:ext cx="309600" cy="295200"/>
          </a:xfrm>
          <a:custGeom>
            <a:avLst/>
            <a:gdLst>
              <a:gd name="textAreaLeft" fmla="*/ 0 w 309600"/>
              <a:gd name="textAreaRight" fmla="*/ 310320 w 309600"/>
              <a:gd name="textAreaTop" fmla="*/ 0 h 295200"/>
              <a:gd name="textAreaBottom" fmla="*/ 295920 h 295200"/>
            </a:gdLst>
            <a:ahLst/>
            <a:cxnLst/>
            <a:rect l="textAreaLeft" t="textAreaTop" r="textAreaRight" b="textAreaBottom"/>
            <a:pathLst>
              <a:path w="98227" h="93770">
                <a:moveTo>
                  <a:pt x="42818" y="1"/>
                </a:moveTo>
                <a:lnTo>
                  <a:pt x="42818" y="41023"/>
                </a:lnTo>
                <a:lnTo>
                  <a:pt x="3908" y="28455"/>
                </a:lnTo>
                <a:lnTo>
                  <a:pt x="0" y="40432"/>
                </a:lnTo>
                <a:lnTo>
                  <a:pt x="38910" y="53001"/>
                </a:lnTo>
                <a:lnTo>
                  <a:pt x="14660" y="86250"/>
                </a:lnTo>
                <a:lnTo>
                  <a:pt x="24842" y="93749"/>
                </a:lnTo>
                <a:lnTo>
                  <a:pt x="49113" y="60521"/>
                </a:lnTo>
                <a:lnTo>
                  <a:pt x="73068" y="93770"/>
                </a:lnTo>
                <a:lnTo>
                  <a:pt x="83249" y="86271"/>
                </a:lnTo>
                <a:lnTo>
                  <a:pt x="59295" y="53022"/>
                </a:lnTo>
                <a:lnTo>
                  <a:pt x="98226" y="40453"/>
                </a:lnTo>
                <a:lnTo>
                  <a:pt x="94318" y="28476"/>
                </a:lnTo>
                <a:lnTo>
                  <a:pt x="55387" y="41044"/>
                </a:lnTo>
                <a:lnTo>
                  <a:pt x="55387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 anchor="ctr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6200" y="1427400"/>
            <a:ext cx="7310520" cy="165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pt-BR" sz="5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855880" y="1069200"/>
            <a:ext cx="4952520" cy="27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buClr>
                <a:srgbClr val="000000"/>
              </a:buClr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buClr>
                <a:srgbClr val="000000"/>
              </a:buClr>
              <a:buSzPct val="75000"/>
              <a:buFont typeface="Symbol" charset="2"/>
              <a:buChar char="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buClr>
                <a:srgbClr val="000000"/>
              </a:buClr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</a:p>
          <a:p>
            <a:pPr marL="864000" lvl="1" indent="-324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</a:p>
          <a:p>
            <a:pPr marL="1296000" lvl="2" indent="-288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</a:p>
          <a:p>
            <a:pPr marL="1728000" lvl="3" indent="-216000" algn="l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</a:p>
          <a:p>
            <a:pPr marL="216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</a:p>
          <a:p>
            <a:pPr marL="2592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</a:p>
          <a:p>
            <a:pPr marL="3024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14400" y="1428840"/>
            <a:ext cx="7314480" cy="196845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1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Revisão</a:t>
            </a:r>
            <a:r>
              <a:rPr lang="en-US" sz="41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 </a:t>
            </a:r>
            <a:endParaRPr lang="pt-BR" sz="4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Pensamento</a:t>
            </a: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50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Lógico</a:t>
            </a: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50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Computacional</a:t>
            </a: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com Python</a:t>
            </a:r>
            <a:b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</a:b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NP2</a:t>
            </a:r>
            <a:endParaRPr lang="pt-BR" sz="5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330;p36"/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ctr">
            <a:normAutofit fontScale="25000" lnSpcReduction="2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&gt;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tângulo 69"/>
          <p:cNvSpPr/>
          <p:nvPr/>
        </p:nvSpPr>
        <p:spPr>
          <a:xfrm>
            <a:off x="5048280" y="257040"/>
            <a:ext cx="2285280" cy="80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pt-BR" sz="5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tângulo 70"/>
          <p:cNvSpPr/>
          <p:nvPr/>
        </p:nvSpPr>
        <p:spPr>
          <a:xfrm>
            <a:off x="5048280" y="1065960"/>
            <a:ext cx="3475800" cy="34034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</a:rPr>
              <a:t>Variáveis</a:t>
            </a: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 </a:t>
            </a:r>
            <a:r>
              <a:rPr lang="en-US" sz="40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</a:rPr>
              <a:t>compostas</a:t>
            </a: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: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Listas, Dicionários,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000" dirty="0">
                <a:solidFill>
                  <a:srgbClr val="000000"/>
                </a:solidFill>
                <a:latin typeface="Arial"/>
              </a:rPr>
              <a:t>Tuplas,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Conjuntos</a:t>
            </a:r>
          </a:p>
        </p:txBody>
      </p:sp>
      <p:sp>
        <p:nvSpPr>
          <p:cNvPr id="72" name="image69fb764b1df2c" descr="image69fb764b1df2d"/>
          <p:cNvSpPr/>
          <p:nvPr/>
        </p:nvSpPr>
        <p:spPr>
          <a:xfrm>
            <a:off x="228600" y="257040"/>
            <a:ext cx="4114080" cy="462852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tângulo 92"/>
          <p:cNvSpPr/>
          <p:nvPr/>
        </p:nvSpPr>
        <p:spPr>
          <a:xfrm>
            <a:off x="5048280" y="619200"/>
            <a:ext cx="3475800" cy="80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Mutabilidade vs Imutabilidade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tângulo 93"/>
          <p:cNvSpPr/>
          <p:nvPr/>
        </p:nvSpPr>
        <p:spPr>
          <a:xfrm>
            <a:off x="5048280" y="1905120"/>
            <a:ext cx="3475800" cy="26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Estruturas mutáveis (listas, dicionários) permitem alteração após criação.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Estruturas imutáveis (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tuplas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, strings) não aceitam adição ou remoção de elementos, garantindo previsibilidade e uso seguro como chaves.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image69fb764b3ce38" descr="image69fb764b3ce3b"/>
          <p:cNvSpPr/>
          <p:nvPr/>
        </p:nvSpPr>
        <p:spPr>
          <a:xfrm>
            <a:off x="228600" y="257040"/>
            <a:ext cx="4114080" cy="462852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990720" y="933480"/>
            <a:ext cx="7829280" cy="506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Listas (estrutura, índice, mutabilidade)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990720" y="1933560"/>
            <a:ext cx="7314480" cy="226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Listas em Python são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ordenadas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indexadas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e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mutáveis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Permitem elementos de tipos mistos e armazenar outras listas (listas aninhadas).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Principais características: indexação por inteiro, suporte a slicing e métodos para adicionar, remover e alterar itens.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410;p 1"/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411;p 1"/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990720" y="648187"/>
            <a:ext cx="7314480" cy="5911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Revisão</a:t>
            </a: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35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questão</a:t>
            </a: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01 – </a:t>
            </a:r>
            <a:r>
              <a:rPr lang="en-US" sz="35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Listas</a:t>
            </a: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[]</a:t>
            </a:r>
            <a:endParaRPr lang="pt-BR" sz="35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990720" y="1755381"/>
            <a:ext cx="7314480" cy="24443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0000"/>
          </a:bodyPr>
          <a:lstStyle/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Sobre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a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estrutura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de dados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lista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[] no Python,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assinale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a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alternativa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correta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:</a:t>
            </a: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A) É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uma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coleção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obrigatoriamente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de um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único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tipo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de dado.</a:t>
            </a:r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B)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Trata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-se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uma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estrutura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imutável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após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sua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criação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.</a:t>
            </a:r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C) É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uma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coleção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não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indexada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elementos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.</a:t>
            </a:r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D) É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uma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estrutura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ordenada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indexada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mutável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.</a:t>
            </a:r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E)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Não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permite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o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armazenamento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outras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listas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em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seu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interior. </a:t>
            </a:r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</p:txBody>
      </p:sp>
      <p:sp>
        <p:nvSpPr>
          <p:cNvPr id="75" name="Google Shape;410;p43"/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411;p43"/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230B5-1F7A-B58C-65D1-FC99D0C1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>
            <a:extLst>
              <a:ext uri="{FF2B5EF4-FFF2-40B4-BE49-F238E27FC236}">
                <a16:creationId xmlns:a16="http://schemas.microsoft.com/office/drawing/2014/main" id="{B9C4D415-4350-2D2B-8C5E-F26DB40B4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648187"/>
            <a:ext cx="7314480" cy="5911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Revisão</a:t>
            </a: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35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questão</a:t>
            </a: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01 – </a:t>
            </a:r>
            <a:r>
              <a:rPr lang="en-US" sz="35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Listas</a:t>
            </a: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[]</a:t>
            </a:r>
            <a:endParaRPr lang="pt-BR" sz="35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</p:txBody>
      </p:sp>
      <p:sp>
        <p:nvSpPr>
          <p:cNvPr id="74" name="PlaceHolder 2">
            <a:extLst>
              <a:ext uri="{FF2B5EF4-FFF2-40B4-BE49-F238E27FC236}">
                <a16:creationId xmlns:a16="http://schemas.microsoft.com/office/drawing/2014/main" id="{3682AEB6-E96C-A864-EC41-FF7B41BB441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990720" y="1755381"/>
            <a:ext cx="7314480" cy="244437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0000"/>
          </a:bodyPr>
          <a:lstStyle/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Sobre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a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estrutura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de dados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lista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[] no Python,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assinale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a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alternativa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8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correta</a:t>
            </a: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:</a:t>
            </a: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A) É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uma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coleção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obrigatoriamente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de um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único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tipo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de dado.</a:t>
            </a:r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B)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Trata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-se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uma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estrutura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imutável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após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sua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criação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.</a:t>
            </a:r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C) É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uma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coleção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não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indexada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elementos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.</a:t>
            </a:r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D) É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uma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estrutura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ordenada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indexada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e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mutável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.</a:t>
            </a:r>
            <a:endParaRPr lang="pt-BR" sz="1400" b="1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E)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Não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permite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o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armazenamento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de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outras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listas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em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seu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interior. </a:t>
            </a:r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</p:txBody>
      </p:sp>
      <p:sp>
        <p:nvSpPr>
          <p:cNvPr id="75" name="Google Shape;410;p43">
            <a:extLst>
              <a:ext uri="{FF2B5EF4-FFF2-40B4-BE49-F238E27FC236}">
                <a16:creationId xmlns:a16="http://schemas.microsoft.com/office/drawing/2014/main" id="{0CAF8DC0-92C0-84EA-2050-D79274CA9988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411;p43">
            <a:extLst>
              <a:ext uri="{FF2B5EF4-FFF2-40B4-BE49-F238E27FC236}">
                <a16:creationId xmlns:a16="http://schemas.microsoft.com/office/drawing/2014/main" id="{D3BFAED5-75A3-1A58-BF2F-F2BA163CC1AE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0064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990720" y="553980"/>
            <a:ext cx="7314480" cy="84765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02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Sobre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Métodos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(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subfunções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) da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variável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composta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tipo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“Lista” ,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analise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o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código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abaixo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: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</p:txBody>
      </p:sp>
      <p:sp>
        <p:nvSpPr>
          <p:cNvPr id="82" name="Google Shape;410;p 2"/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/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44F0BE7-A845-0BAA-665B-E8B902F73E07}"/>
              </a:ext>
            </a:extLst>
          </p:cNvPr>
          <p:cNvSpPr txBox="1"/>
          <p:nvPr/>
        </p:nvSpPr>
        <p:spPr>
          <a:xfrm>
            <a:off x="4372279" y="1716214"/>
            <a:ext cx="3932921" cy="102592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cores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[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"Verde"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"Azul"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"Branco"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cores.insert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"Amarelo"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print(cores[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D28A265-47AA-ECFB-8417-2141B33B0B3A}"/>
              </a:ext>
            </a:extLst>
          </p:cNvPr>
          <p:cNvSpPr txBox="1"/>
          <p:nvPr/>
        </p:nvSpPr>
        <p:spPr>
          <a:xfrm>
            <a:off x="990720" y="1694587"/>
            <a:ext cx="33076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>
                <a:effectLst/>
              </a:rPr>
              <a:t>Qual será o resultado exibido?</a:t>
            </a:r>
          </a:p>
          <a:p>
            <a:pPr marL="342900" indent="-342900">
              <a:buAutoNum type="alphaUcParenR"/>
            </a:pPr>
            <a:r>
              <a:rPr lang="pt-BR" dirty="0">
                <a:effectLst/>
              </a:rPr>
              <a:t>Verde </a:t>
            </a:r>
          </a:p>
          <a:p>
            <a:pPr marL="342900" indent="-342900">
              <a:buAutoNum type="alphaUcParenR"/>
            </a:pPr>
            <a:r>
              <a:rPr lang="pt-BR" dirty="0">
                <a:effectLst/>
              </a:rPr>
              <a:t>Azul </a:t>
            </a:r>
          </a:p>
          <a:p>
            <a:pPr marL="342900" indent="-342900">
              <a:buAutoNum type="alphaUcParenR"/>
            </a:pPr>
            <a:r>
              <a:rPr lang="pt-BR" dirty="0">
                <a:effectLst/>
              </a:rPr>
              <a:t>Amarelo </a:t>
            </a:r>
          </a:p>
          <a:p>
            <a:pPr marL="342900" indent="-342900">
              <a:buAutoNum type="alphaUcParenR"/>
            </a:pPr>
            <a:r>
              <a:rPr lang="pt-BR" dirty="0">
                <a:effectLst/>
              </a:rPr>
              <a:t>Branco </a:t>
            </a:r>
          </a:p>
          <a:p>
            <a:pPr marL="342900" indent="-342900">
              <a:buAutoNum type="alphaUcParenR"/>
            </a:pPr>
            <a:r>
              <a:rPr lang="pt-BR" dirty="0">
                <a:effectLst/>
              </a:rPr>
              <a:t>Erro de execução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627F-7792-8171-D2E2-E4AF19BF9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6B7D15C1-9106-FB42-5753-1625B0A89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553980"/>
            <a:ext cx="7314480" cy="84765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02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Sobre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Métodos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(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subfunções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) da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variável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composta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tipo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“Lista” ,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analise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o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código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abaixo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: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B246DEC1-930B-B64E-4239-9DD05D9B0B6E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BDD69D0C-3D09-AE4B-0F82-3F407278F933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E68166A-3BA6-4CDE-7C0D-81C3EB345BD0}"/>
              </a:ext>
            </a:extLst>
          </p:cNvPr>
          <p:cNvSpPr txBox="1"/>
          <p:nvPr/>
        </p:nvSpPr>
        <p:spPr>
          <a:xfrm>
            <a:off x="4372279" y="1716214"/>
            <a:ext cx="3932921" cy="1025922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cores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[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"Verde"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"Azul"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"Branco"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cores.insert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"Amarelo"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print(cores[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56D46FE-7447-099F-5105-A535D12B8142}"/>
              </a:ext>
            </a:extLst>
          </p:cNvPr>
          <p:cNvSpPr txBox="1"/>
          <p:nvPr/>
        </p:nvSpPr>
        <p:spPr>
          <a:xfrm>
            <a:off x="990720" y="1694587"/>
            <a:ext cx="330762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dirty="0">
                <a:effectLst/>
              </a:rPr>
              <a:t>Qual será o resultado exibido?</a:t>
            </a:r>
          </a:p>
          <a:p>
            <a:pPr marL="342900" indent="-342900">
              <a:buAutoNum type="alphaUcParenR"/>
            </a:pPr>
            <a:r>
              <a:rPr lang="pt-BR" dirty="0">
                <a:effectLst/>
              </a:rPr>
              <a:t>Verde </a:t>
            </a:r>
          </a:p>
          <a:p>
            <a:pPr marL="342900" indent="-342900">
              <a:buAutoNum type="alphaUcParenR"/>
            </a:pPr>
            <a:r>
              <a:rPr lang="pt-BR" dirty="0">
                <a:effectLst/>
              </a:rPr>
              <a:t>Azul </a:t>
            </a:r>
          </a:p>
          <a:p>
            <a:pPr marL="342900" indent="-342900">
              <a:buAutoNum type="alphaUcParenR"/>
            </a:pPr>
            <a:r>
              <a:rPr lang="pt-BR" b="1" dirty="0">
                <a:effectLst/>
              </a:rPr>
              <a:t>Amarelo</a:t>
            </a:r>
            <a:r>
              <a:rPr lang="pt-BR" dirty="0">
                <a:effectLst/>
              </a:rPr>
              <a:t> </a:t>
            </a:r>
          </a:p>
          <a:p>
            <a:pPr marL="342900" indent="-342900">
              <a:buAutoNum type="alphaUcParenR"/>
            </a:pPr>
            <a:r>
              <a:rPr lang="pt-BR" dirty="0">
                <a:effectLst/>
              </a:rPr>
              <a:t>Branco </a:t>
            </a:r>
          </a:p>
          <a:p>
            <a:pPr marL="342900" indent="-342900">
              <a:buAutoNum type="alphaUcParenR"/>
            </a:pPr>
            <a:r>
              <a:rPr lang="pt-BR" dirty="0">
                <a:effectLst/>
              </a:rPr>
              <a:t>Erro de execução</a:t>
            </a:r>
          </a:p>
        </p:txBody>
      </p:sp>
    </p:spTree>
    <p:extLst>
      <p:ext uri="{BB962C8B-B14F-4D97-AF65-F5344CB8AC3E}">
        <p14:creationId xmlns:p14="http://schemas.microsoft.com/office/powerpoint/2010/main" val="1458578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tângulo 84"/>
          <p:cNvSpPr/>
          <p:nvPr/>
        </p:nvSpPr>
        <p:spPr>
          <a:xfrm>
            <a:off x="619200" y="619200"/>
            <a:ext cx="7904880" cy="5755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</a:rPr>
              <a:t>Métodos</a:t>
            </a: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 de </a:t>
            </a:r>
            <a:r>
              <a:rPr lang="en-US" sz="35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</a:rPr>
              <a:t>lista</a:t>
            </a: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 </a:t>
            </a:r>
            <a:r>
              <a:rPr lang="en-US" sz="3500" b="1" i="1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insert(index, print)</a:t>
            </a:r>
            <a:endParaRPr lang="pt-BR" sz="3500" b="0" i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tângulo 85"/>
          <p:cNvSpPr/>
          <p:nvPr/>
        </p:nvSpPr>
        <p:spPr>
          <a:xfrm>
            <a:off x="565805" y="1130884"/>
            <a:ext cx="7904880" cy="16590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O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método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insert(</a:t>
            </a:r>
            <a:r>
              <a:rPr lang="en-US" sz="1400" b="0" i="1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i</a:t>
            </a:r>
            <a:r>
              <a:rPr lang="en-US" sz="1400" b="0" i="1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, x)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insere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x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na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posição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i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,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deslocando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elementos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à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direita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. </a:t>
            </a:r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pt-B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Exemplo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: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inserir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"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Amarelo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"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em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posição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1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em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["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Verde","Azul","Branco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"]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resulta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em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"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Amarelo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"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na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posição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1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ao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DM Sans"/>
              </a:rPr>
              <a:t>imprimir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DM Sans"/>
              </a:rPr>
              <a:t>.</a:t>
            </a:r>
            <a:endParaRPr lang="pt-B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347A0-7308-8E60-E9D8-E980ECF29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DFC6FBD0-A7C5-ADFC-B7E6-6FD49646C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553980"/>
            <a:ext cx="7619760" cy="4939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03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Sobre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pt-BR" sz="2400" b="1" dirty="0"/>
              <a:t>Mapeamento de Dados, usando listas [], dicionários {}, tuplas () , conjuntos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191BDCBE-348F-7E7C-74AC-90E490D6CFC0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0811C4CA-B1CE-3F9A-FA25-C459CE7FEE0C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7DB08C-69C0-7D35-C695-5ABDAC987A86}"/>
              </a:ext>
            </a:extLst>
          </p:cNvPr>
          <p:cNvSpPr txBox="1"/>
          <p:nvPr/>
        </p:nvSpPr>
        <p:spPr>
          <a:xfrm>
            <a:off x="990720" y="1694587"/>
            <a:ext cx="7445788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dirty="0"/>
              <a:t>Qual estrutura do Python utiliza o conceito de </a:t>
            </a:r>
            <a:r>
              <a:rPr lang="pt-BR" b="1" dirty="0"/>
              <a:t>mapeamento</a:t>
            </a:r>
            <a:r>
              <a:rPr lang="pt-BR" dirty="0"/>
              <a:t> através de pares únicos de </a:t>
            </a:r>
            <a:r>
              <a:rPr lang="pt-BR" b="1" dirty="0"/>
              <a:t>chaves e valores</a:t>
            </a:r>
            <a:r>
              <a:rPr lang="pt-BR" dirty="0"/>
              <a:t>?</a:t>
            </a:r>
            <a:r>
              <a:rPr lang="pt-BR" dirty="0">
                <a:effectLst/>
              </a:rPr>
              <a:t>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dirty="0"/>
              <a:t>Listas </a:t>
            </a:r>
            <a:r>
              <a:rPr lang="pt-BR" i="1" dirty="0"/>
              <a:t>[ ]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dirty="0"/>
              <a:t>Tuplas </a:t>
            </a:r>
            <a:r>
              <a:rPr lang="pt-BR" i="1" dirty="0"/>
              <a:t>( )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dirty="0"/>
              <a:t>Conjuntos </a:t>
            </a:r>
            <a:r>
              <a:rPr lang="pt-BR" i="1" dirty="0"/>
              <a:t>set( )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dirty="0"/>
              <a:t>Dicionários </a:t>
            </a:r>
            <a:r>
              <a:rPr lang="pt-BR" i="1" dirty="0"/>
              <a:t>{ }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dirty="0" err="1"/>
              <a:t>Strings</a:t>
            </a:r>
            <a:r>
              <a:rPr lang="pt-BR" dirty="0"/>
              <a:t> </a:t>
            </a:r>
            <a:r>
              <a:rPr lang="pt-BR" i="1" dirty="0"/>
              <a:t>“ “</a:t>
            </a:r>
            <a:endParaRPr lang="pt-BR" i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34553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E18F2-753C-DD2D-49C0-C72CB8CB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963B9FC6-3843-02E1-178C-BD4F1462C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553980"/>
            <a:ext cx="7619760" cy="4939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03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Sobre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r>
              <a:rPr lang="pt-BR" sz="2400" b="1" dirty="0"/>
              <a:t>Mapeamento de Dados, usando listas [], dicionários {}, tuplas () , conjuntos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E146D89A-FFDE-8FC9-FF36-BAAAC95BFD0D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72BECDC4-2E0E-17E9-B081-F94031801899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1ABBB0E-EB9F-E49A-B9C5-6ECDF36B3077}"/>
              </a:ext>
            </a:extLst>
          </p:cNvPr>
          <p:cNvSpPr txBox="1"/>
          <p:nvPr/>
        </p:nvSpPr>
        <p:spPr>
          <a:xfrm>
            <a:off x="990720" y="1694587"/>
            <a:ext cx="7445788" cy="294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dirty="0"/>
              <a:t>Qual estrutura do Python utiliza o conceito de </a:t>
            </a:r>
            <a:r>
              <a:rPr lang="pt-BR" b="1" dirty="0"/>
              <a:t>mapeamento</a:t>
            </a:r>
            <a:r>
              <a:rPr lang="pt-BR" dirty="0"/>
              <a:t> através de pares únicos de </a:t>
            </a:r>
            <a:r>
              <a:rPr lang="pt-BR" b="1" dirty="0"/>
              <a:t>chaves e valores</a:t>
            </a:r>
            <a:r>
              <a:rPr lang="pt-BR" dirty="0"/>
              <a:t>?</a:t>
            </a:r>
            <a:r>
              <a:rPr lang="pt-BR" dirty="0">
                <a:effectLst/>
              </a:rPr>
              <a:t>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dirty="0"/>
              <a:t>Listas </a:t>
            </a:r>
            <a:r>
              <a:rPr lang="pt-BR" i="1" dirty="0"/>
              <a:t>[ ]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dirty="0"/>
              <a:t>Tuplas </a:t>
            </a:r>
            <a:r>
              <a:rPr lang="pt-BR" i="1" dirty="0"/>
              <a:t>( )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dirty="0"/>
              <a:t>Conjuntos </a:t>
            </a:r>
            <a:r>
              <a:rPr lang="pt-BR" i="1" dirty="0"/>
              <a:t>set( )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b="1" dirty="0"/>
              <a:t>Dicionários </a:t>
            </a:r>
            <a:r>
              <a:rPr lang="pt-BR" b="1" i="1" dirty="0"/>
              <a:t>{ }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dirty="0" err="1"/>
              <a:t>Strings</a:t>
            </a:r>
            <a:r>
              <a:rPr lang="pt-BR" dirty="0"/>
              <a:t> </a:t>
            </a:r>
            <a:r>
              <a:rPr lang="pt-BR" i="1" dirty="0"/>
              <a:t>“ “</a:t>
            </a:r>
            <a:endParaRPr lang="pt-BR" i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40084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tângulo 86"/>
          <p:cNvSpPr/>
          <p:nvPr/>
        </p:nvSpPr>
        <p:spPr>
          <a:xfrm>
            <a:off x="619199" y="301953"/>
            <a:ext cx="3475800" cy="3381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</a:rPr>
              <a:t>Dicionários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</a:rPr>
              <a:t>em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 Python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6" name="Picture 2" descr="Python Dictionary - Learn By Example">
            <a:extLst>
              <a:ext uri="{FF2B5EF4-FFF2-40B4-BE49-F238E27FC236}">
                <a16:creationId xmlns:a16="http://schemas.microsoft.com/office/drawing/2014/main" id="{D13C2301-E805-233C-F2A4-240F79267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12" y="1902006"/>
            <a:ext cx="3533775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2731B38-FD71-7D82-365B-706873756E0B}"/>
              </a:ext>
            </a:extLst>
          </p:cNvPr>
          <p:cNvSpPr txBox="1"/>
          <p:nvPr/>
        </p:nvSpPr>
        <p:spPr>
          <a:xfrm>
            <a:off x="619200" y="1902006"/>
            <a:ext cx="3692496" cy="3045706"/>
          </a:xfrm>
          <a:prstGeom prst="rect">
            <a:avLst/>
          </a:prstGeom>
          <a:solidFill>
            <a:srgbClr val="E0ECFF"/>
          </a:solidFill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pessoa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{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200000"/>
              </a:lnSpc>
              <a:buNone/>
            </a:pP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</a:t>
            </a:r>
            <a:r>
              <a:rPr lang="pt-BR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name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'Bob'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200000"/>
              </a:lnSpc>
              <a:buNone/>
            </a:pP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'age'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25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200000"/>
              </a:lnSpc>
              <a:buNone/>
            </a:pP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</a:t>
            </a:r>
            <a:r>
              <a:rPr lang="pt-BR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job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Dev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200000"/>
              </a:lnSpc>
              <a:buNone/>
            </a:pP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</a:t>
            </a:r>
            <a:r>
              <a:rPr lang="pt-BR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city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'New York'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200000"/>
              </a:lnSpc>
              <a:buNone/>
            </a:pP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'</a:t>
            </a:r>
            <a:r>
              <a:rPr lang="pt-BR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email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'bob@web.com'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20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}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298DDC-62F7-7EC9-DEE6-5C331FBE2802}"/>
              </a:ext>
            </a:extLst>
          </p:cNvPr>
          <p:cNvSpPr txBox="1"/>
          <p:nvPr/>
        </p:nvSpPr>
        <p:spPr>
          <a:xfrm>
            <a:off x="619199" y="978676"/>
            <a:ext cx="82711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Em Python, </a:t>
            </a:r>
            <a:r>
              <a:rPr lang="pt-BR" sz="1600" b="1" dirty="0"/>
              <a:t>dicionários</a:t>
            </a:r>
            <a:r>
              <a:rPr lang="pt-BR" sz="1600" dirty="0"/>
              <a:t> são estruturas de dados usadas para armazenar informações no formato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531EA-4F28-6F65-4C5F-71C9D5024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67A289CA-258F-E5DF-5F21-37D66BB2A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233606"/>
            <a:ext cx="7619760" cy="8142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04 – </a:t>
            </a:r>
            <a:r>
              <a:rPr lang="pt-BR" sz="2400" b="1" dirty="0">
                <a:latin typeface="+mj-lt"/>
              </a:rPr>
              <a:t>Propriedades de Conjuntos sets()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6A468B9A-0B02-CDD1-0B97-A3F59E7DDD3B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57D93537-AF7D-1DBF-557E-3CDE382E3B87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931FC66-B023-E95C-5BBE-BF2540585A71}"/>
              </a:ext>
            </a:extLst>
          </p:cNvPr>
          <p:cNvSpPr txBox="1"/>
          <p:nvPr/>
        </p:nvSpPr>
        <p:spPr>
          <a:xfrm>
            <a:off x="815734" y="1889197"/>
            <a:ext cx="3217085" cy="2499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i="1" dirty="0">
                <a:effectLst/>
              </a:rPr>
              <a:t>Qual a característica observada no código ao lado ?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400" dirty="0"/>
              <a:t>Mantém duplicatas;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400" dirty="0"/>
              <a:t>Mantém ordem original;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400" dirty="0"/>
              <a:t>Converte para lista;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400" dirty="0"/>
              <a:t>Ordena automaticamente;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400" dirty="0"/>
              <a:t>Remove duplicatas;</a:t>
            </a:r>
            <a:endParaRPr lang="pt-BR" sz="1400" i="1" dirty="0">
              <a:effectLst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2598B1-F84F-5843-AB80-8E8344E2FD98}"/>
              </a:ext>
            </a:extLst>
          </p:cNvPr>
          <p:cNvSpPr txBox="1"/>
          <p:nvPr/>
        </p:nvSpPr>
        <p:spPr>
          <a:xfrm>
            <a:off x="3871182" y="755093"/>
            <a:ext cx="5272818" cy="1025922"/>
          </a:xfrm>
          <a:prstGeom prst="rect">
            <a:avLst/>
          </a:prstGeom>
          <a:solidFill>
            <a:srgbClr val="FFC3C3"/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valores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[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"João"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"Matheus"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"João"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"Tiago"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conjunto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set(valores)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print(conjunto)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795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274AB-C10B-AA6C-7203-BDF751E0B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EEDA21B8-58AD-7C83-FD46-E8E92E267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233606"/>
            <a:ext cx="7619760" cy="8142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04 – </a:t>
            </a:r>
            <a:r>
              <a:rPr lang="pt-BR" sz="2400" b="1" dirty="0">
                <a:latin typeface="+mj-lt"/>
              </a:rPr>
              <a:t>Propriedades de Conjuntos sets()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23FB9D3B-D23B-5E96-8E5D-B4992068D162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841FAA8C-F0AB-C41A-5F19-60321E9D7AA2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7E12FF-6753-86E3-9415-050414E611BD}"/>
              </a:ext>
            </a:extLst>
          </p:cNvPr>
          <p:cNvSpPr txBox="1"/>
          <p:nvPr/>
        </p:nvSpPr>
        <p:spPr>
          <a:xfrm>
            <a:off x="815734" y="1889197"/>
            <a:ext cx="3217085" cy="2499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i="1" dirty="0">
                <a:effectLst/>
              </a:rPr>
              <a:t>Qual a característica observada no código ao lado ?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400" dirty="0"/>
              <a:t>Mantém duplicatas;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400" dirty="0"/>
              <a:t>Mantém ordem original;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400" dirty="0"/>
              <a:t>Converte para lista;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400" dirty="0"/>
              <a:t>Ordena automaticamente;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sz="1400" b="1" dirty="0"/>
              <a:t>Remove duplicatas;</a:t>
            </a:r>
            <a:endParaRPr lang="pt-BR" sz="1400" b="1" i="1" dirty="0">
              <a:effectLst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51C323E-3A72-4733-9002-0497D8A74A07}"/>
              </a:ext>
            </a:extLst>
          </p:cNvPr>
          <p:cNvSpPr txBox="1"/>
          <p:nvPr/>
        </p:nvSpPr>
        <p:spPr>
          <a:xfrm>
            <a:off x="3871182" y="755093"/>
            <a:ext cx="5272818" cy="1025922"/>
          </a:xfrm>
          <a:prstGeom prst="rect">
            <a:avLst/>
          </a:prstGeom>
          <a:solidFill>
            <a:srgbClr val="FFC3C3"/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valores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[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"João"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"Matheus"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"João"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"Tiago"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conjunto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set(valores)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print(conjunto)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38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990720" y="933480"/>
            <a:ext cx="7314480" cy="923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Conjuntos set()</a:t>
            </a:r>
            <a:b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</a:b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OBS: </a:t>
            </a:r>
            <a:r>
              <a:rPr lang="en-US" sz="35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len</a:t>
            </a: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(set(</a:t>
            </a:r>
            <a:r>
              <a:rPr lang="en-US" sz="35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minha_variavel_lista</a:t>
            </a: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))</a:t>
            </a:r>
            <a:endParaRPr lang="pt-BR" sz="3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990720" y="1933560"/>
            <a:ext cx="7314480" cy="2266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set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armazena elementos únicos, removendo duplicatas automaticamente.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Operações comuns: união, interseção e diferença. Usar len(set(...)) retorna o número de itens distintos.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410;p43"/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411;p43"/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AC487-6237-6BAE-FC1A-026525043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398E8F40-E560-9EA3-DB9B-300814FE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233606"/>
            <a:ext cx="7619760" cy="8142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0</a:t>
            </a:r>
            <a:r>
              <a:rPr lang="en-US" sz="2400" b="1" dirty="0">
                <a:latin typeface="+mj-lt"/>
                <a:ea typeface="Manrope"/>
              </a:rPr>
              <a:t>5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Imutabilidade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de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Conteúdo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8AEAF493-F67E-27B2-659E-500FB386BE3A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CD6521A3-3B07-C6CB-D653-6618D4672627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92A2D4-45ED-5A8F-56FF-16612941134C}"/>
              </a:ext>
            </a:extLst>
          </p:cNvPr>
          <p:cNvSpPr txBox="1"/>
          <p:nvPr/>
        </p:nvSpPr>
        <p:spPr>
          <a:xfrm>
            <a:off x="815734" y="1113978"/>
            <a:ext cx="321708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i="1" dirty="0">
                <a:effectLst/>
              </a:rPr>
              <a:t>Qual destes tipos de variáveis (estrutura de dados) nativa do </a:t>
            </a:r>
            <a:r>
              <a:rPr lang="pt-BR" i="1" dirty="0" err="1">
                <a:effectLst/>
              </a:rPr>
              <a:t>python</a:t>
            </a:r>
            <a:r>
              <a:rPr lang="pt-BR" i="1" dirty="0">
                <a:effectLst/>
              </a:rPr>
              <a:t> não permite alteração do seu conteúdo?</a:t>
            </a:r>
          </a:p>
          <a:p>
            <a:pPr>
              <a:buNone/>
            </a:pPr>
            <a:endParaRPr lang="pt-BR" i="1" dirty="0">
              <a:effectLst/>
            </a:endParaRPr>
          </a:p>
          <a:p>
            <a:pPr marL="342900" indent="-342900">
              <a:buAutoNum type="alphaUcParenR"/>
            </a:pPr>
            <a:r>
              <a:rPr lang="pt-BR" dirty="0"/>
              <a:t>Dicionário;</a:t>
            </a:r>
          </a:p>
          <a:p>
            <a:pPr marL="342900" indent="-342900">
              <a:buAutoNum type="alphaUcParenR"/>
            </a:pPr>
            <a:r>
              <a:rPr lang="pt-BR" dirty="0"/>
              <a:t>Tupla;</a:t>
            </a:r>
          </a:p>
          <a:p>
            <a:pPr marL="342900" indent="-342900">
              <a:buAutoNum type="alphaUcParenR"/>
            </a:pPr>
            <a:r>
              <a:rPr lang="pt-BR" dirty="0"/>
              <a:t>Lista;</a:t>
            </a:r>
          </a:p>
          <a:p>
            <a:pPr marL="342900" indent="-342900">
              <a:buAutoNum type="alphaUcParenR"/>
            </a:pPr>
            <a:r>
              <a:rPr lang="pt-BR" dirty="0"/>
              <a:t>Conjunto Set();</a:t>
            </a:r>
          </a:p>
          <a:p>
            <a:pPr marL="342900" indent="-342900">
              <a:buAutoNum type="alphaUcParenR"/>
            </a:pPr>
            <a:r>
              <a:rPr lang="pt-BR" dirty="0"/>
              <a:t>Classe;</a:t>
            </a:r>
            <a:endParaRPr lang="pt-BR" i="1" dirty="0">
              <a:effectLst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02BA9F-6039-DF11-2FCD-009CE57776E3}"/>
              </a:ext>
            </a:extLst>
          </p:cNvPr>
          <p:cNvSpPr txBox="1"/>
          <p:nvPr/>
        </p:nvSpPr>
        <p:spPr>
          <a:xfrm>
            <a:off x="4257217" y="1113978"/>
            <a:ext cx="4724063" cy="24942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buNone/>
            </a:pP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 </a:t>
            </a:r>
            <a:r>
              <a:rPr lang="pt-BR" sz="16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"Ana"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20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"Banco de Dados"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68B4B6A1-292E-D964-CFBE-E7D29C776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536257"/>
              </p:ext>
            </p:extLst>
          </p:nvPr>
        </p:nvGraphicFramePr>
        <p:xfrm>
          <a:off x="5246120" y="2269649"/>
          <a:ext cx="3450692" cy="1463040"/>
        </p:xfrm>
        <a:graphic>
          <a:graphicData uri="http://schemas.openxmlformats.org/drawingml/2006/table">
            <a:tbl>
              <a:tblPr/>
              <a:tblGrid>
                <a:gridCol w="1261471">
                  <a:extLst>
                    <a:ext uri="{9D8B030D-6E8A-4147-A177-3AD203B41FA5}">
                      <a16:colId xmlns:a16="http://schemas.microsoft.com/office/drawing/2014/main" val="1888354522"/>
                    </a:ext>
                  </a:extLst>
                </a:gridCol>
                <a:gridCol w="2189221">
                  <a:extLst>
                    <a:ext uri="{9D8B030D-6E8A-4147-A177-3AD203B41FA5}">
                      <a16:colId xmlns:a16="http://schemas.microsoft.com/office/drawing/2014/main" val="1960713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Índice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567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"Ana"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589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173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"Banco de Dados"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692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1284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D13BE-5B2D-9BB9-D60F-4619D183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6B0927ED-2648-CDE0-C792-F775DD0D1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233606"/>
            <a:ext cx="7619760" cy="8142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0</a:t>
            </a:r>
            <a:r>
              <a:rPr lang="en-US" sz="2400" b="1" dirty="0">
                <a:latin typeface="+mj-lt"/>
                <a:ea typeface="Manrope"/>
              </a:rPr>
              <a:t>5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Imutabilidade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de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Conteúdo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4AECDE8A-4694-B7DC-C50F-D891685D59AE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39ED8308-E126-8141-BBB5-81B54374C927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87FBEC4-7CEE-B3B0-2BC9-3782C915F0F1}"/>
              </a:ext>
            </a:extLst>
          </p:cNvPr>
          <p:cNvSpPr txBox="1"/>
          <p:nvPr/>
        </p:nvSpPr>
        <p:spPr>
          <a:xfrm>
            <a:off x="815734" y="1113978"/>
            <a:ext cx="321708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i="1" dirty="0">
                <a:effectLst/>
              </a:rPr>
              <a:t>Qual destes tipos de variáveis (estrutura de dados) nativa do </a:t>
            </a:r>
            <a:r>
              <a:rPr lang="pt-BR" i="1" dirty="0" err="1">
                <a:effectLst/>
              </a:rPr>
              <a:t>python</a:t>
            </a:r>
            <a:r>
              <a:rPr lang="pt-BR" i="1" dirty="0">
                <a:effectLst/>
              </a:rPr>
              <a:t> não permite alteração do seu conteúdo?</a:t>
            </a:r>
          </a:p>
          <a:p>
            <a:pPr>
              <a:buNone/>
            </a:pPr>
            <a:endParaRPr lang="pt-BR" i="1" dirty="0">
              <a:effectLst/>
            </a:endParaRPr>
          </a:p>
          <a:p>
            <a:pPr marL="342900" indent="-342900">
              <a:buAutoNum type="alphaUcParenR"/>
            </a:pPr>
            <a:r>
              <a:rPr lang="pt-BR" dirty="0"/>
              <a:t>Dicionário;</a:t>
            </a:r>
          </a:p>
          <a:p>
            <a:pPr marL="342900" indent="-342900">
              <a:buAutoNum type="alphaUcParenR"/>
            </a:pPr>
            <a:r>
              <a:rPr lang="pt-BR" b="1" dirty="0"/>
              <a:t>Tupla;</a:t>
            </a:r>
          </a:p>
          <a:p>
            <a:pPr marL="342900" indent="-342900">
              <a:buAutoNum type="alphaUcParenR"/>
            </a:pPr>
            <a:r>
              <a:rPr lang="pt-BR" dirty="0"/>
              <a:t>Lista;</a:t>
            </a:r>
          </a:p>
          <a:p>
            <a:pPr marL="342900" indent="-342900">
              <a:buAutoNum type="alphaUcParenR"/>
            </a:pPr>
            <a:r>
              <a:rPr lang="pt-BR" dirty="0"/>
              <a:t>Conjunto Set();</a:t>
            </a:r>
          </a:p>
          <a:p>
            <a:pPr marL="342900" indent="-342900">
              <a:buAutoNum type="alphaUcParenR"/>
            </a:pPr>
            <a:r>
              <a:rPr lang="pt-BR" dirty="0"/>
              <a:t>Classe;</a:t>
            </a:r>
            <a:endParaRPr lang="pt-BR" i="1" dirty="0">
              <a:effectLst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334AB5-EB2B-D3BC-17E5-A7B70543B6DF}"/>
              </a:ext>
            </a:extLst>
          </p:cNvPr>
          <p:cNvSpPr txBox="1"/>
          <p:nvPr/>
        </p:nvSpPr>
        <p:spPr>
          <a:xfrm>
            <a:off x="4257217" y="1113978"/>
            <a:ext cx="4724063" cy="24942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buNone/>
            </a:pP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 </a:t>
            </a:r>
            <a:r>
              <a:rPr lang="pt-BR" sz="16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"Ana"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20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"Banco de Dados"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1421D20-8CDE-588C-4536-A225D3A26451}"/>
              </a:ext>
            </a:extLst>
          </p:cNvPr>
          <p:cNvGraphicFramePr>
            <a:graphicFrameLocks noGrp="1"/>
          </p:cNvGraphicFramePr>
          <p:nvPr/>
        </p:nvGraphicFramePr>
        <p:xfrm>
          <a:off x="5246120" y="2269649"/>
          <a:ext cx="3450692" cy="1463040"/>
        </p:xfrm>
        <a:graphic>
          <a:graphicData uri="http://schemas.openxmlformats.org/drawingml/2006/table">
            <a:tbl>
              <a:tblPr/>
              <a:tblGrid>
                <a:gridCol w="1261471">
                  <a:extLst>
                    <a:ext uri="{9D8B030D-6E8A-4147-A177-3AD203B41FA5}">
                      <a16:colId xmlns:a16="http://schemas.microsoft.com/office/drawing/2014/main" val="1888354522"/>
                    </a:ext>
                  </a:extLst>
                </a:gridCol>
                <a:gridCol w="2189221">
                  <a:extLst>
                    <a:ext uri="{9D8B030D-6E8A-4147-A177-3AD203B41FA5}">
                      <a16:colId xmlns:a16="http://schemas.microsoft.com/office/drawing/2014/main" val="1960713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Índice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b="1" dirty="0"/>
                        <a:t>Valor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0567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"Ana"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589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173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dirty="0"/>
                        <a:t>"Banco de Dados"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692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192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tângulo 89"/>
          <p:cNvSpPr/>
          <p:nvPr/>
        </p:nvSpPr>
        <p:spPr>
          <a:xfrm>
            <a:off x="229320" y="619200"/>
            <a:ext cx="4342680" cy="16297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5000" dirty="0">
                <a:solidFill>
                  <a:srgbClr val="000000"/>
                </a:solidFill>
                <a:latin typeface="Arial"/>
              </a:rPr>
              <a:t>Entrada e Saída</a:t>
            </a:r>
            <a:endParaRPr lang="pt-BR" sz="5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tângulo 90"/>
          <p:cNvSpPr/>
          <p:nvPr/>
        </p:nvSpPr>
        <p:spPr>
          <a:xfrm>
            <a:off x="325523" y="2409984"/>
            <a:ext cx="4114079" cy="142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</a:rPr>
              <a:t>Manipulação</a:t>
            </a: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 de </a:t>
            </a:r>
            <a:r>
              <a:rPr lang="en-US" sz="40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</a:rPr>
              <a:t>Arquivos</a:t>
            </a:r>
            <a:endParaRPr lang="pt-BR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image69fb764b328e5" descr="image69fb764b328e9"/>
          <p:cNvSpPr/>
          <p:nvPr/>
        </p:nvSpPr>
        <p:spPr>
          <a:xfrm>
            <a:off x="4800600" y="257040"/>
            <a:ext cx="4114080" cy="462852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65A82-4D57-782D-27E7-D4870D9B0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082C8B44-A73F-D295-3B3F-42106B050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233606"/>
            <a:ext cx="7619760" cy="8142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0</a:t>
            </a:r>
            <a:r>
              <a:rPr lang="en-US" sz="2400" b="1" dirty="0">
                <a:latin typeface="+mj-lt"/>
                <a:ea typeface="Manrope"/>
              </a:rPr>
              <a:t>6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pt-BR" sz="2400" b="1" dirty="0"/>
              <a:t>Gerenciamento de Arquivos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93793549-5862-81E7-A827-828F95C1B5CE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1FF3AF57-3404-4849-B7EB-359C806A7DB1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472AD32-7420-0E0A-852D-A89B9F29A6B7}"/>
              </a:ext>
            </a:extLst>
          </p:cNvPr>
          <p:cNvSpPr txBox="1"/>
          <p:nvPr/>
        </p:nvSpPr>
        <p:spPr>
          <a:xfrm>
            <a:off x="815734" y="1047889"/>
            <a:ext cx="3322427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i="1" dirty="0"/>
              <a:t>Ao utilizar arquivo = </a:t>
            </a:r>
            <a:r>
              <a:rPr lang="pt-BR" b="1" i="1" dirty="0">
                <a:latin typeface="Roboto Mono" pitchFamily="2" charset="0"/>
                <a:ea typeface="Roboto Mono" pitchFamily="2" charset="0"/>
              </a:rPr>
              <a:t>open("dados.txt", "a")</a:t>
            </a:r>
            <a:r>
              <a:rPr lang="pt-BR" i="1" dirty="0"/>
              <a:t>, o programador deve se preocupar em:</a:t>
            </a:r>
          </a:p>
          <a:p>
            <a:pPr>
              <a:buNone/>
            </a:pPr>
            <a:endParaRPr lang="pt-BR" i="1" dirty="0">
              <a:effectLst/>
            </a:endParaRPr>
          </a:p>
          <a:p>
            <a:pPr marL="228600" indent="-228600">
              <a:buAutoNum type="alphaUcParenR"/>
            </a:pPr>
            <a:r>
              <a:rPr lang="pt-BR" sz="1200" dirty="0"/>
              <a:t>Converter o conteúdo para binário manualmente. </a:t>
            </a:r>
          </a:p>
          <a:p>
            <a:pPr marL="228600" indent="-228600">
              <a:buAutoNum type="alphaUcParenR"/>
            </a:pPr>
            <a:r>
              <a:rPr lang="pt-BR" sz="1200" dirty="0"/>
              <a:t>Definir o tamanho máximo do arquivo antes de escrever. </a:t>
            </a:r>
          </a:p>
          <a:p>
            <a:pPr marL="228600" indent="-228600">
              <a:buAutoNum type="alphaUcParenR"/>
            </a:pPr>
            <a:r>
              <a:rPr lang="pt-BR" sz="1200" dirty="0"/>
              <a:t>Encerrar a conexão usando </a:t>
            </a:r>
            <a:r>
              <a:rPr lang="pt-BR" sz="1200" dirty="0" err="1">
                <a:latin typeface="Roboto Mono" pitchFamily="2" charset="0"/>
                <a:ea typeface="Roboto Mono" pitchFamily="2" charset="0"/>
              </a:rPr>
              <a:t>arquivo.close</a:t>
            </a:r>
            <a:r>
              <a:rPr lang="pt-BR" sz="1200" dirty="0">
                <a:latin typeface="Roboto Mono" pitchFamily="2" charset="0"/>
                <a:ea typeface="Roboto Mono" pitchFamily="2" charset="0"/>
              </a:rPr>
              <a:t>() </a:t>
            </a:r>
            <a:r>
              <a:rPr lang="pt-BR" sz="1200" dirty="0"/>
              <a:t>para evitar corrupção de dados. </a:t>
            </a:r>
          </a:p>
          <a:p>
            <a:pPr marL="228600" indent="-228600">
              <a:buAutoNum type="alphaUcParenR"/>
            </a:pPr>
            <a:r>
              <a:rPr lang="pt-BR" sz="1200" dirty="0"/>
              <a:t>Apagar o arquivo anterior, pois o modo "a" sempre deleta o conteúdo. </a:t>
            </a:r>
          </a:p>
          <a:p>
            <a:pPr marL="228600" indent="-228600">
              <a:buAutoNum type="alphaUcParenR"/>
            </a:pPr>
            <a:r>
              <a:rPr lang="pt-BR" sz="1200" dirty="0"/>
              <a:t>Abrir o arquivo apenas se ele já existir no computador.</a:t>
            </a:r>
            <a:endParaRPr lang="pt-BR" sz="1200" i="1" dirty="0">
              <a:effectLst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B9E790B-7B2D-467D-DDE5-963229880092}"/>
              </a:ext>
            </a:extLst>
          </p:cNvPr>
          <p:cNvSpPr txBox="1"/>
          <p:nvPr/>
        </p:nvSpPr>
        <p:spPr>
          <a:xfrm>
            <a:off x="4572838" y="1034540"/>
            <a:ext cx="3755428" cy="13490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Modo Clássico de abrir arquivos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arq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open(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"teste.txt"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"w"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arq.write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"Olá"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--&gt; Falta algo nessa linha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209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722D2-F321-4461-38CB-E3A53FBAB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2599CD77-28AE-C5EB-28C8-F46AFC00C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233606"/>
            <a:ext cx="7619760" cy="8142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0</a:t>
            </a:r>
            <a:r>
              <a:rPr lang="en-US" sz="2400" b="1" dirty="0">
                <a:latin typeface="+mj-lt"/>
                <a:ea typeface="Manrope"/>
              </a:rPr>
              <a:t>6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pt-BR" sz="2400" b="1" dirty="0"/>
              <a:t>Gerenciamento de Arquivos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27A53BB9-02A0-C7DB-831D-49EC72CC8A55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B3AFABCA-8BDA-D00E-8EA3-7210F080B510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6AB5A1-5E0B-64AC-B9D0-961AE8913ED3}"/>
              </a:ext>
            </a:extLst>
          </p:cNvPr>
          <p:cNvSpPr txBox="1"/>
          <p:nvPr/>
        </p:nvSpPr>
        <p:spPr>
          <a:xfrm>
            <a:off x="815734" y="1047889"/>
            <a:ext cx="3322427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i="1" dirty="0"/>
              <a:t>Ao utilizar arquivo = </a:t>
            </a:r>
            <a:r>
              <a:rPr lang="pt-BR" b="1" i="1" dirty="0">
                <a:latin typeface="Roboto Mono" pitchFamily="2" charset="0"/>
                <a:ea typeface="Roboto Mono" pitchFamily="2" charset="0"/>
              </a:rPr>
              <a:t>open("dados.txt", "a")</a:t>
            </a:r>
            <a:r>
              <a:rPr lang="pt-BR" i="1" dirty="0"/>
              <a:t>, o programador deve se preocupar em:</a:t>
            </a:r>
          </a:p>
          <a:p>
            <a:pPr>
              <a:buNone/>
            </a:pPr>
            <a:endParaRPr lang="pt-BR" i="1" dirty="0">
              <a:effectLst/>
            </a:endParaRPr>
          </a:p>
          <a:p>
            <a:pPr marL="228600" indent="-228600">
              <a:buAutoNum type="alphaUcParenR"/>
            </a:pPr>
            <a:r>
              <a:rPr lang="pt-BR" sz="1200" dirty="0"/>
              <a:t>Converter o conteúdo para binário manualmente. </a:t>
            </a:r>
          </a:p>
          <a:p>
            <a:pPr marL="228600" indent="-228600">
              <a:buAutoNum type="alphaUcParenR"/>
            </a:pPr>
            <a:r>
              <a:rPr lang="pt-BR" sz="1200" dirty="0"/>
              <a:t>Definir o tamanho máximo do arquivo antes de escrever. </a:t>
            </a:r>
          </a:p>
          <a:p>
            <a:pPr marL="228600" indent="-228600">
              <a:buAutoNum type="alphaUcParenR"/>
            </a:pPr>
            <a:r>
              <a:rPr lang="pt-BR" sz="1200" b="1" dirty="0"/>
              <a:t>Encerrar a conexão usando </a:t>
            </a:r>
            <a:r>
              <a:rPr lang="pt-BR" sz="1200" b="1" dirty="0" err="1">
                <a:latin typeface="Roboto Mono" pitchFamily="2" charset="0"/>
                <a:ea typeface="Roboto Mono" pitchFamily="2" charset="0"/>
              </a:rPr>
              <a:t>arquivo.close</a:t>
            </a:r>
            <a:r>
              <a:rPr lang="pt-BR" sz="1200" b="1" dirty="0">
                <a:latin typeface="Roboto Mono" pitchFamily="2" charset="0"/>
                <a:ea typeface="Roboto Mono" pitchFamily="2" charset="0"/>
              </a:rPr>
              <a:t>() </a:t>
            </a:r>
            <a:r>
              <a:rPr lang="pt-BR" sz="1200" b="1" dirty="0"/>
              <a:t>para evitar corrupção de dados. </a:t>
            </a:r>
          </a:p>
          <a:p>
            <a:pPr marL="228600" indent="-228600">
              <a:buAutoNum type="alphaUcParenR"/>
            </a:pPr>
            <a:r>
              <a:rPr lang="pt-BR" sz="1200" dirty="0"/>
              <a:t>Apagar o arquivo anterior, pois o modo "a" sempre deleta o conteúdo. </a:t>
            </a:r>
          </a:p>
          <a:p>
            <a:pPr marL="228600" indent="-228600">
              <a:buAutoNum type="alphaUcParenR"/>
            </a:pPr>
            <a:r>
              <a:rPr lang="pt-BR" sz="1200" dirty="0"/>
              <a:t>Abrir o arquivo apenas se ele já existir no computador.</a:t>
            </a:r>
            <a:endParaRPr lang="pt-BR" sz="1200" i="1" dirty="0">
              <a:effectLst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32BD3FA-D238-DAE7-19AA-D2F7084DE129}"/>
              </a:ext>
            </a:extLst>
          </p:cNvPr>
          <p:cNvSpPr txBox="1"/>
          <p:nvPr/>
        </p:nvSpPr>
        <p:spPr>
          <a:xfrm>
            <a:off x="4572838" y="1034540"/>
            <a:ext cx="3755428" cy="13490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Modo Clássico de abrir arquivos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arq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open(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"teste.txt"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"w"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arq.write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"Olá"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 err="1">
                <a:solidFill>
                  <a:srgbClr val="D81B60"/>
                </a:solidFill>
                <a:effectLst/>
                <a:latin typeface="Roboto Mono" pitchFamily="2" charset="0"/>
              </a:rPr>
              <a:t>arq.close</a:t>
            </a: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()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934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06D4D-D044-55BD-7D2F-D7A788AE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0FF81145-004A-DCE0-9CBB-49B76EA2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233606"/>
            <a:ext cx="7619760" cy="8142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07 – </a:t>
            </a:r>
            <a:r>
              <a:rPr lang="pt-BR" sz="2400" b="1" dirty="0"/>
              <a:t>Gerenciamento de Arquivos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768C0ADE-0BCA-C409-9243-8E01CCDF63F5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A991CF1A-6A44-117B-DA26-E0AFA0103E5B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4C36C64-83DD-9D7E-855D-FDBD087F2107}"/>
              </a:ext>
            </a:extLst>
          </p:cNvPr>
          <p:cNvSpPr txBox="1"/>
          <p:nvPr/>
        </p:nvSpPr>
        <p:spPr>
          <a:xfrm>
            <a:off x="4572000" y="1711176"/>
            <a:ext cx="3696196" cy="2828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>
              <a:effectLst/>
            </a:endParaRP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Garantir o fechamento automático do recurso, mesmo se ocorrer um erro.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Aumentar a velocidade de escrita no disco rígido.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Criptografar automaticamente os dados salvos.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Permitir a leitura de arquivos protegidos por senha.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Converter o arquivo TXT em um banco de dados SQL.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E22BF3-3249-85B0-3066-E74C976D5DEC}"/>
              </a:ext>
            </a:extLst>
          </p:cNvPr>
          <p:cNvSpPr txBox="1"/>
          <p:nvPr/>
        </p:nvSpPr>
        <p:spPr>
          <a:xfrm>
            <a:off x="1047889" y="1000561"/>
            <a:ext cx="6698617" cy="10259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with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open(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"arquivo.txt"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"r"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encoding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"utf-8"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as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arquivo: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conteudo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arquivo.read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conteudo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E540016-4A92-A47A-ED59-EBB2CD0C6DD5}"/>
              </a:ext>
            </a:extLst>
          </p:cNvPr>
          <p:cNvSpPr txBox="1"/>
          <p:nvPr/>
        </p:nvSpPr>
        <p:spPr>
          <a:xfrm>
            <a:off x="694143" y="2193273"/>
            <a:ext cx="3817787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effectLst/>
              </a:rPr>
              <a:t>Qual é o principal benefício técnico de utilizar a instrução </a:t>
            </a:r>
            <a:r>
              <a:rPr lang="pt-BR" b="1" dirty="0" err="1">
                <a:latin typeface="Roboto Mono" pitchFamily="2" charset="0"/>
                <a:ea typeface="Roboto Mono" pitchFamily="2" charset="0"/>
              </a:rPr>
              <a:t>with</a:t>
            </a:r>
            <a:r>
              <a:rPr lang="pt-BR" b="1" dirty="0">
                <a:latin typeface="Roboto Mono" pitchFamily="2" charset="0"/>
                <a:ea typeface="Roboto Mono" pitchFamily="2" charset="0"/>
              </a:rPr>
              <a:t> ____:</a:t>
            </a:r>
            <a:r>
              <a:rPr lang="pt-BR" b="1" dirty="0">
                <a:effectLst/>
                <a:latin typeface="Roboto Mono" pitchFamily="2" charset="0"/>
                <a:ea typeface="Roboto Mono" pitchFamily="2" charset="0"/>
              </a:rPr>
              <a:t> </a:t>
            </a:r>
            <a:r>
              <a:rPr lang="pt-BR" dirty="0">
                <a:effectLst/>
              </a:rPr>
              <a:t>na abertura de arquivos? (jeito </a:t>
            </a:r>
            <a:r>
              <a:rPr lang="pt-BR" dirty="0" err="1">
                <a:effectLst/>
              </a:rPr>
              <a:t>python</a:t>
            </a:r>
            <a:r>
              <a:rPr lang="pt-BR" dirty="0">
                <a:effectLst/>
              </a:rPr>
              <a:t> de fazer)</a:t>
            </a:r>
          </a:p>
        </p:txBody>
      </p:sp>
    </p:spTree>
    <p:extLst>
      <p:ext uri="{BB962C8B-B14F-4D97-AF65-F5344CB8AC3E}">
        <p14:creationId xmlns:p14="http://schemas.microsoft.com/office/powerpoint/2010/main" val="18368053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880A6-803B-9016-8C4E-0A76CE08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824515E3-78CF-7C41-6014-4E7D538BB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233606"/>
            <a:ext cx="7619760" cy="8142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07 – </a:t>
            </a:r>
            <a:r>
              <a:rPr lang="pt-BR" sz="2400" b="1" dirty="0"/>
              <a:t>Gerenciamento de Arquivos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06CE1354-5FAD-759A-6DBC-47D14228F6E1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DC62D552-3D01-F007-3B2C-18C5E2634348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D02EFAA-147A-D70C-B089-A233511CC9F7}"/>
              </a:ext>
            </a:extLst>
          </p:cNvPr>
          <p:cNvSpPr txBox="1"/>
          <p:nvPr/>
        </p:nvSpPr>
        <p:spPr>
          <a:xfrm>
            <a:off x="4572000" y="1711176"/>
            <a:ext cx="3696196" cy="2828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>
              <a:effectLst/>
            </a:endParaRP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b="1" dirty="0">
                <a:effectLst/>
              </a:rPr>
              <a:t>Garantir o fechamento automático do recurso, mesmo se ocorrer um erro.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Aumentar a velocidade de escrita no disco rígido.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Criptografar automaticamente os dados salvos.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Permitir a leitura de arquivos protegidos por senha.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Converter o arquivo TXT em um banco de dados SQL.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ED4BC2-4250-09AF-AAB9-0C93F9A5D291}"/>
              </a:ext>
            </a:extLst>
          </p:cNvPr>
          <p:cNvSpPr txBox="1"/>
          <p:nvPr/>
        </p:nvSpPr>
        <p:spPr>
          <a:xfrm>
            <a:off x="1047889" y="1000561"/>
            <a:ext cx="6698617" cy="102592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with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open(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"arquivo.txt"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"r"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encoding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"utf-8"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as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arquivo: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conteudo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arquivo.read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conteudo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C11E48C-9A8B-1C48-3CBC-7A68D8FA77E6}"/>
              </a:ext>
            </a:extLst>
          </p:cNvPr>
          <p:cNvSpPr txBox="1"/>
          <p:nvPr/>
        </p:nvSpPr>
        <p:spPr>
          <a:xfrm>
            <a:off x="694143" y="2193273"/>
            <a:ext cx="3817787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effectLst/>
              </a:rPr>
              <a:t>Qual é o principal benefício técnico de utilizar a instrução </a:t>
            </a:r>
            <a:r>
              <a:rPr lang="pt-BR" b="1" dirty="0" err="1">
                <a:latin typeface="Roboto Mono" pitchFamily="2" charset="0"/>
                <a:ea typeface="Roboto Mono" pitchFamily="2" charset="0"/>
              </a:rPr>
              <a:t>with</a:t>
            </a:r>
            <a:r>
              <a:rPr lang="pt-BR" b="1" dirty="0">
                <a:latin typeface="Roboto Mono" pitchFamily="2" charset="0"/>
                <a:ea typeface="Roboto Mono" pitchFamily="2" charset="0"/>
              </a:rPr>
              <a:t> ____:</a:t>
            </a:r>
            <a:r>
              <a:rPr lang="pt-BR" b="1" dirty="0">
                <a:effectLst/>
                <a:latin typeface="Roboto Mono" pitchFamily="2" charset="0"/>
                <a:ea typeface="Roboto Mono" pitchFamily="2" charset="0"/>
              </a:rPr>
              <a:t> </a:t>
            </a:r>
            <a:r>
              <a:rPr lang="pt-BR" dirty="0">
                <a:effectLst/>
              </a:rPr>
              <a:t>na abertura de arquivos? (jeito </a:t>
            </a:r>
            <a:r>
              <a:rPr lang="pt-BR" dirty="0" err="1">
                <a:effectLst/>
              </a:rPr>
              <a:t>python</a:t>
            </a:r>
            <a:r>
              <a:rPr lang="pt-BR" dirty="0">
                <a:effectLst/>
              </a:rPr>
              <a:t> de fazer)</a:t>
            </a:r>
          </a:p>
        </p:txBody>
      </p:sp>
    </p:spTree>
    <p:extLst>
      <p:ext uri="{BB962C8B-B14F-4D97-AF65-F5344CB8AC3E}">
        <p14:creationId xmlns:p14="http://schemas.microsoft.com/office/powerpoint/2010/main" val="1093955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tângulo 99"/>
          <p:cNvSpPr/>
          <p:nvPr/>
        </p:nvSpPr>
        <p:spPr>
          <a:xfrm>
            <a:off x="619200" y="619200"/>
            <a:ext cx="7904880" cy="80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</a:rPr>
              <a:t>Gerenciamento</a:t>
            </a: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 de </a:t>
            </a:r>
            <a:r>
              <a:rPr lang="en-US" sz="3500" b="1" u="none" strike="noStrike" dirty="0" err="1">
                <a:solidFill>
                  <a:schemeClr val="dk1"/>
                </a:solidFill>
                <a:effectLst/>
                <a:uFillTx/>
                <a:latin typeface="Manrope"/>
              </a:rPr>
              <a:t>arquivos</a:t>
            </a: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Manrope"/>
              </a:rPr>
              <a:t> with() </a:t>
            </a:r>
          </a:p>
        </p:txBody>
      </p:sp>
      <p:sp>
        <p:nvSpPr>
          <p:cNvPr id="101" name="Retângulo 100"/>
          <p:cNvSpPr/>
          <p:nvPr/>
        </p:nvSpPr>
        <p:spPr>
          <a:xfrm>
            <a:off x="619200" y="1905120"/>
            <a:ext cx="7904880" cy="26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O uso de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with open(...)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 assegura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fechamento automático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 do arquivo mesmo em erro, evitando corrupção e vazamento de recursos.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Alternativa: chamar arquivo.close(), exigindo atenção a exceções e fluxos de controle.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7BC28-5519-098C-135D-FAF44460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tângulo 86">
            <a:extLst>
              <a:ext uri="{FF2B5EF4-FFF2-40B4-BE49-F238E27FC236}">
                <a16:creationId xmlns:a16="http://schemas.microsoft.com/office/drawing/2014/main" id="{697075F4-9DC6-7BE6-B9EB-1D4FE0318F9C}"/>
              </a:ext>
            </a:extLst>
          </p:cNvPr>
          <p:cNvSpPr/>
          <p:nvPr/>
        </p:nvSpPr>
        <p:spPr>
          <a:xfrm>
            <a:off x="619200" y="619200"/>
            <a:ext cx="3475800" cy="808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Manrope"/>
              </a:rPr>
              <a:t>Arquivos e persistência (open, csv, json)</a:t>
            </a:r>
            <a:endParaRPr lang="pt-BR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578B4220-FFA6-F1FA-CD1D-C7FE8BDA584A}"/>
              </a:ext>
            </a:extLst>
          </p:cNvPr>
          <p:cNvSpPr/>
          <p:nvPr/>
        </p:nvSpPr>
        <p:spPr>
          <a:xfrm>
            <a:off x="619200" y="1905120"/>
            <a:ext cx="3475800" cy="2618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 fontScale="850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Uso de arquivos para salvar e trocar dados: modos de abertura (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r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,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w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,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a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) e efeitos principais.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CSV facilita intercâmbio tabular entre ferramentas;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json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 permite serializar estruturas Python em texto legível e reconstituí-las.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Boas práticas: fechar arquivos ou usar </a:t>
            </a:r>
            <a:r>
              <a:rPr lang="en-US" sz="1400" b="0" i="1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context manager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DM Sans"/>
              </a:rPr>
              <a:t> para segurança e integridade.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image69fb764b2889a" descr="image69fb764b2889e">
            <a:extLst>
              <a:ext uri="{FF2B5EF4-FFF2-40B4-BE49-F238E27FC236}">
                <a16:creationId xmlns:a16="http://schemas.microsoft.com/office/drawing/2014/main" id="{2AEAFD84-D6C7-005A-65DC-6BAD7F35D846}"/>
              </a:ext>
            </a:extLst>
          </p:cNvPr>
          <p:cNvSpPr/>
          <p:nvPr/>
        </p:nvSpPr>
        <p:spPr>
          <a:xfrm>
            <a:off x="4800600" y="257040"/>
            <a:ext cx="4114080" cy="462852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029371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D2B0-A79C-0D61-AA65-49C63DC5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34409F30-7FF6-9BED-A661-DA43B99E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233606"/>
            <a:ext cx="7619760" cy="8142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08 – </a:t>
            </a:r>
            <a:r>
              <a:rPr lang="pt-BR" sz="2400" b="1" dirty="0" err="1"/>
              <a:t>Iteroperabilidade</a:t>
            </a:r>
            <a:r>
              <a:rPr lang="pt-BR" sz="2400" b="1" dirty="0"/>
              <a:t> de Arquivos estruturados - CSV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9E196A86-1264-7FD0-D55B-7E177D4B386D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4BD71C49-31C3-FF3F-C141-5504C498861D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89E5D8C-57D0-1D41-17EA-179C2E43758F}"/>
              </a:ext>
            </a:extLst>
          </p:cNvPr>
          <p:cNvSpPr txBox="1"/>
          <p:nvPr/>
        </p:nvSpPr>
        <p:spPr>
          <a:xfrm>
            <a:off x="694142" y="2265853"/>
            <a:ext cx="3597531" cy="2274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Permitem armazenar código Python compilado.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São o formato padrão para salvar interfaces gráficas.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Facilitam o intercâmbio de dados tabulares entre diferentes softwares (como Excel).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São imunes a vírus de macro.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Suportam apenas dados do tipo booleano.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1F2876F-FBEE-D81B-E5BE-855CA5899344}"/>
              </a:ext>
            </a:extLst>
          </p:cNvPr>
          <p:cNvSpPr txBox="1"/>
          <p:nvPr/>
        </p:nvSpPr>
        <p:spPr>
          <a:xfrm>
            <a:off x="694142" y="1342523"/>
            <a:ext cx="3243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effectLst/>
              </a:rPr>
              <a:t>Arquivos do tipo </a:t>
            </a:r>
            <a:r>
              <a:rPr lang="pt-BR" b="1" dirty="0">
                <a:effectLst/>
              </a:rPr>
              <a:t>CSV</a:t>
            </a:r>
            <a:r>
              <a:rPr lang="pt-BR" dirty="0">
                <a:effectLst/>
              </a:rPr>
              <a:t> são amplamente utilizados na computação porque: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A61CFD2-C81F-B072-32C0-9CE52BA9B180}"/>
              </a:ext>
            </a:extLst>
          </p:cNvPr>
          <p:cNvSpPr txBox="1"/>
          <p:nvPr/>
        </p:nvSpPr>
        <p:spPr>
          <a:xfrm>
            <a:off x="4011346" y="1260717"/>
            <a:ext cx="5132654" cy="32316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csv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dados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[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"Nome"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"Idade"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"Cidade"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"Ana"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"São Paulo"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"Pedro"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"Campinas"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"Maria"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"Santos"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with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open(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"pessoas.csv"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"w"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newline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encoding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"utf-8"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arquivo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escritor_csv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csv.writer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arquivo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for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linha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in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dados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escritor_csv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.writerow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linha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"Arquivo CSV criado com sucesso."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533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EE2DA-C948-0AE7-BCCB-EEF4FED0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38980D59-817B-7CB0-3ECC-46A54A3C6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720" y="233606"/>
            <a:ext cx="7619760" cy="81428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08 – </a:t>
            </a:r>
            <a:r>
              <a:rPr lang="pt-BR" sz="2400" b="1" dirty="0" err="1"/>
              <a:t>Iteroperabilidade</a:t>
            </a:r>
            <a:r>
              <a:rPr lang="pt-BR" sz="2400" b="1" dirty="0"/>
              <a:t> de Arquivos estruturados - CSV</a:t>
            </a:r>
            <a:endParaRPr lang="pt-BR" sz="2400" b="0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06E15E5B-944C-2B6E-88F9-29AD3CAED770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1418F9CD-A54C-B409-2088-4D4534870765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2E74E62-3E31-C871-68D6-E2472ABD24E7}"/>
              </a:ext>
            </a:extLst>
          </p:cNvPr>
          <p:cNvSpPr txBox="1"/>
          <p:nvPr/>
        </p:nvSpPr>
        <p:spPr>
          <a:xfrm>
            <a:off x="694142" y="2265853"/>
            <a:ext cx="3597531" cy="2274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Permitem armazenar código Python compilado.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São o formato padrão para salvar interfaces gráficas.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b="1" dirty="0">
                <a:effectLst/>
              </a:rPr>
              <a:t>Facilitam o intercâmbio de dados tabulares entre diferentes softwares (como Excel).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São imunes a vírus de macro.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Suportam apenas dados do tipo booleano.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8D02566-4B43-242C-8A1F-134CDB0459DF}"/>
              </a:ext>
            </a:extLst>
          </p:cNvPr>
          <p:cNvSpPr txBox="1"/>
          <p:nvPr/>
        </p:nvSpPr>
        <p:spPr>
          <a:xfrm>
            <a:off x="694142" y="1342523"/>
            <a:ext cx="3243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effectLst/>
              </a:rPr>
              <a:t>Arquivos do tipo </a:t>
            </a:r>
            <a:r>
              <a:rPr lang="pt-BR" b="1" dirty="0">
                <a:effectLst/>
              </a:rPr>
              <a:t>CSV</a:t>
            </a:r>
            <a:r>
              <a:rPr lang="pt-BR" dirty="0">
                <a:effectLst/>
              </a:rPr>
              <a:t> são amplamente utilizados na computação porque: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B2890C9-4804-AFE5-3C19-8011FAAEDD2E}"/>
              </a:ext>
            </a:extLst>
          </p:cNvPr>
          <p:cNvSpPr txBox="1"/>
          <p:nvPr/>
        </p:nvSpPr>
        <p:spPr>
          <a:xfrm>
            <a:off x="4011346" y="1260717"/>
            <a:ext cx="5132654" cy="32316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csv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dados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[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"Nome"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"Idade"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"Cidade"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"Ana"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25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"São Paulo"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"Pedro"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30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"Campinas"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],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"Maria"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"Santos"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with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open(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"pessoas.csv"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"w"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newline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encoding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"utf-8"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as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arquivo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escritor_csv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csv.writer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arquivo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for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linha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in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dados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escritor_csv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.writerow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linha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"Arquivo CSV criado com sucesso."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3408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922DA-9BDC-4867-33DD-D9845CB41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3BC4FA02-080C-77EE-F2E7-89DBD7853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6197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09 – </a:t>
            </a:r>
            <a:r>
              <a:rPr lang="pt-BR" sz="2400" b="1" dirty="0"/>
              <a:t>Persistência (salvar dados) em formato de arquivo </a:t>
            </a:r>
            <a:r>
              <a:rPr lang="pt-BR" sz="2400" b="1" i="1" dirty="0"/>
              <a:t>JSON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AAF2F4C0-1B44-6F95-516A-980382500B5E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308AF7B0-922B-7B44-5600-C4256A31E340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1B947E8-7CD5-CD9C-1CC4-322DBAEC1A28}"/>
              </a:ext>
            </a:extLst>
          </p:cNvPr>
          <p:cNvSpPr txBox="1"/>
          <p:nvPr/>
        </p:nvSpPr>
        <p:spPr>
          <a:xfrm>
            <a:off x="4445187" y="1497252"/>
            <a:ext cx="4592022" cy="264174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json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Leitura do arquivo JSON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dados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json.load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(open(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config.json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"r"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encoding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"utf-8"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Exibição dos dados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print(dados)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8D4A725-1CFB-1BE8-F950-4092BF1689D8}"/>
              </a:ext>
            </a:extLst>
          </p:cNvPr>
          <p:cNvSpPr txBox="1"/>
          <p:nvPr/>
        </p:nvSpPr>
        <p:spPr>
          <a:xfrm>
            <a:off x="0" y="1497252"/>
            <a:ext cx="4385115" cy="301281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sz="1400" dirty="0"/>
              <a:t>Considere um arquivo </a:t>
            </a:r>
            <a:r>
              <a:rPr lang="pt-BR" sz="1400" dirty="0" err="1"/>
              <a:t>config.json</a:t>
            </a:r>
            <a:r>
              <a:rPr lang="pt-BR" sz="1400" dirty="0"/>
              <a:t> previamente existente. </a:t>
            </a:r>
            <a:r>
              <a:rPr lang="pt-BR" sz="1400" dirty="0">
                <a:effectLst/>
              </a:rPr>
              <a:t>Considere o comando </a:t>
            </a:r>
            <a:r>
              <a:rPr lang="pt-BR" sz="1400" b="1" dirty="0" err="1">
                <a:solidFill>
                  <a:srgbClr val="303030"/>
                </a:solidFill>
                <a:effectLst/>
                <a:latin typeface="Roboto Mono" pitchFamily="2" charset="0"/>
                <a:ea typeface="Roboto Mono" pitchFamily="2" charset="0"/>
              </a:rPr>
              <a:t>json.load</a:t>
            </a:r>
            <a:r>
              <a:rPr lang="pt-BR" sz="1400" b="1" dirty="0">
                <a:solidFill>
                  <a:srgbClr val="303030"/>
                </a:solidFill>
                <a:effectLst/>
                <a:latin typeface="Roboto Mono" pitchFamily="2" charset="0"/>
                <a:ea typeface="Roboto Mono" pitchFamily="2" charset="0"/>
              </a:rPr>
              <a:t>(open("</a:t>
            </a:r>
            <a:r>
              <a:rPr lang="pt-BR" sz="1400" b="1" dirty="0" err="1">
                <a:solidFill>
                  <a:srgbClr val="303030"/>
                </a:solidFill>
                <a:effectLst/>
                <a:latin typeface="Roboto Mono" pitchFamily="2" charset="0"/>
                <a:ea typeface="Roboto Mono" pitchFamily="2" charset="0"/>
              </a:rPr>
              <a:t>config.json</a:t>
            </a:r>
            <a:r>
              <a:rPr lang="pt-BR" sz="1400" b="1" dirty="0">
                <a:solidFill>
                  <a:srgbClr val="303030"/>
                </a:solidFill>
                <a:effectLst/>
                <a:latin typeface="Roboto Mono" pitchFamily="2" charset="0"/>
                <a:ea typeface="Roboto Mono" pitchFamily="2" charset="0"/>
              </a:rPr>
              <a:t>", "r"))</a:t>
            </a:r>
            <a:r>
              <a:rPr lang="pt-BR" sz="1400" dirty="0">
                <a:effectLst/>
              </a:rPr>
              <a:t>. </a:t>
            </a:r>
          </a:p>
          <a:p>
            <a:pPr>
              <a:lnSpc>
                <a:spcPct val="150000"/>
              </a:lnSpc>
              <a:buNone/>
            </a:pPr>
            <a:r>
              <a:rPr lang="pt-BR" sz="1400" dirty="0">
                <a:effectLst/>
              </a:rPr>
              <a:t>Sua função é: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Salvar um dicionário Python em um arquivo de texto.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Criar uma cópia de segurança do arquivo JSON.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Ler um arquivo JSON e transformá-lo em um objeto Python (como dicionário).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Deletar as chaves vazias de um arquivo de configuração.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Validar se o código Python possui erros de sintaxe.</a:t>
            </a:r>
          </a:p>
        </p:txBody>
      </p:sp>
    </p:spTree>
    <p:extLst>
      <p:ext uri="{BB962C8B-B14F-4D97-AF65-F5344CB8AC3E}">
        <p14:creationId xmlns:p14="http://schemas.microsoft.com/office/powerpoint/2010/main" val="33193094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17CB-FFEC-E71F-5690-60D1465D7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D2CC20F8-2996-8A17-FAAE-44990135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6197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09 – </a:t>
            </a:r>
            <a:r>
              <a:rPr lang="pt-BR" sz="2400" b="1" dirty="0"/>
              <a:t>Persistência (salvar dados) em formato de arquivo </a:t>
            </a:r>
            <a:r>
              <a:rPr lang="pt-BR" sz="2400" b="1" i="1" dirty="0"/>
              <a:t>JSON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C30E6D7B-5F53-D232-B6A6-D7CFE695336D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26B9A0A0-5F7F-2B60-2970-6F6E5DCC5558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513CA8E-430B-3698-63B6-F8281BBCEF3C}"/>
              </a:ext>
            </a:extLst>
          </p:cNvPr>
          <p:cNvSpPr txBox="1"/>
          <p:nvPr/>
        </p:nvSpPr>
        <p:spPr>
          <a:xfrm>
            <a:off x="0" y="1497252"/>
            <a:ext cx="4385115" cy="301281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sz="1400" dirty="0"/>
              <a:t>Considere um arquivo </a:t>
            </a:r>
            <a:r>
              <a:rPr lang="pt-BR" sz="1400" dirty="0" err="1"/>
              <a:t>config.json</a:t>
            </a:r>
            <a:r>
              <a:rPr lang="pt-BR" sz="1400" dirty="0"/>
              <a:t> previamente existente. </a:t>
            </a:r>
            <a:r>
              <a:rPr lang="pt-BR" sz="1400" dirty="0">
                <a:effectLst/>
              </a:rPr>
              <a:t>Considere o comando </a:t>
            </a:r>
            <a:r>
              <a:rPr lang="pt-BR" sz="1400" b="1" dirty="0" err="1">
                <a:solidFill>
                  <a:srgbClr val="303030"/>
                </a:solidFill>
                <a:effectLst/>
                <a:latin typeface="Roboto Mono" pitchFamily="2" charset="0"/>
                <a:ea typeface="Roboto Mono" pitchFamily="2" charset="0"/>
              </a:rPr>
              <a:t>json.load</a:t>
            </a:r>
            <a:r>
              <a:rPr lang="pt-BR" sz="1400" b="1" dirty="0">
                <a:solidFill>
                  <a:srgbClr val="303030"/>
                </a:solidFill>
                <a:effectLst/>
                <a:latin typeface="Roboto Mono" pitchFamily="2" charset="0"/>
                <a:ea typeface="Roboto Mono" pitchFamily="2" charset="0"/>
              </a:rPr>
              <a:t>(open("</a:t>
            </a:r>
            <a:r>
              <a:rPr lang="pt-BR" sz="1400" b="1" dirty="0" err="1">
                <a:solidFill>
                  <a:srgbClr val="303030"/>
                </a:solidFill>
                <a:effectLst/>
                <a:latin typeface="Roboto Mono" pitchFamily="2" charset="0"/>
                <a:ea typeface="Roboto Mono" pitchFamily="2" charset="0"/>
              </a:rPr>
              <a:t>config.json</a:t>
            </a:r>
            <a:r>
              <a:rPr lang="pt-BR" sz="1400" b="1" dirty="0">
                <a:solidFill>
                  <a:srgbClr val="303030"/>
                </a:solidFill>
                <a:effectLst/>
                <a:latin typeface="Roboto Mono" pitchFamily="2" charset="0"/>
                <a:ea typeface="Roboto Mono" pitchFamily="2" charset="0"/>
              </a:rPr>
              <a:t>", "r"))</a:t>
            </a:r>
            <a:r>
              <a:rPr lang="pt-BR" sz="1400" dirty="0">
                <a:effectLst/>
              </a:rPr>
              <a:t>. </a:t>
            </a:r>
          </a:p>
          <a:p>
            <a:pPr>
              <a:lnSpc>
                <a:spcPct val="150000"/>
              </a:lnSpc>
              <a:buNone/>
            </a:pPr>
            <a:r>
              <a:rPr lang="pt-BR" sz="1400" dirty="0">
                <a:effectLst/>
              </a:rPr>
              <a:t>Sua função é: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Salvar um dicionário Python em um arquivo de texto.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Criar uma cópia de segurança do arquivo JSON.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200" b="1" dirty="0">
                <a:effectLst/>
              </a:rPr>
              <a:t>Ler um arquivo JSON e transformá-lo em um objeto Python (como dicionário).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Deletar as chaves vazias de um arquivo de configuração.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200" dirty="0">
                <a:effectLst/>
              </a:rPr>
              <a:t>Validar se o código Python possui erros de sintaxe.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645E581-2150-459F-9382-4073357F7DE6}"/>
              </a:ext>
            </a:extLst>
          </p:cNvPr>
          <p:cNvSpPr txBox="1"/>
          <p:nvPr/>
        </p:nvSpPr>
        <p:spPr>
          <a:xfrm>
            <a:off x="4445187" y="1497252"/>
            <a:ext cx="4592022" cy="231858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import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json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Leitura do arquivo JSON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dados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json.load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(open(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4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config.json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"r"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 err="1">
                <a:solidFill>
                  <a:srgbClr val="0097A7"/>
                </a:solidFill>
                <a:effectLst/>
                <a:latin typeface="Roboto Mono" pitchFamily="2" charset="0"/>
              </a:rPr>
              <a:t>encoding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"utf-8"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Exibição dos dados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print(dados)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120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0EF3C-4F21-FCF6-134D-F5540332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85B1AAD8-E3B5-0643-E5CE-B033858C6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6197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11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pt-BR" sz="2400" b="1" dirty="0"/>
              <a:t>Depuração de Código (DEBUG)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4C004732-4A85-B76B-7B27-00E64F166F5F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6A1689FF-626E-624E-2F62-86A07E0FB69D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64330A-2DC6-8A28-1E0E-ECBD8826FA63}"/>
              </a:ext>
            </a:extLst>
          </p:cNvPr>
          <p:cNvSpPr txBox="1"/>
          <p:nvPr/>
        </p:nvSpPr>
        <p:spPr>
          <a:xfrm>
            <a:off x="767998" y="1374918"/>
            <a:ext cx="7842482" cy="199715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sz="1200" dirty="0"/>
              <a:t>No contexto de programação, o termo Debug (ou Depuração) refere-se a:</a:t>
            </a:r>
          </a:p>
          <a:p>
            <a:pPr>
              <a:lnSpc>
                <a:spcPct val="150000"/>
              </a:lnSpc>
              <a:buNone/>
            </a:pPr>
            <a:endParaRPr lang="pt-BR" sz="1200" dirty="0">
              <a:effectLst/>
            </a:endParaRP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Otimizar o código para rodar em servidores na nuvem.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Traduzir os comentários do código para outra língua.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Proteger o software contra ataques de hackers.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O ato de rastrear o fluxo do programa para isolar e resolver falhas.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Criar a interface visual para o usuário final.</a:t>
            </a:r>
            <a:endParaRPr lang="pt-BR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51053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1326B-73DB-D745-B77E-9C70A93AD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04453DCB-8730-94EB-516D-2B240E738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6197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11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pt-BR" sz="2400" b="1" dirty="0"/>
              <a:t>Depuração de Código (DEBUG)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E06677DF-9326-DDA7-1C27-F8CF43BF47C5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9C34F7DA-AE7B-26D5-A2B7-D5CB49DA7F0D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4A7385-6136-E00B-7F10-B625D436FA66}"/>
              </a:ext>
            </a:extLst>
          </p:cNvPr>
          <p:cNvSpPr txBox="1"/>
          <p:nvPr/>
        </p:nvSpPr>
        <p:spPr>
          <a:xfrm>
            <a:off x="767998" y="1374918"/>
            <a:ext cx="7842482" cy="199715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pt-BR" sz="1200" dirty="0"/>
              <a:t>No contexto de programação, o termo Debug (ou Depuração) refere-se a:</a:t>
            </a:r>
          </a:p>
          <a:p>
            <a:pPr>
              <a:lnSpc>
                <a:spcPct val="150000"/>
              </a:lnSpc>
              <a:buNone/>
            </a:pPr>
            <a:endParaRPr lang="pt-BR" sz="1200" dirty="0">
              <a:effectLst/>
            </a:endParaRP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Otimizar o código para rodar em servidores na nuvem.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Traduzir os comentários do código para outra língua.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Proteger o software contra ataques de hackers.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b="1" dirty="0"/>
              <a:t>O ato de rastrear o fluxo do programa para isolar e resolver falhas.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Criar a interface visual para o usuário final.</a:t>
            </a:r>
            <a:endParaRPr lang="pt-BR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142937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FFA84-1971-8056-C9A4-1898BCDE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FFC80E52-A55A-6920-F54A-386110C66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6197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12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pt-BR" sz="2400" b="1" dirty="0"/>
              <a:t>Depuração de Código (DEBUG)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2F684BF5-8CE9-9FD4-B3B6-EF7786A1CBD0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C39F40D7-12E1-E510-D527-EBCADA71B56A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A3DFA0A-FA99-724D-BCEC-247D75E7BB54}"/>
              </a:ext>
            </a:extLst>
          </p:cNvPr>
          <p:cNvSpPr txBox="1"/>
          <p:nvPr/>
        </p:nvSpPr>
        <p:spPr>
          <a:xfrm>
            <a:off x="767999" y="1374918"/>
            <a:ext cx="3850722" cy="32265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pt-BR" dirty="0"/>
              <a:t>O código </a:t>
            </a:r>
            <a:r>
              <a:rPr lang="pt-BR" dirty="0" err="1"/>
              <a:t>python</a:t>
            </a:r>
            <a:r>
              <a:rPr lang="pt-BR" dirty="0"/>
              <a:t> a seguir resultará em erro. Podemos classificar este tipo de erro como:</a:t>
            </a:r>
          </a:p>
          <a:p>
            <a:endParaRPr lang="pt-BR" dirty="0"/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/>
              <a:t>Lógico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/>
              <a:t>Semântico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/>
              <a:t>Execução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/>
              <a:t>Sintaxe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 err="1"/>
              <a:t>Runtime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62DEBC-E129-0E9D-E46C-8BBFF6EF7D2A}"/>
              </a:ext>
            </a:extLst>
          </p:cNvPr>
          <p:cNvSpPr txBox="1"/>
          <p:nvPr/>
        </p:nvSpPr>
        <p:spPr>
          <a:xfrm>
            <a:off x="4817286" y="1374918"/>
            <a:ext cx="1770399" cy="13490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X </a:t>
            </a:r>
            <a:r>
              <a:rPr lang="en-US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en-US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10</a:t>
            </a:r>
            <a:endParaRPr lang="en-US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en-US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if</a:t>
            </a:r>
            <a:r>
              <a:rPr lang="en-U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(x </a:t>
            </a:r>
            <a:r>
              <a:rPr lang="en-US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en-US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210</a:t>
            </a:r>
            <a:r>
              <a:rPr lang="en-U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en-US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print(x)</a:t>
            </a:r>
            <a:endParaRPr lang="en-US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8540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41566-4691-3205-E992-182772BA3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8F2BDE1C-F92B-2B40-92DC-D94D6632B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6197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12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pt-BR" sz="2400" b="1" dirty="0"/>
              <a:t>Depuração de Código (DEBUG)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F8E2EB92-93F8-B435-09EE-B3699066C6E5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D8F98DCB-4595-0FFF-F6C9-A0606C041A49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DCFA248-34A6-ACF0-5093-792551B7C1C8}"/>
              </a:ext>
            </a:extLst>
          </p:cNvPr>
          <p:cNvSpPr txBox="1"/>
          <p:nvPr/>
        </p:nvSpPr>
        <p:spPr>
          <a:xfrm>
            <a:off x="767999" y="1374918"/>
            <a:ext cx="3850722" cy="32265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pt-BR" dirty="0"/>
              <a:t>O código </a:t>
            </a:r>
            <a:r>
              <a:rPr lang="pt-BR" dirty="0" err="1"/>
              <a:t>python</a:t>
            </a:r>
            <a:r>
              <a:rPr lang="pt-BR" dirty="0"/>
              <a:t> a seguir resultará em erro. Podemos classificar este tipo de erro como:</a:t>
            </a:r>
          </a:p>
          <a:p>
            <a:endParaRPr lang="pt-BR" dirty="0"/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/>
              <a:t>Lógico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/>
              <a:t>Semântico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/>
              <a:t>Execução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b="1" dirty="0"/>
              <a:t>Sintaxe</a:t>
            </a:r>
          </a:p>
          <a:p>
            <a:pPr marL="342900" indent="-342900">
              <a:lnSpc>
                <a:spcPct val="150000"/>
              </a:lnSpc>
              <a:buFont typeface="+mj-lt"/>
              <a:buAutoNum type="alphaLcParenR"/>
            </a:pPr>
            <a:r>
              <a:rPr lang="pt-BR" dirty="0" err="1"/>
              <a:t>Runtime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33C0704-F380-296C-C3F7-7F225BD8BF7C}"/>
              </a:ext>
            </a:extLst>
          </p:cNvPr>
          <p:cNvSpPr txBox="1"/>
          <p:nvPr/>
        </p:nvSpPr>
        <p:spPr>
          <a:xfrm>
            <a:off x="4817286" y="1374918"/>
            <a:ext cx="1770399" cy="13490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X </a:t>
            </a:r>
            <a:r>
              <a:rPr lang="en-US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en-US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10</a:t>
            </a:r>
            <a:endParaRPr lang="en-US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en-US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if</a:t>
            </a:r>
            <a:r>
              <a:rPr lang="en-U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(x </a:t>
            </a:r>
            <a:r>
              <a:rPr lang="en-US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==</a:t>
            </a:r>
            <a:r>
              <a:rPr lang="en-US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210</a:t>
            </a:r>
            <a:r>
              <a:rPr lang="en-U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r>
              <a:rPr lang="en-US" sz="14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en-US" sz="1400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print(x)</a:t>
            </a:r>
            <a:endParaRPr lang="en-US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8304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03089-781D-05F5-0084-B11B261B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46029A0B-B2FE-9506-5FF8-1A1DCB1CC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6197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13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Depuração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: </a:t>
            </a:r>
            <a:r>
              <a:rPr lang="pt-BR" sz="2400" b="1" dirty="0"/>
              <a:t>Erros de programação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71D52103-EC71-00E5-F274-B2EA8E0F7E20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DBB685B3-27F8-ABF4-123A-EEDEC00AB4D0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4512807-65A1-8533-221D-373F9C2CDD12}"/>
              </a:ext>
            </a:extLst>
          </p:cNvPr>
          <p:cNvSpPr txBox="1"/>
          <p:nvPr/>
        </p:nvSpPr>
        <p:spPr>
          <a:xfrm>
            <a:off x="762120" y="1101266"/>
            <a:ext cx="4357982" cy="310514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pt-BR" dirty="0"/>
              <a:t>Um programa que deveria calcular a média aritmética de dois números faz: </a:t>
            </a:r>
            <a:r>
              <a:rPr lang="pt-BR" b="1" dirty="0">
                <a:latin typeface="Roboto Mono" pitchFamily="2" charset="0"/>
                <a:ea typeface="Roboto Mono" pitchFamily="2" charset="0"/>
              </a:rPr>
              <a:t>media = n1 + n2 / 2 </a:t>
            </a:r>
          </a:p>
          <a:p>
            <a:r>
              <a:rPr lang="pt-BR" dirty="0"/>
              <a:t>O erro aqui é:</a:t>
            </a:r>
          </a:p>
          <a:p>
            <a:endParaRPr lang="pt-BR" dirty="0"/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Erro de Sintaxe, pois faltam colchetes.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Erro de Execução, pois não se divide por 2.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Erro Lógico, pois a precedência de operadores altera o cálculo esperado.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Erro de Tipo, pois o resultado será sempre uma </a:t>
            </a:r>
            <a:r>
              <a:rPr lang="pt-BR" sz="1200" dirty="0" err="1"/>
              <a:t>string</a:t>
            </a:r>
            <a:r>
              <a:rPr lang="pt-BR" sz="1200" dirty="0"/>
              <a:t>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Erro de Memória, pois o cálculo é muito complexo.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2D827-137E-E064-68C4-6E054CCC84FA}"/>
              </a:ext>
            </a:extLst>
          </p:cNvPr>
          <p:cNvSpPr txBox="1"/>
          <p:nvPr/>
        </p:nvSpPr>
        <p:spPr>
          <a:xfrm>
            <a:off x="5264474" y="1101266"/>
            <a:ext cx="2751543" cy="116955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n1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10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n2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5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media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n1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n2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/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2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"O valor é: 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media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1461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2AB7C-187D-48A9-BFAC-51C22D68F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59FA2CBD-2504-E313-EDE0-1D22914A2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6197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13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Depuração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: </a:t>
            </a:r>
            <a:r>
              <a:rPr lang="pt-BR" sz="2400" b="1" dirty="0"/>
              <a:t>Erros de programação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D3867C71-483E-F7C4-8BE5-4B8D4C924EBF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7946010E-C3CB-78D2-E239-B812EDE1AF08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DDFA7C5-03E0-AE65-1B6E-215FDEDDD677}"/>
              </a:ext>
            </a:extLst>
          </p:cNvPr>
          <p:cNvSpPr txBox="1"/>
          <p:nvPr/>
        </p:nvSpPr>
        <p:spPr>
          <a:xfrm>
            <a:off x="762120" y="1101266"/>
            <a:ext cx="4357982" cy="310514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pt-BR" dirty="0"/>
              <a:t>Um programa que deveria calcular a média aritmética de dois números faz: </a:t>
            </a:r>
            <a:r>
              <a:rPr lang="pt-BR" b="1" dirty="0">
                <a:latin typeface="Roboto Mono" pitchFamily="2" charset="0"/>
                <a:ea typeface="Roboto Mono" pitchFamily="2" charset="0"/>
              </a:rPr>
              <a:t>media = n1 + n2 / 2 </a:t>
            </a:r>
          </a:p>
          <a:p>
            <a:r>
              <a:rPr lang="pt-BR" dirty="0"/>
              <a:t>O erro aqui é:</a:t>
            </a:r>
          </a:p>
          <a:p>
            <a:endParaRPr lang="pt-BR" dirty="0"/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Erro de Sintaxe, pois faltam colchetes.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Erro de Execução, pois não se divide por 2.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b="1" dirty="0"/>
              <a:t>Erro Lógico, pois a precedência de operadores altera o cálculo esperado.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Erro de Tipo, pois o resultado será sempre uma </a:t>
            </a:r>
            <a:r>
              <a:rPr lang="pt-BR" sz="1200" dirty="0" err="1"/>
              <a:t>string</a:t>
            </a:r>
            <a:r>
              <a:rPr lang="pt-BR" sz="1200" dirty="0"/>
              <a:t>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Erro de Memória, pois o cálculo é muito complexo.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9CA398D-EFD6-8EE7-DBD6-5BFBB8948115}"/>
              </a:ext>
            </a:extLst>
          </p:cNvPr>
          <p:cNvSpPr txBox="1"/>
          <p:nvPr/>
        </p:nvSpPr>
        <p:spPr>
          <a:xfrm>
            <a:off x="5264474" y="1101266"/>
            <a:ext cx="2751543" cy="116955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n1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10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n2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5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media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n1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n2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/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2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"O valor é: 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media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31413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6BF13-8AD9-2C4F-423C-7FB16E85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EA7EEB98-11E5-CB7B-E2ED-9EF070A8A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6197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14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pt-BR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Orientação a Objetos - Abstração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800406D3-E91A-DF12-5798-F6EFDE12FD76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3C4870C7-D4EA-E5CC-6A85-97A1816E7544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214F01-B3C9-6CE8-FE00-3C226DF67806}"/>
              </a:ext>
            </a:extLst>
          </p:cNvPr>
          <p:cNvSpPr txBox="1"/>
          <p:nvPr/>
        </p:nvSpPr>
        <p:spPr>
          <a:xfrm>
            <a:off x="762120" y="1101266"/>
            <a:ext cx="7140432" cy="199715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pt-BR" dirty="0"/>
              <a:t>A </a:t>
            </a:r>
            <a:r>
              <a:rPr lang="pt-BR" b="1" dirty="0"/>
              <a:t>abstração</a:t>
            </a:r>
            <a:r>
              <a:rPr lang="pt-BR" dirty="0"/>
              <a:t> na Orientação a Objetos serve principalmente para:</a:t>
            </a:r>
          </a:p>
          <a:p>
            <a:endParaRPr lang="pt-BR" dirty="0"/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Representar apenas as características essenciais de um objeto para o sistema.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Permitir que uma classe acesse variáveis globais do sistema.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Transformar todos os atributos em números reais.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Impedir que o programa seja encerrado por erro de usuário.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Criar cópias idênticas de listas em diferentes classes.</a:t>
            </a:r>
          </a:p>
        </p:txBody>
      </p:sp>
    </p:spTree>
    <p:extLst>
      <p:ext uri="{BB962C8B-B14F-4D97-AF65-F5344CB8AC3E}">
        <p14:creationId xmlns:p14="http://schemas.microsoft.com/office/powerpoint/2010/main" val="28811836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00015-BBB8-8516-4614-C5D27898E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8646C769-491D-03E9-2854-EEE51354D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6197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14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pt-BR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Orientação a Objetos - Abstração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C46F1F51-4B90-E958-2B0B-507528E0A0BC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DA3633EC-410D-F763-16F6-6F1D88B4D46A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83525F-9542-2763-1760-914667B771AD}"/>
              </a:ext>
            </a:extLst>
          </p:cNvPr>
          <p:cNvSpPr txBox="1"/>
          <p:nvPr/>
        </p:nvSpPr>
        <p:spPr>
          <a:xfrm>
            <a:off x="762120" y="1101266"/>
            <a:ext cx="7140432" cy="199715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pt-BR" dirty="0"/>
              <a:t>A </a:t>
            </a:r>
            <a:r>
              <a:rPr lang="pt-BR" b="1" dirty="0"/>
              <a:t>abstração</a:t>
            </a:r>
            <a:r>
              <a:rPr lang="pt-BR" dirty="0"/>
              <a:t> na Orientação a Objetos serve principalmente para:</a:t>
            </a:r>
          </a:p>
          <a:p>
            <a:endParaRPr lang="pt-BR" dirty="0"/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b="1" dirty="0"/>
              <a:t>Representar apenas as características essenciais de um objeto para o sistema.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Permitir que uma classe acesse variáveis globais do sistema.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Transformar todos os atributos em números reais.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Impedir que o programa seja encerrado por erro de usuário. </a:t>
            </a:r>
          </a:p>
          <a:p>
            <a:pPr marL="228600" indent="-228600">
              <a:lnSpc>
                <a:spcPct val="150000"/>
              </a:lnSpc>
              <a:buAutoNum type="alphaUcParenR"/>
            </a:pPr>
            <a:r>
              <a:rPr lang="pt-BR" sz="1200" dirty="0"/>
              <a:t>Criar cópias idênticas de listas em diferentes classes.</a:t>
            </a:r>
          </a:p>
        </p:txBody>
      </p:sp>
    </p:spTree>
    <p:extLst>
      <p:ext uri="{BB962C8B-B14F-4D97-AF65-F5344CB8AC3E}">
        <p14:creationId xmlns:p14="http://schemas.microsoft.com/office/powerpoint/2010/main" val="3736213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03E54-B723-520D-1121-BD8DC28D8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1323E75F-6F92-C768-067C-E8FE36E32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8483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15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Orientação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a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Objetos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- Classe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289F4D85-E84C-3E42-9FD3-015D01740597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4DA2AFE0-90E2-C2C5-E3C7-401C011A523E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968ADF-4D2D-2384-DC92-787E47E28A5A}"/>
              </a:ext>
            </a:extLst>
          </p:cNvPr>
          <p:cNvSpPr txBox="1"/>
          <p:nvPr/>
        </p:nvSpPr>
        <p:spPr>
          <a:xfrm>
            <a:off x="762120" y="1101266"/>
            <a:ext cx="2454966" cy="346248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pt-BR" dirty="0"/>
              <a:t>Observe a </a:t>
            </a:r>
            <a:r>
              <a:rPr lang="pt-BR" b="1" dirty="0"/>
              <a:t>classe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>
                <a:effectLst/>
              </a:rPr>
              <a:t>O que será impresso?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 err="1">
                <a:effectLst/>
              </a:rPr>
              <a:t>preco</a:t>
            </a:r>
            <a:r>
              <a:rPr lang="pt-BR" sz="1400" dirty="0">
                <a:effectLst/>
              </a:rPr>
              <a:t> </a:t>
            </a:r>
            <a:endParaRPr lang="pt-BR" sz="1400" b="1" dirty="0">
              <a:effectLst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50.0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p1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Produto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Erro, pois o nome do atributo deveria ser </a:t>
            </a:r>
            <a:r>
              <a:rPr lang="pt-BR" sz="1400" dirty="0" err="1">
                <a:effectLst/>
              </a:rPr>
              <a:t>preco</a:t>
            </a:r>
            <a:r>
              <a:rPr lang="pt-BR" sz="1400" dirty="0">
                <a:effectLst/>
              </a:rPr>
              <a:t>.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5C03B3A-8927-FF7A-9D9B-C4A3081C788B}"/>
              </a:ext>
            </a:extLst>
          </p:cNvPr>
          <p:cNvSpPr txBox="1"/>
          <p:nvPr/>
        </p:nvSpPr>
        <p:spPr>
          <a:xfrm>
            <a:off x="3308860" y="1106766"/>
            <a:ext cx="4588686" cy="172354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class</a:t>
            </a:r>
            <a:r>
              <a:rPr lang="pt-BR" sz="12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Produto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__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init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__(self, </a:t>
            </a:r>
            <a:r>
              <a:rPr lang="pt-BR" sz="12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parametro_preco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</a:t>
            </a:r>
            <a:r>
              <a:rPr lang="pt-BR" sz="12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valor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parametro_preco</a:t>
            </a:r>
            <a:endParaRPr lang="pt-BR" sz="1200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p1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Produto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50.0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p1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valor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5454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D9879-CB6F-08E8-7699-DFB2B3128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1B247EA4-0765-9AC2-D9F9-4B5AC84D0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8483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15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Orientação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a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Objetos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- Classe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0873C686-4B5B-6551-837B-ED80D6B70310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DC9CB5EC-9F02-D9B0-7FCB-F773E076876A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5EEB67-FAFE-9B6F-93FF-608524CFB7C4}"/>
              </a:ext>
            </a:extLst>
          </p:cNvPr>
          <p:cNvSpPr txBox="1"/>
          <p:nvPr/>
        </p:nvSpPr>
        <p:spPr>
          <a:xfrm>
            <a:off x="762120" y="1101266"/>
            <a:ext cx="2454966" cy="346248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pt-BR" dirty="0"/>
              <a:t>Observe a </a:t>
            </a:r>
            <a:r>
              <a:rPr lang="pt-BR" b="1" dirty="0"/>
              <a:t>classe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>
                <a:effectLst/>
              </a:rPr>
              <a:t>O que será impresso?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 err="1">
                <a:effectLst/>
              </a:rPr>
              <a:t>preco</a:t>
            </a:r>
            <a:r>
              <a:rPr lang="pt-BR" sz="1400" dirty="0">
                <a:effectLst/>
              </a:rPr>
              <a:t> </a:t>
            </a:r>
            <a:endParaRPr lang="pt-BR" sz="1400" b="1" dirty="0">
              <a:effectLst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b="1" dirty="0">
                <a:effectLst/>
              </a:rPr>
              <a:t>50.0</a:t>
            </a:r>
            <a:r>
              <a:rPr lang="pt-BR" sz="1400" dirty="0">
                <a:effectLst/>
              </a:rPr>
              <a:t>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p1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Produto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Erro, pois o nome do atributo deveria ser </a:t>
            </a:r>
            <a:r>
              <a:rPr lang="pt-BR" sz="1400" dirty="0" err="1">
                <a:effectLst/>
              </a:rPr>
              <a:t>preco</a:t>
            </a:r>
            <a:r>
              <a:rPr lang="pt-BR" sz="1400" dirty="0">
                <a:effectLst/>
              </a:rPr>
              <a:t>.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FD55EA6-C409-CFB8-1AC2-8C38BB55F55B}"/>
              </a:ext>
            </a:extLst>
          </p:cNvPr>
          <p:cNvSpPr txBox="1"/>
          <p:nvPr/>
        </p:nvSpPr>
        <p:spPr>
          <a:xfrm>
            <a:off x="3308860" y="1106766"/>
            <a:ext cx="4588686" cy="172354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class</a:t>
            </a:r>
            <a:r>
              <a:rPr lang="pt-BR" sz="1200" b="0" i="0" dirty="0">
                <a:solidFill>
                  <a:srgbClr val="9C27B0"/>
                </a:solidFill>
                <a:effectLst/>
                <a:latin typeface="Roboto Mono" pitchFamily="2" charset="0"/>
              </a:rPr>
              <a:t> Produto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    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def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__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init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__(self, </a:t>
            </a:r>
            <a:r>
              <a:rPr lang="pt-BR" sz="12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parametro_preco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):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>
              <a:lnSpc>
                <a:spcPct val="150000"/>
              </a:lnSpc>
            </a:pP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       </a:t>
            </a:r>
            <a:r>
              <a:rPr lang="pt-BR" sz="1200" b="0" i="0" dirty="0" err="1">
                <a:solidFill>
                  <a:srgbClr val="C53929"/>
                </a:solidFill>
                <a:effectLst/>
                <a:latin typeface="Roboto Mono" pitchFamily="2" charset="0"/>
              </a:rPr>
              <a:t>self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.</a:t>
            </a:r>
            <a:r>
              <a:rPr lang="pt-BR" sz="12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valor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parametro_preco</a:t>
            </a:r>
            <a:endParaRPr lang="pt-BR" sz="1200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p1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Produto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50.0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p1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.</a:t>
            </a:r>
            <a:r>
              <a:rPr lang="pt-BR" sz="1200" b="1" i="0" dirty="0">
                <a:solidFill>
                  <a:srgbClr val="37474F"/>
                </a:solidFill>
                <a:effectLst/>
                <a:latin typeface="Roboto Mono" pitchFamily="2" charset="0"/>
              </a:rPr>
              <a:t>valor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6593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68D2B-CDF9-7F9B-AC23-559B22EA4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DDC48F7F-5259-780A-68AE-473CBCB3E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8483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16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Encapsulamento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47B00872-4C2F-E189-2266-414C5D440272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D489CBF1-E6A7-7C7B-8695-32A6794EB20B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53BF0C-68F9-1EC2-09FB-5DEA4245870D}"/>
              </a:ext>
            </a:extLst>
          </p:cNvPr>
          <p:cNvSpPr txBox="1"/>
          <p:nvPr/>
        </p:nvSpPr>
        <p:spPr>
          <a:xfrm>
            <a:off x="762120" y="1101266"/>
            <a:ext cx="8034808" cy="249921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pt-BR" dirty="0">
                <a:effectLst/>
              </a:rPr>
              <a:t>Em Python, a convenção de utilizar </a:t>
            </a:r>
            <a:r>
              <a:rPr lang="pt-BR" b="1" dirty="0">
                <a:effectLst/>
              </a:rPr>
              <a:t>dois sublinhados (</a:t>
            </a:r>
            <a:r>
              <a:rPr lang="pt-BR" dirty="0"/>
              <a:t>__</a:t>
            </a:r>
            <a:r>
              <a:rPr lang="pt-BR" b="1" dirty="0">
                <a:effectLst/>
              </a:rPr>
              <a:t>)</a:t>
            </a:r>
            <a:r>
              <a:rPr lang="pt-BR" dirty="0">
                <a:effectLst/>
              </a:rPr>
              <a:t> antes do nome de um atributo (</a:t>
            </a:r>
            <a:r>
              <a:rPr lang="pt-BR" dirty="0" err="1">
                <a:effectLst/>
              </a:rPr>
              <a:t>ex</a:t>
            </a:r>
            <a:r>
              <a:rPr lang="pt-BR" dirty="0">
                <a:effectLst/>
              </a:rPr>
              <a:t>: </a:t>
            </a:r>
            <a:r>
              <a:rPr lang="pt-BR" b="1" dirty="0">
                <a:latin typeface="Roboto Mono" pitchFamily="2" charset="0"/>
                <a:ea typeface="Roboto Mono" pitchFamily="2" charset="0"/>
              </a:rPr>
              <a:t>self.__</a:t>
            </a:r>
            <a:r>
              <a:rPr lang="pt-BR" b="1" dirty="0" err="1">
                <a:latin typeface="Roboto Mono" pitchFamily="2" charset="0"/>
                <a:ea typeface="Roboto Mono" pitchFamily="2" charset="0"/>
              </a:rPr>
              <a:t>codigo</a:t>
            </a:r>
            <a:r>
              <a:rPr lang="pt-BR" dirty="0">
                <a:effectLst/>
              </a:rPr>
              <a:t>) tem como objetivo:</a:t>
            </a:r>
          </a:p>
          <a:p>
            <a:endParaRPr lang="pt-BR" dirty="0">
              <a:effectLst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Tornar o atributo público para qualquer classe.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Indicar que o atributo é uma constante e não pode mudar.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Sinalizar que o atributo é privado (</a:t>
            </a:r>
            <a:r>
              <a:rPr lang="pt-BR" sz="1400" dirty="0" err="1">
                <a:effectLst/>
              </a:rPr>
              <a:t>mangling</a:t>
            </a:r>
            <a:r>
              <a:rPr lang="pt-BR" sz="1400" dirty="0">
                <a:effectLst/>
              </a:rPr>
              <a:t>), dificultando o acesso externo.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Fazer com que o atributo seja deletado após o uso.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Converter o valor do atributo para letras maiúsculas.</a:t>
            </a:r>
          </a:p>
        </p:txBody>
      </p:sp>
    </p:spTree>
    <p:extLst>
      <p:ext uri="{BB962C8B-B14F-4D97-AF65-F5344CB8AC3E}">
        <p14:creationId xmlns:p14="http://schemas.microsoft.com/office/powerpoint/2010/main" val="7159040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38F12-50C6-02B8-C35B-FA0006EDD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CE4BF642-0AD0-4AEB-CBA3-37619E417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8483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16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Encapsulamento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CCE7AD24-D6A7-4853-84D6-A41903F83CE0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F9EBCFE8-5A1B-4F4B-204D-F58ED5F5F873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F1B299-C3B5-A57B-A62F-16CC195D8148}"/>
              </a:ext>
            </a:extLst>
          </p:cNvPr>
          <p:cNvSpPr txBox="1"/>
          <p:nvPr/>
        </p:nvSpPr>
        <p:spPr>
          <a:xfrm>
            <a:off x="762120" y="1101266"/>
            <a:ext cx="8034808" cy="249921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pt-BR" dirty="0">
                <a:effectLst/>
              </a:rPr>
              <a:t>Em Python, a convenção de utilizar </a:t>
            </a:r>
            <a:r>
              <a:rPr lang="pt-BR" b="1" dirty="0">
                <a:effectLst/>
              </a:rPr>
              <a:t>dois sublinhados (</a:t>
            </a:r>
            <a:r>
              <a:rPr lang="pt-BR" dirty="0"/>
              <a:t>__</a:t>
            </a:r>
            <a:r>
              <a:rPr lang="pt-BR" b="1" dirty="0">
                <a:effectLst/>
              </a:rPr>
              <a:t>)</a:t>
            </a:r>
            <a:r>
              <a:rPr lang="pt-BR" dirty="0">
                <a:effectLst/>
              </a:rPr>
              <a:t> antes do nome de um atributo (</a:t>
            </a:r>
            <a:r>
              <a:rPr lang="pt-BR" dirty="0" err="1">
                <a:effectLst/>
              </a:rPr>
              <a:t>ex</a:t>
            </a:r>
            <a:r>
              <a:rPr lang="pt-BR" dirty="0">
                <a:effectLst/>
              </a:rPr>
              <a:t>: </a:t>
            </a:r>
            <a:r>
              <a:rPr lang="pt-BR" b="1" dirty="0">
                <a:latin typeface="Roboto Mono" pitchFamily="2" charset="0"/>
                <a:ea typeface="Roboto Mono" pitchFamily="2" charset="0"/>
              </a:rPr>
              <a:t>self.__</a:t>
            </a:r>
            <a:r>
              <a:rPr lang="pt-BR" b="1" dirty="0" err="1">
                <a:latin typeface="Roboto Mono" pitchFamily="2" charset="0"/>
                <a:ea typeface="Roboto Mono" pitchFamily="2" charset="0"/>
              </a:rPr>
              <a:t>codigo</a:t>
            </a:r>
            <a:r>
              <a:rPr lang="pt-BR" dirty="0">
                <a:effectLst/>
              </a:rPr>
              <a:t>) tem como objetivo:</a:t>
            </a:r>
          </a:p>
          <a:p>
            <a:endParaRPr lang="pt-BR" dirty="0">
              <a:effectLst/>
            </a:endParaRP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Tornar o atributo público para qualquer classe.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Indicar que o atributo é uma constante e não pode mudar.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b="1" dirty="0">
                <a:effectLst/>
              </a:rPr>
              <a:t>Sinalizar que o atributo é privado (</a:t>
            </a:r>
            <a:r>
              <a:rPr lang="pt-BR" sz="1400" b="1" dirty="0" err="1">
                <a:effectLst/>
              </a:rPr>
              <a:t>mangling</a:t>
            </a:r>
            <a:r>
              <a:rPr lang="pt-BR" sz="1400" b="1" dirty="0">
                <a:effectLst/>
              </a:rPr>
              <a:t>), dificultando o acesso externo.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Fazer com que o atributo seja deletado após o uso. </a:t>
            </a:r>
          </a:p>
          <a:p>
            <a:pPr marL="342900" indent="-342900">
              <a:lnSpc>
                <a:spcPct val="150000"/>
              </a:lnSpc>
              <a:buAutoNum type="alphaUcParenR"/>
            </a:pPr>
            <a:r>
              <a:rPr lang="pt-BR" sz="1400" dirty="0">
                <a:effectLst/>
              </a:rPr>
              <a:t>Converter o valor do atributo para letras maiúsculas.</a:t>
            </a:r>
          </a:p>
        </p:txBody>
      </p:sp>
    </p:spTree>
    <p:extLst>
      <p:ext uri="{BB962C8B-B14F-4D97-AF65-F5344CB8AC3E}">
        <p14:creationId xmlns:p14="http://schemas.microsoft.com/office/powerpoint/2010/main" val="5309460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C0969-39AB-D8E4-BE50-C56D55DC7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0ED2139D-4236-7D36-0F06-031871939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8483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16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Encapsulamento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56599367-1AA9-FA6F-AA86-DCD94EE287E0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A46DD220-BE12-3EAC-A199-F0A812CCA9C7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B29CEDE-CB2F-905D-2B6C-0457F1BFBF37}"/>
              </a:ext>
            </a:extLst>
          </p:cNvPr>
          <p:cNvSpPr txBox="1"/>
          <p:nvPr/>
        </p:nvSpPr>
        <p:spPr>
          <a:xfrm>
            <a:off x="839311" y="1742705"/>
            <a:ext cx="5875187" cy="199541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lista_nomes </a:t>
            </a:r>
            <a:r>
              <a:rPr lang="it-IT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[]</a:t>
            </a:r>
            <a:endParaRPr lang="it-IT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i </a:t>
            </a:r>
            <a:r>
              <a:rPr lang="it-IT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it-IT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0</a:t>
            </a:r>
            <a:endParaRPr lang="it-IT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it-IT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while</a:t>
            </a: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i </a:t>
            </a:r>
            <a:r>
              <a:rPr lang="it-IT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&lt;</a:t>
            </a: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___: </a:t>
            </a:r>
            <a:r>
              <a:rPr lang="it-IT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Lacuna 1</a:t>
            </a:r>
            <a:endParaRPr lang="it-IT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nome </a:t>
            </a:r>
            <a:r>
              <a:rPr lang="it-IT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input(</a:t>
            </a:r>
            <a:r>
              <a:rPr lang="it-IT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"Nome: "</a:t>
            </a: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it-IT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lista_nomes.__________(nome) </a:t>
            </a:r>
            <a:r>
              <a:rPr lang="it-IT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Lacuna 2</a:t>
            </a:r>
            <a:endParaRPr lang="it-IT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i </a:t>
            </a:r>
            <a:r>
              <a:rPr lang="it-IT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i </a:t>
            </a:r>
            <a:r>
              <a:rPr lang="it-IT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it-IT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___ </a:t>
            </a:r>
            <a:r>
              <a:rPr lang="it-IT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Lacuna 3</a:t>
            </a:r>
            <a:endParaRPr lang="it-IT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9CE0536-EDCE-7D87-926E-90612D914003}"/>
              </a:ext>
            </a:extLst>
          </p:cNvPr>
          <p:cNvSpPr txBox="1"/>
          <p:nvPr/>
        </p:nvSpPr>
        <p:spPr>
          <a:xfrm>
            <a:off x="762120" y="1037662"/>
            <a:ext cx="76877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dirty="0">
                <a:solidFill>
                  <a:srgbClr val="303030"/>
                </a:solidFill>
                <a:effectLst/>
                <a:latin typeface="Google Sans Text"/>
              </a:rPr>
              <a:t>Complete as lacunas para que o programa peça 4 nomes ao usuário e guarde na lista: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09637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67BC4-A25F-85F7-45E3-D62A93AA2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>
            <a:extLst>
              <a:ext uri="{FF2B5EF4-FFF2-40B4-BE49-F238E27FC236}">
                <a16:creationId xmlns:a16="http://schemas.microsoft.com/office/drawing/2014/main" id="{946CEF13-35EC-BD48-D882-E1C5791AC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20" y="204715"/>
            <a:ext cx="7848360" cy="7742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Revisão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questão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</a:t>
            </a:r>
            <a:r>
              <a:rPr lang="en-US" sz="2400" b="1" dirty="0">
                <a:latin typeface="+mj-lt"/>
                <a:ea typeface="Manrope"/>
              </a:rPr>
              <a:t>16</a:t>
            </a: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 – </a:t>
            </a:r>
            <a:r>
              <a:rPr lang="en-US" sz="2400" b="1" u="none" strike="noStrike" dirty="0" err="1">
                <a:solidFill>
                  <a:schemeClr val="dk1"/>
                </a:solidFill>
                <a:effectLst/>
                <a:uFillTx/>
                <a:latin typeface="+mj-lt"/>
                <a:ea typeface="Manrope"/>
              </a:rPr>
              <a:t>Encapsulamento</a:t>
            </a:r>
            <a:endParaRPr lang="pt-BR" sz="2400" b="0" i="1" u="none" strike="noStrike" dirty="0">
              <a:solidFill>
                <a:srgbClr val="000000"/>
              </a:solidFill>
              <a:effectLst/>
              <a:uFillTx/>
              <a:latin typeface="+mj-lt"/>
            </a:endParaRPr>
          </a:p>
        </p:txBody>
      </p:sp>
      <p:sp>
        <p:nvSpPr>
          <p:cNvPr id="82" name="Google Shape;410;p 2">
            <a:extLst>
              <a:ext uri="{FF2B5EF4-FFF2-40B4-BE49-F238E27FC236}">
                <a16:creationId xmlns:a16="http://schemas.microsoft.com/office/drawing/2014/main" id="{072B4E70-E4C1-FA06-BE49-35EB7A39C4A2}"/>
              </a:ext>
            </a:extLst>
          </p:cNvPr>
          <p:cNvSpPr/>
          <p:nvPr/>
        </p:nvSpPr>
        <p:spPr>
          <a:xfrm>
            <a:off x="16200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411;p 2">
            <a:extLst>
              <a:ext uri="{FF2B5EF4-FFF2-40B4-BE49-F238E27FC236}">
                <a16:creationId xmlns:a16="http://schemas.microsoft.com/office/drawing/2014/main" id="{DAE576B3-6552-7E1A-7C07-DF769CF7B748}"/>
              </a:ext>
            </a:extLst>
          </p:cNvPr>
          <p:cNvSpPr/>
          <p:nvPr/>
        </p:nvSpPr>
        <p:spPr>
          <a:xfrm>
            <a:off x="8610480" y="4705200"/>
            <a:ext cx="370800" cy="37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5400" tIns="185400" rIns="185400" bIns="185400" anchor="t">
            <a:spAutoFit/>
          </a:bodyPr>
          <a:lstStyle/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3BBB50A-6FB8-C639-29B8-6FC38AFA1281}"/>
              </a:ext>
            </a:extLst>
          </p:cNvPr>
          <p:cNvSpPr txBox="1"/>
          <p:nvPr/>
        </p:nvSpPr>
        <p:spPr>
          <a:xfrm>
            <a:off x="728131" y="850777"/>
            <a:ext cx="7687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Analise o fluxo do código que calcula o estoque total de 3 itens: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832C0F1-FFD3-9890-9AF2-849A0117AD2D}"/>
              </a:ext>
            </a:extLst>
          </p:cNvPr>
          <p:cNvSpPr txBox="1"/>
          <p:nvPr/>
        </p:nvSpPr>
        <p:spPr>
          <a:xfrm>
            <a:off x="762120" y="1220109"/>
            <a:ext cx="6380161" cy="361124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estoque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[ (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), (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5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), (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 ] </a:t>
            </a: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(</a:t>
            </a:r>
            <a:r>
              <a:rPr lang="pt-BR" sz="1400" b="0" i="0" dirty="0" err="1">
                <a:solidFill>
                  <a:srgbClr val="D81B60"/>
                </a:solidFill>
                <a:effectLst/>
                <a:latin typeface="Roboto Mono" pitchFamily="2" charset="0"/>
              </a:rPr>
              <a:t>Qtd</a:t>
            </a:r>
            <a:r>
              <a:rPr lang="pt-BR" sz="14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, Preço)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posicao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0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total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0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while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posicao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&lt;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len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(estoque):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item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estoque[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posicao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subtotal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item[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*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item[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total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total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subtotal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print(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 Posição: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item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subtotal: 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subtotal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    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  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posicao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posicao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+</a:t>
            </a:r>
            <a:r>
              <a:rPr lang="pt-BR" sz="14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4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"Total Estoque:"</a:t>
            </a:r>
            <a:r>
              <a:rPr lang="pt-BR" sz="14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total)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295308"/>
      </p:ext>
    </p:extLst>
  </p:cSld>
  <p:clrMapOvr>
    <a:masterClrMapping/>
  </p:clrMapOvr>
</p:sld>
</file>

<file path=ppt/theme/theme1.xml><?xml version="1.0" encoding="utf-8"?>
<a:theme xmlns:a="http://schemas.openxmlformats.org/drawingml/2006/main" name="Persuasion Lesson for Psychology Students by Slidesgo">
  <a:themeElements>
    <a:clrScheme name="Simple Light">
      <a:dk1>
        <a:srgbClr val="070709"/>
      </a:dk1>
      <a:lt1>
        <a:srgbClr val="F3EEEA"/>
      </a:lt1>
      <a:dk2>
        <a:srgbClr val="EA5138"/>
      </a:dk2>
      <a:lt2>
        <a:srgbClr val="D2CBB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7070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uasion Lesson for Psychology Students by Slidesgo">
  <a:themeElements>
    <a:clrScheme name="Simple Light">
      <a:dk1>
        <a:srgbClr val="070709"/>
      </a:dk1>
      <a:lt1>
        <a:srgbClr val="F3EEEA"/>
      </a:lt1>
      <a:dk2>
        <a:srgbClr val="EA5138"/>
      </a:dk2>
      <a:lt2>
        <a:srgbClr val="D2CBB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7070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ersuasion Lesson for Psychology Students by Slidesgo">
  <a:themeElements>
    <a:clrScheme name="Simple Light">
      <a:dk1>
        <a:srgbClr val="070709"/>
      </a:dk1>
      <a:lt1>
        <a:srgbClr val="F3EEEA"/>
      </a:lt1>
      <a:dk2>
        <a:srgbClr val="EA5138"/>
      </a:dk2>
      <a:lt2>
        <a:srgbClr val="D2CBB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70709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3110</Words>
  <Application>Microsoft Office PowerPoint</Application>
  <PresentationFormat>Apresentação na tela (16:9)</PresentationFormat>
  <Paragraphs>421</Paragraphs>
  <Slides>42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42</vt:i4>
      </vt:variant>
    </vt:vector>
  </HeadingPairs>
  <TitlesOfParts>
    <vt:vector size="55" baseType="lpstr">
      <vt:lpstr>Arial</vt:lpstr>
      <vt:lpstr>Calibri</vt:lpstr>
      <vt:lpstr>DM Sans</vt:lpstr>
      <vt:lpstr>Google Sans Text</vt:lpstr>
      <vt:lpstr>Liberation Mono;Courier New;DejaVu Sans Mono</vt:lpstr>
      <vt:lpstr>Manrope</vt:lpstr>
      <vt:lpstr>OpenSymbol</vt:lpstr>
      <vt:lpstr>Roboto Mono</vt:lpstr>
      <vt:lpstr>Symbol</vt:lpstr>
      <vt:lpstr>Wingdings</vt:lpstr>
      <vt:lpstr>Persuasion Lesson for Psychology Students by Slidesgo</vt:lpstr>
      <vt:lpstr>Persuasion Lesson for Psychology Students by Slidesgo</vt:lpstr>
      <vt:lpstr>Persuasion Lesson for Psychology Students by Slidesgo</vt:lpstr>
      <vt:lpstr>Revisão   Pensamento Lógico Computacional com Python NP2</vt:lpstr>
      <vt:lpstr>Apresentação do PowerPoint</vt:lpstr>
      <vt:lpstr>Apresentação do PowerPoint</vt:lpstr>
      <vt:lpstr>Listas (estrutura, índice, mutabilidade)</vt:lpstr>
      <vt:lpstr>Revisão questão 01 – Listas []</vt:lpstr>
      <vt:lpstr>Revisão questão 01 – Listas []</vt:lpstr>
      <vt:lpstr>Revisão questão 02 – Sobre Métodos (subfunções) da variável composta tipo “Lista” , analise o código abaixo:</vt:lpstr>
      <vt:lpstr>Revisão questão 02 – Sobre Métodos (subfunções) da variável composta tipo “Lista” , analise o código abaixo:</vt:lpstr>
      <vt:lpstr>Apresentação do PowerPoint</vt:lpstr>
      <vt:lpstr>Revisão questão 03 – Sobre Mapeamento de Dados, usando listas [], dicionários {}, tuplas () , conjuntos</vt:lpstr>
      <vt:lpstr>Revisão questão 03 – Sobre Mapeamento de Dados, usando listas [], dicionários {}, tuplas () , conjuntos</vt:lpstr>
      <vt:lpstr>Apresentação do PowerPoint</vt:lpstr>
      <vt:lpstr>Revisão questão 04 – Propriedades de Conjuntos sets()</vt:lpstr>
      <vt:lpstr>Revisão questão 04 – Propriedades de Conjuntos sets()</vt:lpstr>
      <vt:lpstr>Conjuntos set() OBS: len(set(minha_variavel_lista))</vt:lpstr>
      <vt:lpstr>Revisão questão 05 – Imutabilidade de Conteúdo</vt:lpstr>
      <vt:lpstr>Revisão questão 05 – Imutabilidade de Conteúdo</vt:lpstr>
      <vt:lpstr>Apresentação do PowerPoint</vt:lpstr>
      <vt:lpstr>Revisão questão 06 – Gerenciamento de Arquivos</vt:lpstr>
      <vt:lpstr>Revisão questão 06 – Gerenciamento de Arquivos</vt:lpstr>
      <vt:lpstr>Revisão questão 07 – Gerenciamento de Arquivos</vt:lpstr>
      <vt:lpstr>Revisão questão 07 – Gerenciamento de Arquivos</vt:lpstr>
      <vt:lpstr>Apresentação do PowerPoint</vt:lpstr>
      <vt:lpstr>Apresentação do PowerPoint</vt:lpstr>
      <vt:lpstr>Revisão questão 08 – Iteroperabilidade de Arquivos estruturados - CSV</vt:lpstr>
      <vt:lpstr>Revisão questão 08 – Iteroperabilidade de Arquivos estruturados - CSV</vt:lpstr>
      <vt:lpstr>Revisão questão 09 – Persistência (salvar dados) em formato de arquivo JSON</vt:lpstr>
      <vt:lpstr>Revisão questão 09 – Persistência (salvar dados) em formato de arquivo JSON</vt:lpstr>
      <vt:lpstr>Revisão questão 11 – Depuração de Código (DEBUG)</vt:lpstr>
      <vt:lpstr>Revisão questão 11 – Depuração de Código (DEBUG)</vt:lpstr>
      <vt:lpstr>Revisão questão 12 – Depuração de Código (DEBUG)</vt:lpstr>
      <vt:lpstr>Revisão questão 12 – Depuração de Código (DEBUG)</vt:lpstr>
      <vt:lpstr>Revisão questão 13 – Depuração: Erros de programação</vt:lpstr>
      <vt:lpstr>Revisão questão 13 – Depuração: Erros de programação</vt:lpstr>
      <vt:lpstr>Revisão questão 14 – Orientação a Objetos - Abstração</vt:lpstr>
      <vt:lpstr>Revisão questão 14 – Orientação a Objetos - Abstração</vt:lpstr>
      <vt:lpstr>Revisão questão 15 – Orientação a Objetos - Classe</vt:lpstr>
      <vt:lpstr>Revisão questão 15 – Orientação a Objetos - Classe</vt:lpstr>
      <vt:lpstr>Revisão questão 16 – Encapsulamento</vt:lpstr>
      <vt:lpstr>Revisão questão 16 – Encapsulamento</vt:lpstr>
      <vt:lpstr>Revisão questão 16 – Encapsulamento</vt:lpstr>
      <vt:lpstr>Revisão questão 16 – Encapsulamento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dc:description/>
  <cp:lastModifiedBy>MIGUEL PENTEADO</cp:lastModifiedBy>
  <cp:revision>47</cp:revision>
  <dcterms:created xsi:type="dcterms:W3CDTF">2026-05-06T17:11:38Z</dcterms:created>
  <dcterms:modified xsi:type="dcterms:W3CDTF">2026-05-06T19:50:42Z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11</vt:r8>
  </property>
</Properties>
</file>